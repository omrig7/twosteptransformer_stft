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9" r:id="rId4"/>
    <p:sldId id="260" r:id="rId5"/>
    <p:sldId id="261" r:id="rId6"/>
    <p:sldId id="262" r:id="rId7"/>
    <p:sldId id="258" r:id="rId8"/>
    <p:sldId id="263" r:id="rId9"/>
    <p:sldId id="272" r:id="rId10"/>
    <p:sldId id="273" r:id="rId11"/>
    <p:sldId id="274" r:id="rId12"/>
    <p:sldId id="275" r:id="rId13"/>
    <p:sldId id="276" r:id="rId14"/>
    <p:sldId id="277" r:id="rId15"/>
    <p:sldId id="279" r:id="rId16"/>
    <p:sldId id="265" r:id="rId17"/>
    <p:sldId id="268" r:id="rId18"/>
    <p:sldId id="271"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69"/>
    <p:restoredTop sz="94673"/>
  </p:normalViewPr>
  <p:slideViewPr>
    <p:cSldViewPr snapToGrid="0" snapToObjects="1">
      <p:cViewPr varScale="1">
        <p:scale>
          <a:sx n="129" d="100"/>
          <a:sy n="129" d="100"/>
        </p:scale>
        <p:origin x="-4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baseline</c:v>
                </c:pt>
              </c:strCache>
            </c:strRef>
          </c:tx>
          <c:spPr>
            <a:ln w="31750">
              <a:solidFill>
                <a:srgbClr val="1B242B"/>
              </a:solidFill>
            </a:ln>
          </c:spPr>
          <c:marker>
            <c:symbol val="circle"/>
            <c:size val="6"/>
            <c:spPr>
              <a:solidFill>
                <a:srgbClr val="1B242B"/>
              </a:solidFill>
              <a:ln>
                <a:solidFill>
                  <a:srgbClr val="1B242B"/>
                </a:solidFill>
              </a:ln>
            </c:spPr>
          </c:marker>
          <c:dPt>
            <c:idx val="3"/>
            <c:marker>
              <c:symbol val="circle"/>
              <c:size val="12"/>
              <c:spPr>
                <a:solidFill>
                  <a:srgbClr val="FFFFFF"/>
                </a:solidFill>
                <a:ln w="31750">
                  <a:solidFill>
                    <a:srgbClr val="1B242B"/>
                  </a:solidFill>
                </a:ln>
              </c:spPr>
            </c:marker>
            <c:bubble3D val="0"/>
            <c:extLst>
              <c:ext xmlns:c16="http://schemas.microsoft.com/office/drawing/2014/chart" uri="{C3380CC4-5D6E-409C-BE32-E72D297353CC}">
                <c16:uniqueId val="{00000000-2AE0-6F48-853F-5E2FABD231A4}"/>
              </c:ext>
            </c:extLst>
          </c:dPt>
          <c:cat>
            <c:strRef>
              <c:f>Sheet1!$A$2:$A$14</c:f>
              <c:strCache>
                <c:ptCount val="13"/>
                <c:pt idx="0">
                  <c:v>12</c:v>
                </c:pt>
                <c:pt idx="1">
                  <c:v>13</c:v>
                </c:pt>
                <c:pt idx="2">
                  <c:v>14</c:v>
                </c:pt>
                <c:pt idx="3">
                  <c:v>15</c:v>
                </c:pt>
                <c:pt idx="4">
                  <c:v>16</c:v>
                </c:pt>
                <c:pt idx="5">
                  <c:v>17</c:v>
                </c:pt>
                <c:pt idx="6">
                  <c:v>18</c:v>
                </c:pt>
                <c:pt idx="7">
                  <c:v>19</c:v>
                </c:pt>
                <c:pt idx="8">
                  <c:v>20</c:v>
                </c:pt>
                <c:pt idx="9">
                  <c:v>21</c:v>
                </c:pt>
                <c:pt idx="10">
                  <c:v>22</c:v>
                </c:pt>
                <c:pt idx="11">
                  <c:v>23</c:v>
                </c:pt>
                <c:pt idx="12">
                  <c:v>24</c:v>
                </c:pt>
              </c:strCache>
            </c:strRef>
          </c:cat>
          <c:val>
            <c:numRef>
              <c:f>Sheet1!$B$2:$B$14</c:f>
              <c:numCache>
                <c:formatCode>General</c:formatCode>
                <c:ptCount val="13"/>
                <c:pt idx="0">
                  <c:v>2.7090000000000001</c:v>
                </c:pt>
                <c:pt idx="1">
                  <c:v>2.7172000000000001</c:v>
                </c:pt>
                <c:pt idx="2">
                  <c:v>2.7505000000000002</c:v>
                </c:pt>
                <c:pt idx="3">
                  <c:v>2.8</c:v>
                </c:pt>
                <c:pt idx="4">
                  <c:v>2.7759999999999998</c:v>
                </c:pt>
              </c:numCache>
            </c:numRef>
          </c:val>
          <c:smooth val="0"/>
          <c:extLst>
            <c:ext xmlns:c16="http://schemas.microsoft.com/office/drawing/2014/chart" uri="{C3380CC4-5D6E-409C-BE32-E72D297353CC}">
              <c16:uniqueId val="{00000001-2AE0-6F48-853F-5E2FABD231A4}"/>
            </c:ext>
          </c:extLst>
        </c:ser>
        <c:ser>
          <c:idx val="1"/>
          <c:order val="1"/>
          <c:tx>
            <c:strRef>
              <c:f>Sheet1!$C$1</c:f>
              <c:strCache>
                <c:ptCount val="1"/>
                <c:pt idx="0">
                  <c:v>המשך אימון</c:v>
                </c:pt>
              </c:strCache>
            </c:strRef>
          </c:tx>
          <c:spPr>
            <a:ln w="31750">
              <a:solidFill>
                <a:srgbClr val="2E75B6"/>
              </a:solidFill>
            </a:ln>
          </c:spPr>
          <c:marker>
            <c:symbol val="circle"/>
            <c:size val="6"/>
            <c:spPr>
              <a:solidFill>
                <a:srgbClr val="2E75B6"/>
              </a:solidFill>
              <a:ln>
                <a:solidFill>
                  <a:srgbClr val="2E75B6"/>
                </a:solidFill>
              </a:ln>
            </c:spPr>
          </c:marker>
          <c:dPt>
            <c:idx val="10"/>
            <c:marker>
              <c:symbol val="circle"/>
              <c:size val="12"/>
              <c:spPr>
                <a:solidFill>
                  <a:srgbClr val="FFFFFF"/>
                </a:solidFill>
                <a:ln w="31750">
                  <a:solidFill>
                    <a:srgbClr val="2E75B6"/>
                  </a:solidFill>
                </a:ln>
              </c:spPr>
            </c:marker>
            <c:bubble3D val="0"/>
            <c:extLst>
              <c:ext xmlns:c16="http://schemas.microsoft.com/office/drawing/2014/chart" uri="{C3380CC4-5D6E-409C-BE32-E72D297353CC}">
                <c16:uniqueId val="{00000002-2AE0-6F48-853F-5E2FABD231A4}"/>
              </c:ext>
            </c:extLst>
          </c:dPt>
          <c:cat>
            <c:strRef>
              <c:f>Sheet1!$A$2:$A$14</c:f>
              <c:strCache>
                <c:ptCount val="13"/>
                <c:pt idx="0">
                  <c:v>12</c:v>
                </c:pt>
                <c:pt idx="1">
                  <c:v>13</c:v>
                </c:pt>
                <c:pt idx="2">
                  <c:v>14</c:v>
                </c:pt>
                <c:pt idx="3">
                  <c:v>15</c:v>
                </c:pt>
                <c:pt idx="4">
                  <c:v>16</c:v>
                </c:pt>
                <c:pt idx="5">
                  <c:v>17</c:v>
                </c:pt>
                <c:pt idx="6">
                  <c:v>18</c:v>
                </c:pt>
                <c:pt idx="7">
                  <c:v>19</c:v>
                </c:pt>
                <c:pt idx="8">
                  <c:v>20</c:v>
                </c:pt>
                <c:pt idx="9">
                  <c:v>21</c:v>
                </c:pt>
                <c:pt idx="10">
                  <c:v>22</c:v>
                </c:pt>
                <c:pt idx="11">
                  <c:v>23</c:v>
                </c:pt>
                <c:pt idx="12">
                  <c:v>24</c:v>
                </c:pt>
              </c:strCache>
            </c:strRef>
          </c:cat>
          <c:val>
            <c:numRef>
              <c:f>Sheet1!$C$2:$C$14</c:f>
              <c:numCache>
                <c:formatCode>General</c:formatCode>
                <c:ptCount val="13"/>
                <c:pt idx="4">
                  <c:v>2.7759999999999998</c:v>
                </c:pt>
                <c:pt idx="5">
                  <c:v>2.7616999999999998</c:v>
                </c:pt>
                <c:pt idx="6">
                  <c:v>2.7709999999999999</c:v>
                </c:pt>
                <c:pt idx="7">
                  <c:v>2.7999000000000001</c:v>
                </c:pt>
                <c:pt idx="8">
                  <c:v>2.7866</c:v>
                </c:pt>
                <c:pt idx="9">
                  <c:v>2.8016999999999999</c:v>
                </c:pt>
                <c:pt idx="10">
                  <c:v>2.8106</c:v>
                </c:pt>
                <c:pt idx="11">
                  <c:v>2.7972999999999999</c:v>
                </c:pt>
                <c:pt idx="12">
                  <c:v>2.7915000000000001</c:v>
                </c:pt>
              </c:numCache>
            </c:numRef>
          </c:val>
          <c:smooth val="0"/>
          <c:extLst>
            <c:ext xmlns:c16="http://schemas.microsoft.com/office/drawing/2014/chart" uri="{C3380CC4-5D6E-409C-BE32-E72D297353CC}">
              <c16:uniqueId val="{00000003-2AE0-6F48-853F-5E2FABD231A4}"/>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BFBFBF"/>
            </a:solidFill>
          </a:ln>
        </c:spPr>
        <c:txPr>
          <a:bodyPr/>
          <a:lstStyle/>
          <a:p>
            <a:pPr rtl="0">
              <a:defRPr sz="1200">
                <a:solidFill>
                  <a:srgbClr val="5A636A"/>
                </a:solidFill>
                <a:latin typeface="Arial"/>
              </a:defRPr>
            </a:pPr>
            <a:endParaRPr lang="en-IL"/>
          </a:p>
        </c:txPr>
        <c:crossAx val="2140495176"/>
        <c:crosses val="autoZero"/>
        <c:auto val="1"/>
        <c:lblAlgn val="ctr"/>
        <c:lblOffset val="100"/>
        <c:noMultiLvlLbl val="0"/>
      </c:catAx>
      <c:valAx>
        <c:axId val="2140495176"/>
        <c:scaling>
          <c:orientation val="minMax"/>
          <c:max val="2.84"/>
          <c:min val="2.68"/>
        </c:scaling>
        <c:delete val="0"/>
        <c:axPos val="l"/>
        <c:majorGridlines>
          <c:spPr>
            <a:ln>
              <a:solidFill>
                <a:srgbClr val="E3E6E8"/>
              </a:solidFill>
            </a:ln>
          </c:spPr>
        </c:majorGridlines>
        <c:numFmt formatCode="0.00" sourceLinked="0"/>
        <c:majorTickMark val="out"/>
        <c:minorTickMark val="none"/>
        <c:tickLblPos val="nextTo"/>
        <c:spPr>
          <a:ln>
            <a:solidFill>
              <a:srgbClr val="BFBFBF"/>
            </a:solidFill>
          </a:ln>
        </c:spPr>
        <c:txPr>
          <a:bodyPr/>
          <a:lstStyle/>
          <a:p>
            <a:pPr rtl="0">
              <a:defRPr sz="1200">
                <a:solidFill>
                  <a:srgbClr val="5A636A"/>
                </a:solidFill>
                <a:latin typeface="Arial"/>
              </a:defRPr>
            </a:pPr>
            <a:endParaRPr lang="en-IL"/>
          </a:p>
        </c:txPr>
        <c:crossAx val="2118791784"/>
        <c:crosses val="autoZero"/>
        <c:crossBetween val="between"/>
        <c:majorUnit val="0.04"/>
      </c:valAx>
    </c:plotArea>
    <c:plotVisOnly val="1"/>
    <c:dispBlanksAs val="gap"/>
    <c:showDLblsOverMax val="0"/>
  </c:chart>
  <c:txPr>
    <a:bodyPr/>
    <a:lstStyle/>
    <a:p>
      <a:pPr rtl="0">
        <a:defRPr sz="12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המשך אימון</c:v>
                </c:pt>
              </c:strCache>
            </c:strRef>
          </c:tx>
          <c:spPr>
            <a:ln w="31750">
              <a:solidFill>
                <a:srgbClr val="A6A6A6"/>
              </a:solidFill>
            </a:ln>
          </c:spPr>
          <c:marker>
            <c:symbol val="circle"/>
            <c:size val="6"/>
            <c:spPr>
              <a:solidFill>
                <a:srgbClr val="A6A6A6"/>
              </a:solidFill>
              <a:ln>
                <a:solidFill>
                  <a:srgbClr val="A6A6A6"/>
                </a:solidFill>
              </a:ln>
            </c:spPr>
          </c:marker>
          <c:cat>
            <c:strRef>
              <c:f>Sheet1!$A$2:$A$14</c:f>
              <c:strCache>
                <c:ptCount val="13"/>
                <c:pt idx="0">
                  <c:v>12</c:v>
                </c:pt>
                <c:pt idx="1">
                  <c:v>13</c:v>
                </c:pt>
                <c:pt idx="2">
                  <c:v>14</c:v>
                </c:pt>
                <c:pt idx="3">
                  <c:v>15</c:v>
                </c:pt>
                <c:pt idx="4">
                  <c:v>16</c:v>
                </c:pt>
                <c:pt idx="5">
                  <c:v>17</c:v>
                </c:pt>
                <c:pt idx="6">
                  <c:v>18</c:v>
                </c:pt>
                <c:pt idx="7">
                  <c:v>19</c:v>
                </c:pt>
                <c:pt idx="8">
                  <c:v>20</c:v>
                </c:pt>
                <c:pt idx="9">
                  <c:v>21</c:v>
                </c:pt>
                <c:pt idx="10">
                  <c:v>22</c:v>
                </c:pt>
                <c:pt idx="11">
                  <c:v>23</c:v>
                </c:pt>
                <c:pt idx="12">
                  <c:v>24</c:v>
                </c:pt>
              </c:strCache>
            </c:strRef>
          </c:cat>
          <c:val>
            <c:numRef>
              <c:f>Sheet1!$B$2:$B$14</c:f>
              <c:numCache>
                <c:formatCode>General</c:formatCode>
                <c:ptCount val="13"/>
                <c:pt idx="4">
                  <c:v>2.7759999999999998</c:v>
                </c:pt>
                <c:pt idx="5">
                  <c:v>2.7616999999999998</c:v>
                </c:pt>
                <c:pt idx="6">
                  <c:v>2.7709999999999999</c:v>
                </c:pt>
                <c:pt idx="7">
                  <c:v>2.7999000000000001</c:v>
                </c:pt>
                <c:pt idx="8">
                  <c:v>2.7866</c:v>
                </c:pt>
                <c:pt idx="9">
                  <c:v>2.8016999999999999</c:v>
                </c:pt>
                <c:pt idx="10">
                  <c:v>2.8106</c:v>
                </c:pt>
                <c:pt idx="11">
                  <c:v>2.7972999999999999</c:v>
                </c:pt>
                <c:pt idx="12">
                  <c:v>2.7915000000000001</c:v>
                </c:pt>
              </c:numCache>
            </c:numRef>
          </c:val>
          <c:smooth val="0"/>
          <c:extLst>
            <c:ext xmlns:c16="http://schemas.microsoft.com/office/drawing/2014/chart" uri="{C3380CC4-5D6E-409C-BE32-E72D297353CC}">
              <c16:uniqueId val="{00000000-C89E-AC4C-BC4E-CBF436C1AFFC}"/>
            </c:ext>
          </c:extLst>
        </c:ser>
        <c:ser>
          <c:idx val="1"/>
          <c:order val="1"/>
          <c:tx>
            <c:strRef>
              <c:f>Sheet1!$C$1</c:f>
              <c:strCache>
                <c:ptCount val="1"/>
                <c:pt idx="0">
                  <c:v>נתונים נוספים</c:v>
                </c:pt>
              </c:strCache>
            </c:strRef>
          </c:tx>
          <c:spPr>
            <a:ln w="31750">
              <a:solidFill>
                <a:srgbClr val="548235"/>
              </a:solidFill>
            </a:ln>
          </c:spPr>
          <c:marker>
            <c:symbol val="circle"/>
            <c:size val="6"/>
            <c:spPr>
              <a:solidFill>
                <a:srgbClr val="548235"/>
              </a:solidFill>
              <a:ln>
                <a:solidFill>
                  <a:srgbClr val="548235"/>
                </a:solidFill>
              </a:ln>
            </c:spPr>
          </c:marker>
          <c:dPt>
            <c:idx val="7"/>
            <c:marker>
              <c:symbol val="circle"/>
              <c:size val="12"/>
              <c:spPr>
                <a:solidFill>
                  <a:srgbClr val="FFFFFF"/>
                </a:solidFill>
                <a:ln w="31750">
                  <a:solidFill>
                    <a:srgbClr val="548235"/>
                  </a:solidFill>
                </a:ln>
              </c:spPr>
            </c:marker>
            <c:bubble3D val="0"/>
            <c:extLst>
              <c:ext xmlns:c16="http://schemas.microsoft.com/office/drawing/2014/chart" uri="{C3380CC4-5D6E-409C-BE32-E72D297353CC}">
                <c16:uniqueId val="{00000001-C89E-AC4C-BC4E-CBF436C1AFFC}"/>
              </c:ext>
            </c:extLst>
          </c:dPt>
          <c:cat>
            <c:strRef>
              <c:f>Sheet1!$A$2:$A$14</c:f>
              <c:strCache>
                <c:ptCount val="13"/>
                <c:pt idx="0">
                  <c:v>12</c:v>
                </c:pt>
                <c:pt idx="1">
                  <c:v>13</c:v>
                </c:pt>
                <c:pt idx="2">
                  <c:v>14</c:v>
                </c:pt>
                <c:pt idx="3">
                  <c:v>15</c:v>
                </c:pt>
                <c:pt idx="4">
                  <c:v>16</c:v>
                </c:pt>
                <c:pt idx="5">
                  <c:v>17</c:v>
                </c:pt>
                <c:pt idx="6">
                  <c:v>18</c:v>
                </c:pt>
                <c:pt idx="7">
                  <c:v>19</c:v>
                </c:pt>
                <c:pt idx="8">
                  <c:v>20</c:v>
                </c:pt>
                <c:pt idx="9">
                  <c:v>21</c:v>
                </c:pt>
                <c:pt idx="10">
                  <c:v>22</c:v>
                </c:pt>
                <c:pt idx="11">
                  <c:v>23</c:v>
                </c:pt>
                <c:pt idx="12">
                  <c:v>24</c:v>
                </c:pt>
              </c:strCache>
            </c:strRef>
          </c:cat>
          <c:val>
            <c:numRef>
              <c:f>Sheet1!$C$2:$C$14</c:f>
              <c:numCache>
                <c:formatCode>General</c:formatCode>
                <c:ptCount val="13"/>
                <c:pt idx="4">
                  <c:v>2.7759999999999998</c:v>
                </c:pt>
                <c:pt idx="5">
                  <c:v>2.7696999999999998</c:v>
                </c:pt>
                <c:pt idx="6">
                  <c:v>2.8121</c:v>
                </c:pt>
                <c:pt idx="7">
                  <c:v>2.8264999999999998</c:v>
                </c:pt>
                <c:pt idx="8">
                  <c:v>2.7650999999999999</c:v>
                </c:pt>
                <c:pt idx="9">
                  <c:v>2.7038000000000002</c:v>
                </c:pt>
                <c:pt idx="10">
                  <c:v>2.7713000000000001</c:v>
                </c:pt>
                <c:pt idx="11">
                  <c:v>2.7738999999999998</c:v>
                </c:pt>
                <c:pt idx="12">
                  <c:v>2.7782</c:v>
                </c:pt>
              </c:numCache>
            </c:numRef>
          </c:val>
          <c:smooth val="0"/>
          <c:extLst>
            <c:ext xmlns:c16="http://schemas.microsoft.com/office/drawing/2014/chart" uri="{C3380CC4-5D6E-409C-BE32-E72D297353CC}">
              <c16:uniqueId val="{00000002-C89E-AC4C-BC4E-CBF436C1AFFC}"/>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BFBFBF"/>
            </a:solidFill>
          </a:ln>
        </c:spPr>
        <c:txPr>
          <a:bodyPr/>
          <a:lstStyle/>
          <a:p>
            <a:pPr rtl="0">
              <a:defRPr sz="1200">
                <a:solidFill>
                  <a:srgbClr val="5A636A"/>
                </a:solidFill>
                <a:latin typeface="Arial"/>
              </a:defRPr>
            </a:pPr>
            <a:endParaRPr lang="en-IL"/>
          </a:p>
        </c:txPr>
        <c:crossAx val="2140495176"/>
        <c:crosses val="autoZero"/>
        <c:auto val="1"/>
        <c:lblAlgn val="ctr"/>
        <c:lblOffset val="100"/>
        <c:noMultiLvlLbl val="0"/>
      </c:catAx>
      <c:valAx>
        <c:axId val="2140495176"/>
        <c:scaling>
          <c:orientation val="minMax"/>
          <c:max val="2.84"/>
          <c:min val="2.68"/>
        </c:scaling>
        <c:delete val="0"/>
        <c:axPos val="l"/>
        <c:majorGridlines>
          <c:spPr>
            <a:ln>
              <a:solidFill>
                <a:srgbClr val="E3E6E8"/>
              </a:solidFill>
            </a:ln>
          </c:spPr>
        </c:majorGridlines>
        <c:numFmt formatCode="0.00" sourceLinked="0"/>
        <c:majorTickMark val="out"/>
        <c:minorTickMark val="none"/>
        <c:tickLblPos val="nextTo"/>
        <c:spPr>
          <a:ln>
            <a:solidFill>
              <a:srgbClr val="BFBFBF"/>
            </a:solidFill>
          </a:ln>
        </c:spPr>
        <c:txPr>
          <a:bodyPr/>
          <a:lstStyle/>
          <a:p>
            <a:pPr rtl="0">
              <a:defRPr sz="1200">
                <a:solidFill>
                  <a:srgbClr val="5A636A"/>
                </a:solidFill>
                <a:latin typeface="Arial"/>
              </a:defRPr>
            </a:pPr>
            <a:endParaRPr lang="en-IL"/>
          </a:p>
        </c:txPr>
        <c:crossAx val="2118791784"/>
        <c:crosses val="autoZero"/>
        <c:crossBetween val="between"/>
        <c:majorUnit val="0.04"/>
      </c:valAx>
    </c:plotArea>
    <c:plotVisOnly val="1"/>
    <c:dispBlanksAs val="gap"/>
    <c:showDLblsOverMax val="0"/>
  </c:chart>
  <c:txPr>
    <a:bodyPr/>
    <a:lstStyle/>
    <a:p>
      <a:pPr rtl="0">
        <a:defRPr sz="1200">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MSE (גרסה 2)</c:v>
                </c:pt>
              </c:strCache>
            </c:strRef>
          </c:tx>
          <c:spPr>
            <a:ln w="31750">
              <a:solidFill>
                <a:srgbClr val="A6A6A6"/>
              </a:solidFill>
            </a:ln>
          </c:spPr>
          <c:marker>
            <c:symbol val="circle"/>
            <c:size val="6"/>
            <c:spPr>
              <a:solidFill>
                <a:srgbClr val="A6A6A6"/>
              </a:solidFill>
              <a:ln>
                <a:solidFill>
                  <a:srgbClr val="A6A6A6"/>
                </a:solidFill>
              </a:ln>
            </c:spPr>
          </c:marker>
          <c:cat>
            <c:strRef>
              <c:f>Sheet1!$A$2:$A$14</c:f>
              <c:strCache>
                <c:ptCount val="13"/>
                <c:pt idx="0">
                  <c:v>12</c:v>
                </c:pt>
                <c:pt idx="1">
                  <c:v>13</c:v>
                </c:pt>
                <c:pt idx="2">
                  <c:v>14</c:v>
                </c:pt>
                <c:pt idx="3">
                  <c:v>15</c:v>
                </c:pt>
                <c:pt idx="4">
                  <c:v>16</c:v>
                </c:pt>
                <c:pt idx="5">
                  <c:v>17</c:v>
                </c:pt>
                <c:pt idx="6">
                  <c:v>18</c:v>
                </c:pt>
                <c:pt idx="7">
                  <c:v>19</c:v>
                </c:pt>
                <c:pt idx="8">
                  <c:v>20</c:v>
                </c:pt>
                <c:pt idx="9">
                  <c:v>21</c:v>
                </c:pt>
                <c:pt idx="10">
                  <c:v>22</c:v>
                </c:pt>
                <c:pt idx="11">
                  <c:v>23</c:v>
                </c:pt>
                <c:pt idx="12">
                  <c:v>24</c:v>
                </c:pt>
              </c:strCache>
            </c:strRef>
          </c:cat>
          <c:val>
            <c:numRef>
              <c:f>Sheet1!$B$2:$B$14</c:f>
              <c:numCache>
                <c:formatCode>General</c:formatCode>
                <c:ptCount val="13"/>
                <c:pt idx="4" formatCode="0.00">
                  <c:v>2.7759999999999998</c:v>
                </c:pt>
                <c:pt idx="5" formatCode="0.00">
                  <c:v>2.7696999999999998</c:v>
                </c:pt>
                <c:pt idx="6" formatCode="0.00">
                  <c:v>2.8121</c:v>
                </c:pt>
                <c:pt idx="7" formatCode="0.00">
                  <c:v>2.8264999999999998</c:v>
                </c:pt>
                <c:pt idx="8" formatCode="0.00">
                  <c:v>2.7650999999999999</c:v>
                </c:pt>
                <c:pt idx="9" formatCode="0.00">
                  <c:v>2.7038000000000002</c:v>
                </c:pt>
                <c:pt idx="10" formatCode="0.00">
                  <c:v>2.7713000000000001</c:v>
                </c:pt>
                <c:pt idx="11" formatCode="0.00">
                  <c:v>2.7738999999999998</c:v>
                </c:pt>
                <c:pt idx="12" formatCode="0.00">
                  <c:v>2.7782</c:v>
                </c:pt>
              </c:numCache>
            </c:numRef>
          </c:val>
          <c:smooth val="0"/>
          <c:extLst>
            <c:ext xmlns:c16="http://schemas.microsoft.com/office/drawing/2014/chart" uri="{C3380CC4-5D6E-409C-BE32-E72D297353CC}">
              <c16:uniqueId val="{00000001-ACEE-E842-B3D3-1A5A051AF2A2}"/>
            </c:ext>
          </c:extLst>
        </c:ser>
        <c:ser>
          <c:idx val="1"/>
          <c:order val="1"/>
          <c:tx>
            <c:strRef>
              <c:f>Sheet1!$C$1</c:f>
              <c:strCache>
                <c:ptCount val="1"/>
                <c:pt idx="0">
                  <c:v>L1 (גרסה 3)</c:v>
                </c:pt>
              </c:strCache>
            </c:strRef>
          </c:tx>
          <c:spPr>
            <a:ln w="31750">
              <a:solidFill>
                <a:srgbClr val="C55A11"/>
              </a:solidFill>
            </a:ln>
          </c:spPr>
          <c:marker>
            <c:symbol val="circle"/>
            <c:size val="6"/>
            <c:spPr>
              <a:solidFill>
                <a:srgbClr val="C55A11"/>
              </a:solidFill>
              <a:ln>
                <a:solidFill>
                  <a:srgbClr val="C55A11"/>
                </a:solidFill>
              </a:ln>
            </c:spPr>
          </c:marker>
          <c:dPt>
            <c:idx val="7"/>
            <c:marker>
              <c:symbol val="circle"/>
              <c:size val="12"/>
              <c:spPr>
                <a:solidFill>
                  <a:srgbClr val="FFFFFF"/>
                </a:solidFill>
                <a:ln w="31750">
                  <a:solidFill>
                    <a:srgbClr val="C55A11"/>
                  </a:solidFill>
                </a:ln>
              </c:spPr>
            </c:marker>
            <c:bubble3D val="0"/>
            <c:extLst>
              <c:ext xmlns:c16="http://schemas.microsoft.com/office/drawing/2014/chart" uri="{C3380CC4-5D6E-409C-BE32-E72D297353CC}">
                <c16:uniqueId val="{00000002-ACEE-E842-B3D3-1A5A051AF2A2}"/>
              </c:ext>
            </c:extLst>
          </c:dPt>
          <c:cat>
            <c:strRef>
              <c:f>Sheet1!$A$2:$A$14</c:f>
              <c:strCache>
                <c:ptCount val="13"/>
                <c:pt idx="0">
                  <c:v>12</c:v>
                </c:pt>
                <c:pt idx="1">
                  <c:v>13</c:v>
                </c:pt>
                <c:pt idx="2">
                  <c:v>14</c:v>
                </c:pt>
                <c:pt idx="3">
                  <c:v>15</c:v>
                </c:pt>
                <c:pt idx="4">
                  <c:v>16</c:v>
                </c:pt>
                <c:pt idx="5">
                  <c:v>17</c:v>
                </c:pt>
                <c:pt idx="6">
                  <c:v>18</c:v>
                </c:pt>
                <c:pt idx="7">
                  <c:v>19</c:v>
                </c:pt>
                <c:pt idx="8">
                  <c:v>20</c:v>
                </c:pt>
                <c:pt idx="9">
                  <c:v>21</c:v>
                </c:pt>
                <c:pt idx="10">
                  <c:v>22</c:v>
                </c:pt>
                <c:pt idx="11">
                  <c:v>23</c:v>
                </c:pt>
                <c:pt idx="12">
                  <c:v>24</c:v>
                </c:pt>
              </c:strCache>
            </c:strRef>
          </c:cat>
          <c:val>
            <c:numRef>
              <c:f>Sheet1!$C$2:$C$14</c:f>
              <c:numCache>
                <c:formatCode>General</c:formatCode>
                <c:ptCount val="13"/>
                <c:pt idx="4" formatCode="0.00">
                  <c:v>2.7759999999999998</c:v>
                </c:pt>
                <c:pt idx="5" formatCode="0.00">
                  <c:v>2.7795999999999998</c:v>
                </c:pt>
                <c:pt idx="6" formatCode="0.00">
                  <c:v>2.8025000000000002</c:v>
                </c:pt>
                <c:pt idx="7" formatCode="0.00">
                  <c:v>2.8285999999999998</c:v>
                </c:pt>
                <c:pt idx="8" formatCode="0.00">
                  <c:v>2.782</c:v>
                </c:pt>
                <c:pt idx="9" formatCode="0.00">
                  <c:v>2.7707999999999999</c:v>
                </c:pt>
                <c:pt idx="10" formatCode="0.00">
                  <c:v>2.7696000000000001</c:v>
                </c:pt>
                <c:pt idx="11" formatCode="0.00">
                  <c:v>2.7774999999999999</c:v>
                </c:pt>
                <c:pt idx="12" formatCode="0.00">
                  <c:v>2.7967</c:v>
                </c:pt>
              </c:numCache>
            </c:numRef>
          </c:val>
          <c:smooth val="0"/>
          <c:extLst>
            <c:ext xmlns:c16="http://schemas.microsoft.com/office/drawing/2014/chart" uri="{C3380CC4-5D6E-409C-BE32-E72D297353CC}">
              <c16:uniqueId val="{00000003-ACEE-E842-B3D3-1A5A051AF2A2}"/>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BFBFBF"/>
            </a:solidFill>
          </a:ln>
        </c:spPr>
        <c:txPr>
          <a:bodyPr/>
          <a:lstStyle/>
          <a:p>
            <a:pPr rtl="0">
              <a:defRPr sz="1200">
                <a:solidFill>
                  <a:srgbClr val="5A636A"/>
                </a:solidFill>
                <a:latin typeface="Arial"/>
              </a:defRPr>
            </a:pPr>
            <a:endParaRPr lang="en-IL"/>
          </a:p>
        </c:txPr>
        <c:crossAx val="2140495176"/>
        <c:crosses val="autoZero"/>
        <c:auto val="1"/>
        <c:lblAlgn val="ctr"/>
        <c:lblOffset val="100"/>
        <c:noMultiLvlLbl val="0"/>
      </c:catAx>
      <c:valAx>
        <c:axId val="2140495176"/>
        <c:scaling>
          <c:orientation val="minMax"/>
          <c:max val="2.84"/>
          <c:min val="2.68"/>
        </c:scaling>
        <c:delete val="0"/>
        <c:axPos val="l"/>
        <c:majorGridlines>
          <c:spPr>
            <a:ln>
              <a:solidFill>
                <a:srgbClr val="E3E6E8"/>
              </a:solidFill>
            </a:ln>
          </c:spPr>
        </c:majorGridlines>
        <c:numFmt formatCode="0.00" sourceLinked="0"/>
        <c:majorTickMark val="out"/>
        <c:minorTickMark val="none"/>
        <c:tickLblPos val="nextTo"/>
        <c:spPr>
          <a:ln>
            <a:solidFill>
              <a:srgbClr val="BFBFBF"/>
            </a:solidFill>
          </a:ln>
        </c:spPr>
        <c:txPr>
          <a:bodyPr/>
          <a:lstStyle/>
          <a:p>
            <a:pPr rtl="0">
              <a:defRPr sz="1200">
                <a:solidFill>
                  <a:srgbClr val="5A636A"/>
                </a:solidFill>
                <a:latin typeface="Arial"/>
              </a:defRPr>
            </a:pPr>
            <a:endParaRPr lang="en-IL"/>
          </a:p>
        </c:txPr>
        <c:crossAx val="2118791784"/>
        <c:crosses val="autoZero"/>
        <c:crossBetween val="between"/>
        <c:majorUnit val="0.04"/>
      </c:valAx>
    </c:plotArea>
    <c:plotVisOnly val="1"/>
    <c:dispBlanksAs val="gap"/>
    <c:showDLblsOverMax val="0"/>
  </c:chart>
  <c:txPr>
    <a:bodyPr/>
    <a:lstStyle/>
    <a:p>
      <a:pPr rtl="0">
        <a:defRPr sz="12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507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spcAft>
                <a:spcPts val="400"/>
              </a:spcAft>
              <a:buNone/>
            </a:pPr>
            <a:r>
              <a:rPr lang="he-IL" sz="1400" b="1">
                <a:solidFill>
                  <a:srgbClr val="1B242B"/>
                </a:solidFill>
                <a:latin typeface="Arial"/>
                <a:cs typeface="Arial"/>
              </a:rPr>
              <a:t>עמרי, בערך 20 שניות.</a:t>
            </a:r>
          </a:p>
          <a:p>
            <a:pPr marL="292608" indent="-292608" algn="r" rtl="1">
              <a:spcAft>
                <a:spcPts val="400"/>
              </a:spcAft>
              <a:buFont typeface="Arial"/>
              <a:buChar char="•"/>
            </a:pPr>
            <a:r>
              <a:rPr lang="he-IL" sz="1400" b="0">
                <a:solidFill>
                  <a:srgbClr val="1B242B"/>
                </a:solidFill>
                <a:latin typeface="Arial"/>
                <a:cs typeface="Arial"/>
              </a:rPr>
              <a:t>פותחים במשפט אחד, אנחנו מסירים רעש רקע מהקלטות דיבור עם רשת Transformer שעובדת על הספקטרוגרמה.</a:t>
            </a:r>
          </a:p>
          <a:p>
            <a:pPr marL="292608" indent="-292608" algn="r" rtl="1">
              <a:spcAft>
                <a:spcPts val="400"/>
              </a:spcAft>
              <a:buFont typeface="Arial"/>
              <a:buChar char="•"/>
            </a:pPr>
            <a:r>
              <a:rPr lang="he-IL" sz="1400" b="0">
                <a:solidFill>
                  <a:srgbClr val="1B242B"/>
                </a:solidFill>
                <a:latin typeface="Arial"/>
                <a:cs typeface="Arial"/>
              </a:rPr>
              <a:t>מראים את התמונה למטה, משמאל לימין רועש, אחרי המודל, נקי. רואים שהרעש בין המילים נעלם.</a:t>
            </a:r>
          </a:p>
          <a:p>
            <a:pPr marL="292608" indent="-292608" algn="r" rtl="1">
              <a:spcAft>
                <a:spcPts val="400"/>
              </a:spcAft>
              <a:buFont typeface="Arial"/>
              <a:buChar char="•"/>
            </a:pPr>
            <a:r>
              <a:rPr lang="he-IL" sz="1400" b="0">
                <a:solidFill>
                  <a:srgbClr val="1B242B"/>
                </a:solidFill>
                <a:latin typeface="Arial"/>
                <a:cs typeface="Arial"/>
              </a:rPr>
              <a:t>סדר ההצגה, עמרי מציג את הבעיה, עיבוד האות, הארכיטקטורה ואימון ה-baseline. עידן מציג את הניסויים, התוצאות ומה למדנו.</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spcAft>
                <a:spcPts val="400"/>
              </a:spcAft>
              <a:buNone/>
            </a:pPr>
            <a:r>
              <a:rPr lang="he-IL" sz="1400" b="1">
                <a:solidFill>
                  <a:srgbClr val="1B242B"/>
                </a:solidFill>
                <a:latin typeface="Arial"/>
                <a:cs typeface="Arial"/>
              </a:rPr>
              <a:t>עמרי, בערך דקה.</a:t>
            </a:r>
          </a:p>
          <a:p>
            <a:pPr marL="292608" indent="-292608" algn="r" rtl="1">
              <a:spcAft>
                <a:spcPts val="400"/>
              </a:spcAft>
              <a:buFont typeface="Arial"/>
              <a:buChar char="•"/>
            </a:pPr>
            <a:r>
              <a:rPr lang="he-IL" sz="1400" b="0">
                <a:solidFill>
                  <a:srgbClr val="1B242B"/>
                </a:solidFill>
                <a:latin typeface="Arial"/>
                <a:cs typeface="Arial"/>
              </a:rPr>
              <a:t>הרעש מתחבר לדיבור, y = s + n. בכל דגימה ערך אחד ידוע ושניים לא ידועים, ולכן בלי ידע מוקדם על דיבור ורעש אי אפשר להפריד.</a:t>
            </a:r>
          </a:p>
          <a:p>
            <a:pPr marL="292608" indent="-292608" algn="r" rtl="1">
              <a:spcAft>
                <a:spcPts val="400"/>
              </a:spcAft>
              <a:buFont typeface="Arial"/>
              <a:buChar char="•"/>
            </a:pPr>
            <a:r>
              <a:rPr lang="he-IL" sz="1400" b="0">
                <a:solidFill>
                  <a:srgbClr val="1B242B"/>
                </a:solidFill>
                <a:latin typeface="Arial"/>
                <a:cs typeface="Arial"/>
              </a:rPr>
              <a:t>למה לא שיטה קלאסית, Spectral Subtraction מניחה שהרעש כמעט קבוע ומעריכה אותו בהפסקות. ברעש שמשתנה, רחוב או אנשים ברקע, היא נכשלת. רשת לומדת את הידע מדוגמאות.</a:t>
            </a:r>
          </a:p>
          <a:p>
            <a:pPr marL="292608" indent="-292608" algn="r" rtl="1">
              <a:spcAft>
                <a:spcPts val="400"/>
              </a:spcAft>
              <a:buFont typeface="Arial"/>
              <a:buChar char="•"/>
            </a:pPr>
            <a:r>
              <a:rPr lang="he-IL" sz="1400" b="0">
                <a:solidFill>
                  <a:srgbClr val="1B242B"/>
                </a:solidFill>
                <a:latin typeface="Arial"/>
                <a:cs typeface="Arial"/>
              </a:rPr>
              <a:t>איפה זה חשוב, שיחות ואוזניות, שיחות וידאו, מכשירי שמיעה, ולפני זיהוי דיבור.</a:t>
            </a:r>
          </a:p>
          <a:p>
            <a:pPr marL="292608" indent="-292608" algn="r" rtl="1">
              <a:spcAft>
                <a:spcPts val="400"/>
              </a:spcAft>
              <a:buFont typeface="Arial"/>
              <a:buChar char="•"/>
            </a:pPr>
            <a:r>
              <a:rPr lang="he-IL" sz="1400" b="0">
                <a:solidFill>
                  <a:srgbClr val="1B242B"/>
                </a:solidFill>
                <a:latin typeface="Arial"/>
                <a:cs typeface="Arial"/>
              </a:rPr>
              <a:t>המטרה שלנו, לשפר גם איכות וגם מובנות, עם מודל קטן (פחות ממיליון פרמטרים).</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spcAft>
                <a:spcPts val="400"/>
              </a:spcAft>
              <a:buNone/>
            </a:pPr>
            <a:r>
              <a:rPr lang="he-IL" sz="1400" b="1">
                <a:solidFill>
                  <a:srgbClr val="1B242B"/>
                </a:solidFill>
                <a:latin typeface="Arial"/>
                <a:cs typeface="Arial"/>
              </a:rPr>
              <a:t>עמרי, בערך דקה.</a:t>
            </a:r>
          </a:p>
          <a:p>
            <a:pPr marL="292608" indent="-292608" algn="r" rtl="1">
              <a:spcAft>
                <a:spcPts val="400"/>
              </a:spcAft>
              <a:buFont typeface="Arial"/>
              <a:buChar char="•"/>
            </a:pPr>
            <a:r>
              <a:rPr lang="he-IL" sz="1400" b="0">
                <a:solidFill>
                  <a:srgbClr val="1B242B"/>
                </a:solidFill>
                <a:latin typeface="Arial"/>
                <a:cs typeface="Arial"/>
              </a:rPr>
              <a:t>הרעיון לקוח מ-TSTNN [1], שעובד ישירות על ה-waveform עם Transformer מקומי וגלובלי. אנחנו העברנו אותו למרחב זמן-תדר, כמו ב-Dynamic Noise Embedding [2].</a:t>
            </a:r>
          </a:p>
          <a:p>
            <a:pPr marL="292608" indent="-292608" algn="r" rtl="1">
              <a:spcAft>
                <a:spcPts val="400"/>
              </a:spcAft>
              <a:buFont typeface="Arial"/>
              <a:buChar char="•"/>
            </a:pPr>
            <a:r>
              <a:rPr lang="he-IL" sz="1400" b="0">
                <a:solidFill>
                  <a:srgbClr val="1B242B"/>
                </a:solidFill>
                <a:latin typeface="Arial"/>
                <a:cs typeface="Arial"/>
              </a:rPr>
              <a:t>למה זמן-תדר, דיבור דליל בספקטרוגרמה, ולכן קל ללמוד מסכה שמחליטה כמה להשאיר מכל נקודה. האלטרנטיבה, לייצר waveform ישירות, קשה יותר ללמידה.</a:t>
            </a:r>
          </a:p>
          <a:p>
            <a:pPr marL="292608" indent="-292608" algn="r" rtl="1">
              <a:spcAft>
                <a:spcPts val="400"/>
              </a:spcAft>
              <a:buFont typeface="Arial"/>
              <a:buChar char="•"/>
            </a:pPr>
            <a:r>
              <a:rPr lang="he-IL" sz="1400" b="0">
                <a:solidFill>
                  <a:srgbClr val="1B242B"/>
                </a:solidFill>
                <a:latin typeface="Arial"/>
                <a:cs typeface="Arial"/>
              </a:rPr>
              <a:t>עוברים על הזרימה מימין לשמאל, STFT, Encoder, קיבוץ, 4 בלוקי Dual-Path, פירוק, Decoder, מסכה, iSTFT עם הפאזה הרועשת.</a:t>
            </a:r>
          </a:p>
          <a:p>
            <a:pPr marL="292608" indent="-292608" algn="r" rtl="1">
              <a:spcAft>
                <a:spcPts val="400"/>
              </a:spcAft>
              <a:buFont typeface="Arial"/>
              <a:buChar char="•"/>
            </a:pPr>
            <a:r>
              <a:rPr lang="he-IL" sz="1400" b="0">
                <a:solidFill>
                  <a:srgbClr val="1B242B"/>
                </a:solidFill>
                <a:latin typeface="Arial"/>
                <a:cs typeface="Arial"/>
              </a:rPr>
              <a:t>877 אלף פרמטרים, כמו TSTNN (0.92 מיליון), כך שההשוואה הוגנת.</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spcAft>
                <a:spcPts val="400"/>
              </a:spcAft>
              <a:buNone/>
            </a:pPr>
            <a:r>
              <a:rPr lang="he-IL" sz="1400" b="1">
                <a:solidFill>
                  <a:srgbClr val="1B242B"/>
                </a:solidFill>
                <a:latin typeface="Arial"/>
                <a:cs typeface="Arial"/>
              </a:rPr>
              <a:t>עמרי, בערך דקה.</a:t>
            </a:r>
          </a:p>
          <a:p>
            <a:pPr marL="292608" indent="-292608" algn="r" rtl="1">
              <a:spcAft>
                <a:spcPts val="400"/>
              </a:spcAft>
              <a:buFont typeface="Arial"/>
              <a:buChar char="•"/>
            </a:pPr>
            <a:r>
              <a:rPr lang="he-IL" sz="1400" b="0">
                <a:solidFill>
                  <a:srgbClr val="1B242B"/>
                </a:solidFill>
                <a:latin typeface="Arial"/>
                <a:cs typeface="Arial"/>
              </a:rPr>
              <a:t>STFT עם חלון Hann של 32 ms וקפיצה של 8 ms. למה 32 ms, בחלון כזה הדיבור כמעט סטציונרי, והמרווח בין התדרים (31 Hz) מפריד בין הרמוניות.</a:t>
            </a:r>
          </a:p>
          <a:p>
            <a:pPr marL="292608" indent="-292608" algn="r" rtl="1">
              <a:spcAft>
                <a:spcPts val="400"/>
              </a:spcAft>
              <a:buFont typeface="Arial"/>
              <a:buChar char="•"/>
            </a:pPr>
            <a:r>
              <a:rPr lang="he-IL" sz="1400" b="0">
                <a:solidFill>
                  <a:srgbClr val="1B242B"/>
                </a:solidFill>
                <a:latin typeface="Arial"/>
                <a:cs typeface="Arial"/>
              </a:rPr>
              <a:t>Hann יורד בהדרגה לאפס בקצוות, ולכן כמעט לא מדליף אנרגיה של הרמוניות חזקות לנקודות השקטות. החפיפה של 75 אחוז לא נדרשת לשחזור, ה-iSTFT מדויק בכל חפיפה, אבל כל דגימה נבנית מארבע מסגרות, וכך שינוי חד במסכה בין מסגרות סמוכות מוחלק ולא נשמע כקפיצה.</a:t>
            </a:r>
          </a:p>
          <a:p>
            <a:pPr marL="292608" indent="-292608" algn="r" rtl="1">
              <a:spcAft>
                <a:spcPts val="400"/>
              </a:spcAft>
              <a:buFont typeface="Arial"/>
              <a:buChar char="•"/>
            </a:pPr>
            <a:r>
              <a:rPr lang="he-IL" sz="1400" b="0">
                <a:solidFill>
                  <a:srgbClr val="1B242B"/>
                </a:solidFill>
                <a:latin typeface="Arial"/>
                <a:cs typeface="Arial"/>
              </a:rPr>
              <a:t>דחיסה בחזקת 0.3, ההבדל בין הנקודות החזקות לחלשות הוא פי אלפים, ובלי דחיסה הרשת וההפסד רואים רק את ההרמוניות החזקות (באמצע, כמעט הכול שחור). מימין רואים שאחרי הדחיסה גם הפרטים החלשים נראים.</a:t>
            </a:r>
          </a:p>
          <a:p>
            <a:pPr marL="292608" indent="-292608" algn="r" rtl="1">
              <a:spcAft>
                <a:spcPts val="400"/>
              </a:spcAft>
              <a:buFont typeface="Arial"/>
              <a:buChar char="•"/>
            </a:pPr>
            <a:r>
              <a:rPr lang="he-IL" sz="1400" b="0">
                <a:solidFill>
                  <a:srgbClr val="1B242B"/>
                </a:solidFill>
                <a:latin typeface="Arial"/>
                <a:cs typeface="Arial"/>
              </a:rPr>
              <a:t>למה לא log, הוא מתפוצץ ליד אפס ונותן משקל גדול לרעש שקט. החזקה 0.3 היא פשרה מקובלת.</a:t>
            </a:r>
          </a:p>
          <a:p>
            <a:pPr marL="292608" indent="-292608" algn="r" rtl="1">
              <a:spcAft>
                <a:spcPts val="400"/>
              </a:spcAft>
              <a:buFont typeface="Arial"/>
              <a:buChar char="•"/>
            </a:pPr>
            <a:r>
              <a:rPr lang="he-IL" sz="1400" b="0">
                <a:solidFill>
                  <a:srgbClr val="1B242B"/>
                </a:solidFill>
                <a:latin typeface="Arial"/>
                <a:cs typeface="Arial"/>
              </a:rPr>
              <a:t>בסוף תקנון לכל הקלטה (ממוצע וסטיית תקן), כדי שעוצמת ההקלטה לא תשנה את התוצאה.</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spcAft>
                <a:spcPts val="400"/>
              </a:spcAft>
              <a:buNone/>
            </a:pPr>
            <a:r>
              <a:rPr lang="he-IL" sz="1400" b="1">
                <a:solidFill>
                  <a:srgbClr val="1B242B"/>
                </a:solidFill>
                <a:latin typeface="Arial"/>
                <a:cs typeface="Arial"/>
              </a:rPr>
              <a:t>עמרי, בערך דקה וחצי.</a:t>
            </a:r>
          </a:p>
          <a:p>
            <a:pPr marL="292608" indent="-292608" algn="r" rtl="1">
              <a:spcAft>
                <a:spcPts val="400"/>
              </a:spcAft>
              <a:buFont typeface="Arial"/>
              <a:buChar char="•"/>
            </a:pPr>
            <a:r>
              <a:rPr lang="he-IL" sz="1400" b="0">
                <a:solidFill>
                  <a:srgbClr val="1B242B"/>
                </a:solidFill>
                <a:latin typeface="Arial"/>
                <a:cs typeface="Arial"/>
              </a:rPr>
              <a:t>כל בלוק עושה שני שלבים. קודם Attention לאורך התדר בתוך כל מסגרת, לומד הרמוניות ופורמנטים. אחר כך לאורך הזמן בתוך כל פס, לומד מה קבוע (רעש) ומה משתנה (דיבור), ואת ההקשר של ההברות.</a:t>
            </a:r>
          </a:p>
          <a:p>
            <a:pPr marL="292608" indent="-292608" algn="r" rtl="1">
              <a:spcAft>
                <a:spcPts val="400"/>
              </a:spcAft>
              <a:buFont typeface="Arial"/>
              <a:buChar char="•"/>
            </a:pPr>
            <a:r>
              <a:rPr lang="he-IL" sz="1400" b="0">
                <a:solidFill>
                  <a:srgbClr val="1B242B"/>
                </a:solidFill>
                <a:latin typeface="Arial"/>
                <a:cs typeface="Arial"/>
              </a:rPr>
              <a:t>הנוסחה, כל נקודה שואלת (Q) את כל האחרות (K) כמה הן רלוונטיות, ולוקחת ממוצע משוקלל של הערכים שלהן (V). 4 ראשים של 12 ממדים, כל ראש מסתכל על קשר אחר.</a:t>
            </a:r>
          </a:p>
          <a:p>
            <a:pPr marL="292608" indent="-292608" algn="r" rtl="1">
              <a:spcAft>
                <a:spcPts val="400"/>
              </a:spcAft>
              <a:buFont typeface="Arial"/>
              <a:buChar char="•"/>
            </a:pPr>
            <a:r>
              <a:rPr lang="he-IL" sz="1400" b="0">
                <a:solidFill>
                  <a:srgbClr val="1B242B"/>
                </a:solidFill>
                <a:latin typeface="Arial"/>
                <a:cs typeface="Arial"/>
              </a:rPr>
              <a:t>למה שני צירים ולא Attention על כל המישור, הגרף משמאל. על כל המישור זה 4.2 מיליארד השוואות לשכבה, שני צירים בנפרד 33 מיליון, ואחרי הקיבוץ 4 על 4 רק חצי מיליון. זה מה שמאפשר לאמן על הקלטות שלמות.</a:t>
            </a:r>
          </a:p>
          <a:p>
            <a:pPr marL="292608" indent="-292608" algn="r" rtl="1">
              <a:spcAft>
                <a:spcPts val="400"/>
              </a:spcAft>
              <a:buFont typeface="Arial"/>
              <a:buChar char="•"/>
            </a:pPr>
            <a:r>
              <a:rPr lang="he-IL" sz="1400" b="0">
                <a:solidFill>
                  <a:srgbClr val="1B242B"/>
                </a:solidFill>
                <a:latin typeface="Arial"/>
                <a:cs typeface="Arial"/>
              </a:rPr>
              <a:t>אין positional encoding, ה-BiGRU במקום השכבה הליניארית הראשונה הוא שנותן לרשת את הסדר.</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spcAft>
                <a:spcPts val="400"/>
              </a:spcAft>
              <a:buNone/>
            </a:pPr>
            <a:r>
              <a:rPr lang="he-IL" sz="1400" b="1">
                <a:solidFill>
                  <a:srgbClr val="1B242B"/>
                </a:solidFill>
                <a:latin typeface="Arial"/>
                <a:cs typeface="Arial"/>
              </a:rPr>
              <a:t>עמרי, בערך 50 שניות.</a:t>
            </a:r>
          </a:p>
          <a:p>
            <a:pPr marL="292608" indent="-292608" algn="r" rtl="1">
              <a:spcAft>
                <a:spcPts val="400"/>
              </a:spcAft>
              <a:buFont typeface="Arial"/>
              <a:buChar char="•"/>
            </a:pPr>
            <a:r>
              <a:rPr lang="he-IL" sz="1400" b="0">
                <a:solidFill>
                  <a:srgbClr val="1B242B"/>
                </a:solidFill>
                <a:latin typeface="Arial"/>
                <a:cs typeface="Arial"/>
              </a:rPr>
              <a:t>בסוף ה-Decoder יש ReLU, כך שהמסכה לא שלילית ולא חסומה מלמעלה. Sigmoid היה מגביל ל-1, אבל לפעמים הרעש מבטל חלק מהדיבור וצריך להגביר.</a:t>
            </a:r>
          </a:p>
          <a:p>
            <a:pPr marL="292608" indent="-292608" algn="r" rtl="1">
              <a:spcAft>
                <a:spcPts val="400"/>
              </a:spcAft>
              <a:buFont typeface="Arial"/>
              <a:buChar char="•"/>
            </a:pPr>
            <a:r>
              <a:rPr lang="he-IL" sz="1400" b="0">
                <a:solidFill>
                  <a:srgbClr val="1B242B"/>
                </a:solidFill>
                <a:latin typeface="Arial"/>
                <a:cs typeface="Arial"/>
              </a:rPr>
              <a:t>המסכה פועלת על ה-magnitude הדחוס, ולכן ההגבר האמיתי הוא M בחזקת 3.33.</a:t>
            </a:r>
          </a:p>
          <a:p>
            <a:pPr marL="292608" indent="-292608" algn="r" rtl="1">
              <a:spcAft>
                <a:spcPts val="400"/>
              </a:spcAft>
              <a:buFont typeface="Arial"/>
              <a:buChar char="•"/>
            </a:pPr>
            <a:r>
              <a:rPr lang="he-IL" sz="1400" b="0">
                <a:solidFill>
                  <a:srgbClr val="1B242B"/>
                </a:solidFill>
                <a:latin typeface="Arial"/>
                <a:cs typeface="Arial"/>
              </a:rPr>
              <a:t>את הפאזה לא משנים, משתמשים בפאזה הרועשת. מכאן התקרה, גם עם magnitude מושלם PESQ מגיע רק ל-3.95. נחזור לזה בתוצאות.</a:t>
            </a:r>
          </a:p>
          <a:p>
            <a:pPr marL="292608" indent="-292608" algn="r" rtl="1">
              <a:spcAft>
                <a:spcPts val="400"/>
              </a:spcAft>
              <a:buFont typeface="Arial"/>
              <a:buChar char="•"/>
            </a:pPr>
            <a:r>
              <a:rPr lang="he-IL" sz="1400" b="0">
                <a:solidFill>
                  <a:srgbClr val="1B242B"/>
                </a:solidFill>
                <a:latin typeface="Arial"/>
                <a:cs typeface="Arial"/>
              </a:rPr>
              <a:t>הפרמטרים, 57 אחוז בקונבולוציות, 39 אחוז בליבה, ומתוכם רוב הליבה הוא ה-GRU ולא ה-Attention.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spcAft>
                <a:spcPts val="400"/>
              </a:spcAft>
              <a:buNone/>
            </a:pPr>
            <a:r>
              <a:rPr lang="he-IL" sz="1400" b="1">
                <a:solidFill>
                  <a:srgbClr val="1B242B"/>
                </a:solidFill>
                <a:latin typeface="Arial"/>
                <a:cs typeface="Arial"/>
              </a:rPr>
              <a:t>עמרי, בערך דקה.</a:t>
            </a:r>
          </a:p>
          <a:p>
            <a:pPr marL="292608" indent="-292608" algn="r" rtl="1">
              <a:spcAft>
                <a:spcPts val="400"/>
              </a:spcAft>
              <a:buFont typeface="Arial"/>
              <a:buChar char="•"/>
            </a:pPr>
            <a:r>
              <a:rPr lang="he-IL" sz="1400" b="0">
                <a:solidFill>
                  <a:srgbClr val="1B242B"/>
                </a:solidFill>
                <a:latin typeface="Arial"/>
                <a:cs typeface="Arial"/>
              </a:rPr>
              <a:t>VoiceBank-DEMAND [3], המאגר המקובל בתחום, כל הקלטה רועשת מגיעה עם הנקייה שממנה נוצרה.</a:t>
            </a:r>
          </a:p>
          <a:p>
            <a:pPr marL="292608" indent="-292608" algn="r" rtl="1">
              <a:spcAft>
                <a:spcPts val="400"/>
              </a:spcAft>
              <a:buFont typeface="Arial"/>
              <a:buChar char="•"/>
            </a:pPr>
            <a:r>
              <a:rPr lang="he-IL" sz="1400" b="0">
                <a:solidFill>
                  <a:srgbClr val="1B242B"/>
                </a:solidFill>
                <a:latin typeface="Arial"/>
                <a:cs typeface="Arial"/>
              </a:rPr>
              <a:t>הבדיקה על דוברים ורעשים שלא נראו באימון, כך שזו בדיקת הכללה אמיתית.</a:t>
            </a:r>
          </a:p>
          <a:p>
            <a:pPr marL="292608" indent="-292608" algn="r" rtl="1">
              <a:spcAft>
                <a:spcPts val="400"/>
              </a:spcAft>
              <a:buFont typeface="Arial"/>
              <a:buChar char="•"/>
            </a:pPr>
            <a:r>
              <a:rPr lang="he-IL" sz="1400" b="0">
                <a:solidFill>
                  <a:srgbClr val="1B242B"/>
                </a:solidFill>
                <a:latin typeface="Arial"/>
                <a:cs typeface="Arial"/>
              </a:rPr>
              <a:t>ה-validation הוא 3 דוברים שהוצאנו מסט האימון, כדי שאף דובר לא יופיע גם באימון וגם בבחירת המודל.</a:t>
            </a:r>
          </a:p>
          <a:p>
            <a:pPr marL="292608" indent="-292608" algn="r" rtl="1">
              <a:spcAft>
                <a:spcPts val="400"/>
              </a:spcAft>
              <a:buFont typeface="Arial"/>
              <a:buChar char="•"/>
            </a:pPr>
            <a:r>
              <a:rPr lang="he-IL" sz="1400" b="0">
                <a:solidFill>
                  <a:srgbClr val="1B242B"/>
                </a:solidFill>
                <a:latin typeface="Arial"/>
                <a:cs typeface="Arial"/>
              </a:rPr>
              <a:t>למה כמה מדדים, אפשר לשפר אחד בלי השני. PESQ מודד איכות כפי שהאוזן שומעת, STOI ו-ESTOI מובנות, SI-SDR ו-SSNR עיוות של האות.</a:t>
            </a:r>
          </a:p>
          <a:p>
            <a:pPr marL="292608" indent="-292608" algn="r" rtl="1">
              <a:spcAft>
                <a:spcPts val="400"/>
              </a:spcAft>
              <a:buFont typeface="Arial"/>
              <a:buChar char="•"/>
            </a:pPr>
            <a:r>
              <a:rPr lang="he-IL" sz="1400" b="0">
                <a:solidFill>
                  <a:srgbClr val="1B242B"/>
                </a:solidFill>
                <a:latin typeface="Arial"/>
                <a:cs typeface="Arial"/>
              </a:rPr>
              <a:t>המגבלה, הרעש חובר דיגיטלית, בלי הדהוד ובלי מיקרופון אמיתי.</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spcAft>
                <a:spcPts val="400"/>
              </a:spcAft>
              <a:buNone/>
            </a:pPr>
            <a:r>
              <a:rPr lang="he-IL" sz="1400" b="1">
                <a:solidFill>
                  <a:srgbClr val="1B242B"/>
                </a:solidFill>
                <a:latin typeface="Arial"/>
                <a:cs typeface="Arial"/>
              </a:rPr>
              <a:t>עמרי, בערך דקה.</a:t>
            </a:r>
          </a:p>
          <a:p>
            <a:pPr marL="292608" indent="-292608" algn="r" rtl="1">
              <a:spcAft>
                <a:spcPts val="400"/>
              </a:spcAft>
              <a:buFont typeface="Arial"/>
              <a:buChar char="•"/>
            </a:pPr>
            <a:r>
              <a:rPr lang="he-IL" sz="1400" b="0">
                <a:solidFill>
                  <a:srgbClr val="1B242B"/>
                </a:solidFill>
                <a:latin typeface="Arial"/>
                <a:cs typeface="Arial"/>
              </a:rPr>
              <a:t>ההפסד בודק את התוצאה בשני מקומות, על ה-waveform (רק הוא מרגיש את הפאזה) ועל ה-magnitude הדחוס.</a:t>
            </a:r>
          </a:p>
          <a:p>
            <a:pPr marL="292608" indent="-292608" algn="r" rtl="1">
              <a:spcAft>
                <a:spcPts val="400"/>
              </a:spcAft>
              <a:buFont typeface="Arial"/>
              <a:buChar char="•"/>
            </a:pPr>
            <a:r>
              <a:rPr lang="he-IL" sz="1400" b="0">
                <a:solidFill>
                  <a:srgbClr val="1B242B"/>
                </a:solidFill>
                <a:latin typeface="Arial"/>
                <a:cs typeface="Arial"/>
              </a:rPr>
              <a:t>מאמנים על הקלטות שלמות ולא על קטעים, כדי שה-Attention בזמן יראה באימון את אותם אורכים כמו בבדיקה.</a:t>
            </a:r>
          </a:p>
          <a:p>
            <a:pPr marL="292608" indent="-292608" algn="r" rtl="1">
              <a:spcAft>
                <a:spcPts val="400"/>
              </a:spcAft>
              <a:buFont typeface="Arial"/>
              <a:buChar char="•"/>
            </a:pPr>
            <a:r>
              <a:rPr lang="he-IL" sz="1400" b="0">
                <a:solidFill>
                  <a:srgbClr val="1B242B"/>
                </a:solidFill>
                <a:latin typeface="Arial"/>
                <a:cs typeface="Arial"/>
              </a:rPr>
              <a:t>בוחרים epoch לפי PESQ על ה-validation ולא לפי ההפסד, כי בסוף האימון ההפסד ממשיך לרדת כשהאיכות כבר לא משתפרת.</a:t>
            </a:r>
          </a:p>
          <a:p>
            <a:pPr marL="292608" indent="-292608" algn="r" rtl="1">
              <a:spcAft>
                <a:spcPts val="400"/>
              </a:spcAft>
              <a:buFont typeface="Arial"/>
              <a:buChar char="•"/>
            </a:pPr>
            <a:r>
              <a:rPr lang="he-IL" sz="1400" b="0">
                <a:solidFill>
                  <a:srgbClr val="1B242B"/>
                </a:solidFill>
                <a:latin typeface="Arial"/>
                <a:cs typeface="Arial"/>
              </a:rPr>
              <a:t>16 epochs, כ-40 דקות ל-epoch על Tesla T4 עם float16. כאן עמרי מעביר לעידן.</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עידן, בערך 45 שניות.</a:t>
            </a:r>
          </a:p>
          <a:p>
            <a:r>
              <a:t>מה בעצם נלמד? 0.88 מיליון מספרים, המשקולות. מימין רואים איפה הן: ה-Encoder וה-Decoder, הקונבולוציות, הם 57 אחוז. הליבה, ארבעת בלוקי ה-Dual-Path, היא 39 אחוז, ורובה בכלל ב-BiGRU ולא ב-Attention. הקיבוץ והפירוק עוד 4 אחוז. עיבוד האות עצמו, STFT, דחיסה, תקנון והמסכה, בלי אף פרמטר.</a:t>
            </a:r>
          </a:p>
          <a:p>
            <a:r>
              <a:t>משמאל, צעד אחד: batch עובר קדימה, מחשבים הפסד אחד, 0.4 על האות ו-0.6 על ה-magnitude הדחוס, ב-backpropagation מחשבים לכל משקולת כמה היא תרמה לשגיאה, ו-AdamW מזיז אותה צעד קטן. זה חוזר כ-3,200 פעמים בכל epoch.</a:t>
            </a:r>
          </a:p>
          <a:p>
            <a:r>
              <a:t>בכל הגרסאות שנראה כל המשקולות מתעדכנות. ההבדל בין הגרסאות הוא רק מה הרשת ראתה ואיך נמדדה הטעות.</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עידן, בערך 50 שניות.</a:t>
            </a:r>
          </a:p>
          <a:p>
            <a:r>
              <a:t>מימין, מה קורה בכל epoch: מאמנים על כל ההקלטות, בערך 3,200 עדכונים. אחר כך validation, PESQ על 200 קבצים של דוברים שלא היו באימון. שומרים את ה-epoch עם ה-PESQ הכי גבוה, ולא את האחרון. ואם 3 epochs אין שיפור, קצב הלמידה יורד פי 2. את סט הבדיקה בודקים פעם אחת בסוף, רק על מה שנבחר.</a:t>
            </a:r>
          </a:p>
          <a:p>
            <a:r>
              <a:t>משמאל, האופטימייזר AdamW: לכל משקולת הוא שומר ממוצע נע של הגרדיאנטים שלה, m, וגם את העוצמה שלהם, v. כך הצעד לא קופץ בגלל batch אחד, וכל משקולת מקבלת צעד בגודל שמתאים לה. ה-weight decay מקטין את המשקולות בנפרד מהגרדיאנט, וזה ההבדל בין AdamW ל-Adam. גרדיאנטים גדולים נחתכים בנורמה 5.</a:t>
            </a:r>
          </a:p>
          <a:p>
            <a:r>
              <a:t>וחשוב להמשך: כל גרסה המשיכה מ-epoch 16 עם המשקולות וגם עם המצב של AdamW וקצב הלמידה, 2.5 כפול 10 בחזקת מינוס 4. כלומר זה המשך אמיתי של האימון.</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עידן, בערך 40 שניות.</a:t>
            </a:r>
          </a:p>
          <a:p>
            <a:r>
              <a:t>נקודת ההתחלה היא ה-baseline: 16 epochs, בערך 10.6 שעות, וה-epoch הטוב ביותר היה 15 עם PESQ של 2.800 על ה-validation.</a:t>
            </a:r>
          </a:p>
          <a:p>
            <a:r>
              <a:t>משם שאלנו מאיפה יבוא השיפור הבא, ובנינו שלוש גרסאות. כולן ממשיכות מסוף epoch 16, וכל אחת מוסיפה שינוי אחד על הקודמת: המשך אימון בודק אם המודל פשוט לא סיים ללמוד. נתונים נוספים בודק אם חסר לו גיוון. ו-L1 בודק אם הוא מתאמן על המטרה הנכונה.</a:t>
            </a:r>
          </a:p>
          <a:p>
            <a:r>
              <a:t>לכולן אותו תקציב, 8 epochs של 10,225 הקלטות, כדי שאף אחת לא תנצח רק כי קיבלה יותר חישוב. עכשיו כל גרסה בנפרד.</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עידן, בערך 40 שניות.</a:t>
            </a:r>
          </a:p>
          <a:p>
            <a:r>
              <a:t>הגרסה הראשונה: עוד 8 epochs על אותם נתונים ואותו הפסד, כי ה-PESQ עוד עלה ב-epochs האחרונים.</a:t>
            </a:r>
          </a:p>
          <a:p>
            <a:r>
              <a:t>בגרף, השחור הוא ה-baseline והכחול הוא ההמשך. הוא מזגזג, והשיא הוא ב-epoch 22, עם 2.811 על ה-validation, מעט מעל 2.800. קצב הלמידה ירד פי 2 אחרי epoch 19.</a:t>
            </a:r>
          </a:p>
          <a:p>
            <a:r>
              <a:t>על סט הבדיקה: PESQ של 3.133, כלומר מעט פחות מה-baseline, ו-SI-SDR עלה ב-0.10 dB, ב-76 אחוז מהקבצים.</a:t>
            </a:r>
          </a:p>
          <a:p>
            <a:r>
              <a:t>המסקנה: על ה-validation זה נראה כמו שיפור, ובבדיקה לא. כלומר הבדל של 0.01 ב-PESQ הוא רעש, ועוד זמן לבד כמעט לא עוזר.</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עידן, בערך 40 שניות.</a:t>
            </a:r>
          </a:p>
          <a:p>
            <a:r>
              <a:t>הגרסה השנייה: הוספנו את גרסת 56 הדוברים, סך הכול 33,300 זוגות, פי 3 גיוון. כדי שהחישוב יישאר זהה, בכל epoch מגרילים רק 10,225 הקלטות.</a:t>
            </a:r>
          </a:p>
          <a:p>
            <a:r>
              <a:t>בגרף, הירוק מול הכחול-אפור של גרסה 1. השיא הגיע מהר, ב-epoch 19, עם 2.826 על ה-validation, אבל רואים כמה הקו קופץ: מ-2.83 ל-2.70 בשני epochs.</a:t>
            </a:r>
          </a:p>
          <a:p>
            <a:r>
              <a:t>על סט הבדיקה: PESQ של 3.149 ו-SI-SDR של 18.64. מול ה-baseline זה כמעט אותו דבר, 0.005 ב-PESQ ו-0.03 dB ב-SI-SDR.</a:t>
            </a:r>
          </a:p>
          <a:p>
            <a:r>
              <a:t>המסקנה: פי 3 גיוון כמעט לא שינה את התוצאה. כלומר המודל מוגבל ביעד ולא בנתונים, bias ולא variance: ההפסד על ה-validation קרוב לאימון, ועוד נתונים מאותו סוג לא עוזרים. לכן בגרסה הבאה שינינו את ההפסד.</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עידן, בערך 45 שניות.</a:t>
            </a:r>
          </a:p>
          <a:p>
            <a:r>
              <a:t>הגרסה השלישית משנה את ההפסד: L1, ערך מוחלט במקום ריבוע, בשני האיברים. MSE מתפשר כשהוא לא בטוח, ו-L1 ממשיך לדחוף גם כשהשגיאה קטנה.</a:t>
            </a:r>
          </a:p>
          <a:p>
            <a:r>
              <a:t>בגרף PESQ על ה-validation, כמו בשתי הגרסאות הקודמות: הכתום, L1, מול האפור, MSE על אותם נתונים. שניהם מגיעים לשיא ב-epoch 19, ‏2.829 מול 2.826, כלומר ב-PESQ כמעט אין הבדל.</a:t>
            </a:r>
          </a:p>
          <a:p>
            <a:r>
              <a:t>על סט הבדיקה: PESQ של 3.146 ו-SI-SDR של 18.85 dB. מול ה-baseline זה 0.002 ב-PESQ ו-0.23 dB ב-SI-SDR, ב-82 אחוז מהקבצים. ומול MSE על אותם נתונים, L1 לבד מוסיף 0.21 dB, ב-86 אחוז מהקבצים, כלומר כמעט כל השיפור ב-SI-SDR מגיע מה-L1.</a:t>
            </a:r>
          </a:p>
          <a:p>
            <a:r>
              <a:t>למה דווקא SI-SDR? L1 הופך את המסכה להחלטית יותר (בשקופית הבאה), וזה מקרב את ה-waveform לנקי. זה המודל הסופי שלנו.</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עידן, בערך 35 שניות.</a:t>
            </a:r>
          </a:p>
          <a:p>
            <a:r>
              <a:t>הגרף הזה מראה למה L1 עובד. לכל נקודה בספקטרוגרמה, כמה המסכה החלישה אותה, באחוזים מכל הנקודות של סט הבדיקה. אפור MSE, כתום L1, אותו מודל ואותם נתונים.</a:t>
            </a:r>
          </a:p>
          <a:p>
            <a:r>
              <a:t>יש שתי פסגות, בצד שמאל נקודות שנמחקות ובאמצע נקודות שנשארות כמו שהן. ל-L1 שתי הפסגות גבוהות יותר, ובאמצע, ההנחתה החלקית, יש לו פחות. כלומר הוא מחליט.</a:t>
            </a:r>
          </a:p>
          <a:p>
            <a:r>
              <a:t>ובמספרים, על נקודות שהרעש בהן חזק מהדיבור, L1 מוחק כמעט לגמרי 4.3 אחוז מול 2.5. על נקודות שהדיבור בהן חזק, הוא משאיר 69 אחוז בהגבר של 0.9 ומעלה, מול 58.</a:t>
            </a:r>
          </a:p>
          <a:p>
            <a:r>
              <a:t>למה, MSE מעניש שגיאה גדולה בריבוע, אז בנקודה שהוא לא בטוח בה הוא בוחר ערך באמצע, שלא יטעה הרבה. L1 מעניש באופן שווה, ולכן הוא מוכן להחליט. מסכה החלטית מקרבת את ה-waveform לנקי, וזה השיפור ב-SI-SDR.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עידן, בערך 40 שניות.</a:t>
            </a:r>
          </a:p>
          <a:p>
            <a:r>
              <a:t>על סט הבדיקה, 824 קבצים שלא שימשו לשום בחירה, המודל הסופי מעלה את PESQ מ-1.97 ל-3.15 ואת SI-SDR בכ-10 dB, ועובר את TSTNN, 2.96, באותו גודל. המספר של TSTNN מהמאמר, לא הרצנו אותו בעצמנו.</a:t>
            </a:r>
          </a:p>
          <a:p>
            <a:r>
              <a:t>התקרה היא ה-magnitude הנקי עם הפאזה הרועשת, הטוב ביותר שמסכה כמו שלנו יכולה להשיג.</a:t>
            </a:r>
          </a:p>
          <a:p>
            <a:r>
              <a:t>מימין: ב-SI-SDR סגרנו 89 אחוז מהדרך לתקרה, אבל ב-PESQ 59 ובמובנות כמחצית. הסיבה לפער: SI-SDR סופר אנרגיה, כמו ההפסד שלנו, ולכן הוא כמעט בתקרה. PESQ שוקל לפי השמיעה, ומה שנשאר הן שגיאות קטנות באנרגיה אבל בולטות לאוזן, רעש שקט בין המילים ועיצורים חלשים.</a:t>
            </a:r>
          </a:p>
          <a:p>
            <a:r>
              <a:t>בגרף גם שני מסננים קלאסיים שהרצנו בעצמנו על אותם קבצים, חיסור ספקטרלי ו-Wiener. הם מגיעים רק ל-PESQ של 2.26 ו-2.07, כי הם מניחים רעש קבוע, וזו בדיוק הסיבה לרשת.</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עידן, בערך 30 שניות.</a:t>
            </a:r>
          </a:p>
          <a:p>
            <a:r>
              <a:t>מפרקים את התוצאה לפי ה-SNR של הקלט, שאפשר לחשב בדיוק כי הרעש הוא ההפרש בין הרועש לנקי.</a:t>
            </a:r>
          </a:p>
          <a:p>
            <a:r>
              <a:t>השיפור ב-PESQ דומה בכל הרמות. המובנות משתפרת בעיקר ברעש חזק: מתחת ל-2.5 dB ה-ESTOI עולה ב-0.14, ומעל 12.5 dB רק ב-0.04. כלומר המודל עוזר הכי הרבה איפה שהכי קשה להבין.</a:t>
            </a:r>
          </a:p>
          <a:p>
            <a:r>
              <a:t>והוא פוגע ב-PESQ רק ב-4 קבצים מתוך 824, כולם כמעט נקיים מלכתחילה.</a:t>
            </a:r>
          </a:p>
          <a:p>
            <a:r>
              <a:t>והגבול: בדקנו גם על הקלטה שלנו עם רעש בית קפה, בעוצמה חזקה יותר מכל מה שיש בבדיקה. ב-0 dB, כשהרעש חזק כמו הדיבור, ה-ESTOI עולה מ-0.46 ל-0.67. כשהרעש חזק פי 3 מהדיבור (מינוס 5 dB) המודל עוד משפר את ההבנה, אבל זה כבר לא נשמע טוב. האימון היה רק עד 0 dB.</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spcAft>
                <a:spcPts val="400"/>
              </a:spcAft>
              <a:buNone/>
            </a:pPr>
            <a:r>
              <a:rPr lang="he-IL" sz="1400" b="1">
                <a:solidFill>
                  <a:srgbClr val="1B242B"/>
                </a:solidFill>
                <a:latin typeface="Arial"/>
                <a:cs typeface="Arial"/>
              </a:rPr>
              <a:t>עידן, בערך 45 שניות.</a:t>
            </a:r>
          </a:p>
          <a:p>
            <a:pPr marL="292608" indent="-292608" algn="r" rtl="1">
              <a:spcAft>
                <a:spcPts val="400"/>
              </a:spcAft>
              <a:buFont typeface="Arial"/>
              <a:buChar char="•"/>
            </a:pPr>
            <a:r>
              <a:rPr lang="he-IL" sz="1400" b="0">
                <a:solidFill>
                  <a:srgbClr val="1B242B"/>
                </a:solidFill>
                <a:latin typeface="Arial"/>
                <a:cs typeface="Arial"/>
              </a:rPr>
              <a:t>מנגנים לפי הסדר, קודם הרועש, אחר כך אחרי המודל. אם נשאר זמן, גם הנקי המקורי להשוואה.</a:t>
            </a:r>
          </a:p>
          <a:p>
            <a:pPr marL="292608" indent="-292608" algn="r" rtl="1">
              <a:spcAft>
                <a:spcPts val="400"/>
              </a:spcAft>
              <a:buFont typeface="Arial"/>
              <a:buChar char="•"/>
            </a:pPr>
            <a:r>
              <a:rPr lang="he-IL" sz="1400" b="0">
                <a:solidFill>
                  <a:srgbClr val="1B242B"/>
                </a:solidFill>
                <a:latin typeface="Arial"/>
                <a:cs typeface="Arial"/>
              </a:rPr>
              <a:t>זו הקלטה שלנו, דיבור שהקלטנו ועליו רעש של בית קפה מסט הבדיקה, ב-SNR של 0 dB, כלומר הרעש חזק כמו הדיבור. המודל לא שמע לא את הדובר ולא את הרעש באימון. המודל כאן הוא ה-MSE על הנתונים הנוספים.</a:t>
            </a:r>
          </a:p>
          <a:p>
            <a:pPr marL="292608" indent="-292608" algn="r" rtl="1">
              <a:spcAft>
                <a:spcPts val="400"/>
              </a:spcAft>
              <a:buFont typeface="Arial"/>
              <a:buChar char="•"/>
            </a:pPr>
            <a:r>
              <a:rPr lang="he-IL" sz="1400" b="0">
                <a:solidFill>
                  <a:srgbClr val="1B242B"/>
                </a:solidFill>
                <a:latin typeface="Arial"/>
                <a:cs typeface="Arial"/>
              </a:rPr>
              <a:t>לשים לב שהקולות והכלים ברקע כמעט נעלמים והדיבור הראשי נשאר ברור. המובנות עולה הרבה (ESTOI מ-0.46 ל-0.67), אבל עוד נשמעים נקישות ושאריות רקע.</a:t>
            </a:r>
          </a:p>
          <a:p>
            <a:pPr marL="292608" indent="-292608" algn="r" rtl="1">
              <a:spcAft>
                <a:spcPts val="400"/>
              </a:spcAft>
              <a:buFont typeface="Arial"/>
              <a:buChar char="•"/>
            </a:pPr>
            <a:r>
              <a:rPr lang="he-IL" sz="1400" b="0">
                <a:solidFill>
                  <a:srgbClr val="1B242B"/>
                </a:solidFill>
                <a:latin typeface="Arial"/>
                <a:cs typeface="Arial"/>
              </a:rPr>
              <a:t>כדי לנגן, לוחצים על הצורה של הגל. הקבצים נמצאים גם בתיקייה presentation_audio ליד המצגת.</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13" Type="http://schemas.openxmlformats.org/officeDocument/2006/relationships/image" Target="../media/image28.png"/><Relationship Id="rId3" Type="http://schemas.microsoft.com/office/2007/relationships/media" Target="../media/media2.wav"/><Relationship Id="rId7" Type="http://schemas.openxmlformats.org/officeDocument/2006/relationships/slideLayout" Target="../slideLayouts/slideLayout7.xml"/><Relationship Id="rId12" Type="http://schemas.openxmlformats.org/officeDocument/2006/relationships/image" Target="../media/image27.png"/><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audio" Target="../media/media3.wav"/><Relationship Id="rId11" Type="http://schemas.openxmlformats.org/officeDocument/2006/relationships/image" Target="../media/image26.png"/><Relationship Id="rId5" Type="http://schemas.microsoft.com/office/2007/relationships/media" Target="../media/media3.wav"/><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audio" Target="../media/media2.wav"/><Relationship Id="rId9" Type="http://schemas.openxmlformats.org/officeDocument/2006/relationships/image" Target="../media/image24.png"/><Relationship Id="rId1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93192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931920"/>
            <a:ext cx="12191695" cy="73152"/>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822960"/>
            <a:ext cx="10728655" cy="1097280"/>
          </a:xfrm>
          <a:prstGeom prst="rect">
            <a:avLst/>
          </a:prstGeom>
          <a:noFill/>
        </p:spPr>
        <p:txBody>
          <a:bodyPr wrap="square" lIns="45720" rIns="45720" anchor="t">
            <a:spAutoFit/>
          </a:bodyPr>
          <a:lstStyle/>
          <a:p>
            <a:pPr algn="r" rtl="1">
              <a:spcAft>
                <a:spcPts val="800"/>
              </a:spcAft>
              <a:buNone/>
            </a:pPr>
            <a:r>
              <a:rPr lang="he-IL" sz="4800" b="1">
                <a:solidFill>
                  <a:srgbClr val="FFFFFF"/>
                </a:solidFill>
                <a:latin typeface="Arial"/>
                <a:cs typeface="Arial"/>
              </a:rPr>
              <a:t>הסרת רעשי רקע מדיבור</a:t>
            </a:r>
          </a:p>
        </p:txBody>
      </p:sp>
      <p:sp>
        <p:nvSpPr>
          <p:cNvPr id="5" name="TextBox 4"/>
          <p:cNvSpPr txBox="1"/>
          <p:nvPr/>
        </p:nvSpPr>
        <p:spPr>
          <a:xfrm>
            <a:off x="731520" y="1874519"/>
            <a:ext cx="10728655" cy="731520"/>
          </a:xfrm>
          <a:prstGeom prst="rect">
            <a:avLst/>
          </a:prstGeom>
          <a:noFill/>
        </p:spPr>
        <p:txBody>
          <a:bodyPr wrap="square" lIns="45720" rIns="45720" anchor="t">
            <a:spAutoFit/>
          </a:bodyPr>
          <a:lstStyle/>
          <a:p>
            <a:pPr algn="r" rtl="1">
              <a:spcAft>
                <a:spcPts val="800"/>
              </a:spcAft>
              <a:buNone/>
            </a:pPr>
            <a:r>
              <a:rPr lang="he-IL" sz="2800" b="0">
                <a:solidFill>
                  <a:srgbClr val="DCEBF7"/>
                </a:solidFill>
                <a:latin typeface="Arial"/>
                <a:cs typeface="Arial"/>
              </a:rPr>
              <a:t>Two-Stage Transformer במרחב זמן-תדר</a:t>
            </a:r>
          </a:p>
        </p:txBody>
      </p:sp>
      <p:sp>
        <p:nvSpPr>
          <p:cNvPr id="6" name="TextBox 5"/>
          <p:cNvSpPr txBox="1"/>
          <p:nvPr/>
        </p:nvSpPr>
        <p:spPr>
          <a:xfrm>
            <a:off x="731520" y="2880360"/>
            <a:ext cx="10728655" cy="548640"/>
          </a:xfrm>
          <a:prstGeom prst="rect">
            <a:avLst/>
          </a:prstGeom>
          <a:noFill/>
        </p:spPr>
        <p:txBody>
          <a:bodyPr wrap="square" lIns="45720" rIns="45720" anchor="t">
            <a:spAutoFit/>
          </a:bodyPr>
          <a:lstStyle/>
          <a:p>
            <a:pPr algn="r" rtl="1">
              <a:spcAft>
                <a:spcPts val="800"/>
              </a:spcAft>
              <a:buNone/>
            </a:pPr>
            <a:r>
              <a:rPr lang="he-IL" sz="2000" b="0">
                <a:solidFill>
                  <a:srgbClr val="DCEBF7"/>
                </a:solidFill>
                <a:latin typeface="Arial"/>
                <a:cs typeface="Arial"/>
              </a:rPr>
              <a:t>עמרי גרוסגליק ועידן אברהמי, למידה עמוקה 2026ב</a:t>
            </a:r>
          </a:p>
        </p:txBody>
      </p:sp>
      <p:pic>
        <p:nvPicPr>
          <p:cNvPr id="7" name="Picture 6" descr="pres_example.png"/>
          <p:cNvPicPr>
            <a:picLocks noChangeAspect="1"/>
          </p:cNvPicPr>
          <p:nvPr/>
        </p:nvPicPr>
        <p:blipFill>
          <a:blip r:embed="rId3"/>
          <a:stretch>
            <a:fillRect/>
          </a:stretch>
        </p:blipFill>
        <p:spPr>
          <a:xfrm>
            <a:off x="1240508" y="4206240"/>
            <a:ext cx="9710678" cy="24803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77295" cy="777240"/>
          </a:xfrm>
          <a:prstGeom prst="rect">
            <a:avLst/>
          </a:prstGeom>
          <a:noFill/>
        </p:spPr>
        <p:txBody>
          <a:bodyPr wrap="square" lIns="45720" rIns="45720" anchor="ctr">
            <a:spAutoFit/>
          </a:bodyPr>
          <a:lstStyle/>
          <a:p>
            <a:pPr algn="r" rtl="1">
              <a:spcAft>
                <a:spcPts val="800"/>
              </a:spcAft>
              <a:buNone/>
            </a:pPr>
            <a:r>
              <a:rPr lang="he-IL" sz="3200" b="1">
                <a:solidFill>
                  <a:srgbClr val="1F4E79"/>
                </a:solidFill>
                <a:latin typeface="Arial"/>
                <a:cs typeface="Arial"/>
              </a:rPr>
              <a:t>הבעיה</a:t>
            </a:r>
          </a:p>
        </p:txBody>
      </p:sp>
      <p:sp>
        <p:nvSpPr>
          <p:cNvPr id="4" name="Rectangle 3"/>
          <p:cNvSpPr/>
          <p:nvPr/>
        </p:nvSpPr>
        <p:spPr>
          <a:xfrm>
            <a:off x="10271455" y="1051560"/>
            <a:ext cx="1463040" cy="4572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774375" y="6400800"/>
            <a:ext cx="1051560" cy="310896"/>
          </a:xfrm>
          <a:prstGeom prst="roundRect">
            <a:avLst>
              <a:gd name="adj" fmla="val 5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74375" y="6400800"/>
            <a:ext cx="1051560" cy="310896"/>
          </a:xfrm>
          <a:prstGeom prst="rect">
            <a:avLst/>
          </a:prstGeom>
          <a:noFill/>
        </p:spPr>
        <p:txBody>
          <a:bodyPr wrap="square" lIns="45720" rIns="45720" anchor="ctr">
            <a:spAutoFit/>
          </a:bodyPr>
          <a:lstStyle/>
          <a:p>
            <a:pPr algn="ctr" rtl="1">
              <a:spcAft>
                <a:spcPts val="0"/>
              </a:spcAft>
              <a:buNone/>
            </a:pPr>
            <a:r>
              <a:rPr lang="he-IL" sz="1300" b="1">
                <a:solidFill>
                  <a:srgbClr val="FFFFFF"/>
                </a:solidFill>
                <a:latin typeface="Arial"/>
                <a:cs typeface="Arial"/>
              </a:rPr>
              <a:t>עמרי</a:t>
            </a:r>
          </a:p>
        </p:txBody>
      </p:sp>
      <p:sp>
        <p:nvSpPr>
          <p:cNvPr id="7" name="TextBox 6"/>
          <p:cNvSpPr txBox="1"/>
          <p:nvPr/>
        </p:nvSpPr>
        <p:spPr>
          <a:xfrm>
            <a:off x="365760" y="6400800"/>
            <a:ext cx="914400" cy="310896"/>
          </a:xfrm>
          <a:prstGeom prst="rect">
            <a:avLst/>
          </a:prstGeom>
          <a:noFill/>
        </p:spPr>
        <p:txBody>
          <a:bodyPr wrap="square" lIns="45720" rIns="45720" anchor="ctr">
            <a:spAutoFit/>
          </a:bodyPr>
          <a:lstStyle/>
          <a:p>
            <a:pPr algn="l" rtl="0">
              <a:spcAft>
                <a:spcPts val="0"/>
              </a:spcAft>
              <a:buNone/>
            </a:pPr>
            <a:r>
              <a:rPr lang="he-IL" sz="1300" b="0">
                <a:solidFill>
                  <a:srgbClr val="5A636A"/>
                </a:solidFill>
                <a:latin typeface="Arial"/>
                <a:cs typeface="Arial"/>
              </a:rPr>
              <a:t>2</a:t>
            </a:r>
          </a:p>
        </p:txBody>
      </p:sp>
      <p:sp>
        <p:nvSpPr>
          <p:cNvPr id="8" name="TextBox 7"/>
          <p:cNvSpPr txBox="1"/>
          <p:nvPr/>
        </p:nvSpPr>
        <p:spPr>
          <a:xfrm>
            <a:off x="6309360" y="1325880"/>
            <a:ext cx="5394960" cy="2194560"/>
          </a:xfrm>
          <a:prstGeom prst="rect">
            <a:avLst/>
          </a:prstGeom>
          <a:noFill/>
        </p:spPr>
        <p:txBody>
          <a:bodyPr wrap="square" lIns="45720" rIns="45720" anchor="t">
            <a:spAutoFit/>
          </a:bodyPr>
          <a:lstStyle/>
          <a:p>
            <a:pPr marL="292608" indent="-292608" algn="r" rtl="1">
              <a:spcAft>
                <a:spcPts val="1200"/>
              </a:spcAft>
              <a:buFont typeface="Arial"/>
              <a:buChar char="•"/>
            </a:pPr>
            <a:r>
              <a:rPr lang="he-IL" sz="2200" b="0">
                <a:solidFill>
                  <a:srgbClr val="1B242B"/>
                </a:solidFill>
                <a:latin typeface="Arial"/>
                <a:cs typeface="Arial"/>
              </a:rPr>
              <a:t>רעש שמשתנה בזמן, רחוב, מטבח, אנשים</a:t>
            </a:r>
          </a:p>
          <a:p>
            <a:pPr marL="292608" indent="-292608" algn="r" rtl="1">
              <a:spcAft>
                <a:spcPts val="1200"/>
              </a:spcAft>
              <a:buFont typeface="Arial"/>
              <a:buChar char="•"/>
            </a:pPr>
            <a:r>
              <a:rPr lang="he-IL" sz="2200" b="0">
                <a:solidFill>
                  <a:srgbClr val="1B242B"/>
                </a:solidFill>
                <a:latin typeface="Arial"/>
                <a:cs typeface="Arial"/>
              </a:rPr>
              <a:t>שיטות קלאסיות מניחות רעש קבוע</a:t>
            </a:r>
          </a:p>
          <a:p>
            <a:pPr marL="292608" indent="-292608" algn="r" rtl="1">
              <a:spcAft>
                <a:spcPts val="1200"/>
              </a:spcAft>
              <a:buFont typeface="Arial"/>
              <a:buChar char="•"/>
            </a:pPr>
            <a:r>
              <a:rPr lang="he-IL" sz="2200" b="0">
                <a:solidFill>
                  <a:srgbClr val="1B242B"/>
                </a:solidFill>
                <a:latin typeface="Arial"/>
                <a:cs typeface="Arial"/>
              </a:rPr>
              <a:t>המטרה, איכות ומובנות במודל קטן</a:t>
            </a:r>
          </a:p>
        </p:txBody>
      </p:sp>
      <p:sp>
        <p:nvSpPr>
          <p:cNvPr id="9" name="TextBox 8"/>
          <p:cNvSpPr txBox="1"/>
          <p:nvPr/>
        </p:nvSpPr>
        <p:spPr>
          <a:xfrm>
            <a:off x="548640" y="1417320"/>
            <a:ext cx="5486400" cy="822960"/>
          </a:xfrm>
          <a:prstGeom prst="rect">
            <a:avLst/>
          </a:prstGeom>
          <a:noFill/>
        </p:spPr>
        <p:txBody>
          <a:bodyPr wrap="square" lIns="45720" rIns="45720" anchor="t">
            <a:spAutoFit/>
          </a:bodyPr>
          <a:lstStyle/>
          <a:p>
            <a:pPr algn="ctr" rtl="0">
              <a:spcAft>
                <a:spcPts val="800"/>
              </a:spcAft>
              <a:buNone/>
            </a:pPr>
            <a:r>
              <a:rPr lang="he-IL" sz="3600" b="1">
                <a:solidFill>
                  <a:srgbClr val="1F4E79"/>
                </a:solidFill>
                <a:latin typeface="Arial"/>
                <a:cs typeface="Arial"/>
              </a:rPr>
              <a:t>y(t) = s(t) + n(t)</a:t>
            </a:r>
          </a:p>
        </p:txBody>
      </p:sp>
      <p:sp>
        <p:nvSpPr>
          <p:cNvPr id="10" name="TextBox 9"/>
          <p:cNvSpPr txBox="1"/>
          <p:nvPr/>
        </p:nvSpPr>
        <p:spPr>
          <a:xfrm>
            <a:off x="548640" y="2240280"/>
            <a:ext cx="5486400" cy="548640"/>
          </a:xfrm>
          <a:prstGeom prst="rect">
            <a:avLst/>
          </a:prstGeom>
          <a:noFill/>
        </p:spPr>
        <p:txBody>
          <a:bodyPr wrap="square" lIns="45720" rIns="45720" anchor="t">
            <a:spAutoFit/>
          </a:bodyPr>
          <a:lstStyle/>
          <a:p>
            <a:pPr algn="ctr" rtl="1">
              <a:spcAft>
                <a:spcPts val="800"/>
              </a:spcAft>
              <a:buNone/>
            </a:pPr>
            <a:r>
              <a:rPr lang="he-IL" sz="2000" b="0">
                <a:solidFill>
                  <a:srgbClr val="5A636A"/>
                </a:solidFill>
                <a:latin typeface="Arial"/>
                <a:cs typeface="Arial"/>
              </a:rPr>
              <a:t>רק y ידוע, ואת s צריך לשחזר</a:t>
            </a:r>
          </a:p>
        </p:txBody>
      </p:sp>
      <p:pic>
        <p:nvPicPr>
          <p:cNvPr id="11" name="Picture 10" descr="pres_example.png"/>
          <p:cNvPicPr>
            <a:picLocks noChangeAspect="1"/>
          </p:cNvPicPr>
          <p:nvPr/>
        </p:nvPicPr>
        <p:blipFill>
          <a:blip r:embed="rId3"/>
          <a:stretch>
            <a:fillRect/>
          </a:stretch>
        </p:blipFill>
        <p:spPr>
          <a:xfrm>
            <a:off x="457200" y="3458448"/>
            <a:ext cx="11277295" cy="28805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77295" cy="777240"/>
          </a:xfrm>
          <a:prstGeom prst="rect">
            <a:avLst/>
          </a:prstGeom>
          <a:noFill/>
        </p:spPr>
        <p:txBody>
          <a:bodyPr wrap="square" lIns="45720" rIns="45720" anchor="ctr">
            <a:spAutoFit/>
          </a:bodyPr>
          <a:lstStyle/>
          <a:p>
            <a:pPr algn="r" rtl="1">
              <a:spcAft>
                <a:spcPts val="800"/>
              </a:spcAft>
              <a:buNone/>
            </a:pPr>
            <a:r>
              <a:rPr lang="he-IL" sz="3200" b="1">
                <a:solidFill>
                  <a:srgbClr val="1F4E79"/>
                </a:solidFill>
                <a:latin typeface="Arial"/>
                <a:cs typeface="Arial"/>
              </a:rPr>
              <a:t>המודל במבט אחד</a:t>
            </a:r>
          </a:p>
        </p:txBody>
      </p:sp>
      <p:sp>
        <p:nvSpPr>
          <p:cNvPr id="4" name="Rectangle 3"/>
          <p:cNvSpPr/>
          <p:nvPr/>
        </p:nvSpPr>
        <p:spPr>
          <a:xfrm>
            <a:off x="10271455" y="1051560"/>
            <a:ext cx="1463040" cy="4572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774375" y="6400800"/>
            <a:ext cx="1051560" cy="310896"/>
          </a:xfrm>
          <a:prstGeom prst="roundRect">
            <a:avLst>
              <a:gd name="adj" fmla="val 5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74375" y="6400800"/>
            <a:ext cx="1051560" cy="310896"/>
          </a:xfrm>
          <a:prstGeom prst="rect">
            <a:avLst/>
          </a:prstGeom>
          <a:noFill/>
        </p:spPr>
        <p:txBody>
          <a:bodyPr wrap="square" lIns="45720" rIns="45720" anchor="ctr">
            <a:spAutoFit/>
          </a:bodyPr>
          <a:lstStyle/>
          <a:p>
            <a:pPr algn="ctr" rtl="1">
              <a:spcAft>
                <a:spcPts val="0"/>
              </a:spcAft>
              <a:buNone/>
            </a:pPr>
            <a:r>
              <a:rPr lang="he-IL" sz="1300" b="1">
                <a:solidFill>
                  <a:srgbClr val="FFFFFF"/>
                </a:solidFill>
                <a:latin typeface="Arial"/>
                <a:cs typeface="Arial"/>
              </a:rPr>
              <a:t>עמרי</a:t>
            </a:r>
          </a:p>
        </p:txBody>
      </p:sp>
      <p:sp>
        <p:nvSpPr>
          <p:cNvPr id="7" name="TextBox 6"/>
          <p:cNvSpPr txBox="1"/>
          <p:nvPr/>
        </p:nvSpPr>
        <p:spPr>
          <a:xfrm>
            <a:off x="365760" y="6400800"/>
            <a:ext cx="914400" cy="310896"/>
          </a:xfrm>
          <a:prstGeom prst="rect">
            <a:avLst/>
          </a:prstGeom>
          <a:noFill/>
        </p:spPr>
        <p:txBody>
          <a:bodyPr wrap="square" lIns="45720" rIns="45720" anchor="ctr">
            <a:spAutoFit/>
          </a:bodyPr>
          <a:lstStyle/>
          <a:p>
            <a:pPr algn="l" rtl="0">
              <a:spcAft>
                <a:spcPts val="0"/>
              </a:spcAft>
              <a:buNone/>
            </a:pPr>
            <a:r>
              <a:rPr lang="he-IL" sz="1300" b="0">
                <a:solidFill>
                  <a:srgbClr val="5A636A"/>
                </a:solidFill>
                <a:latin typeface="Arial"/>
                <a:cs typeface="Arial"/>
              </a:rPr>
              <a:t>4</a:t>
            </a:r>
          </a:p>
        </p:txBody>
      </p:sp>
      <p:pic>
        <p:nvPicPr>
          <p:cNvPr id="8" name="Picture 7" descr="arch_he_overview.png"/>
          <p:cNvPicPr>
            <a:picLocks noChangeAspect="1"/>
          </p:cNvPicPr>
          <p:nvPr/>
        </p:nvPicPr>
        <p:blipFill>
          <a:blip r:embed="rId3"/>
          <a:stretch>
            <a:fillRect/>
          </a:stretch>
        </p:blipFill>
        <p:spPr>
          <a:xfrm>
            <a:off x="1151011" y="1280160"/>
            <a:ext cx="9889671" cy="4572000"/>
          </a:xfrm>
          <a:prstGeom prst="rect">
            <a:avLst/>
          </a:prstGeom>
        </p:spPr>
      </p:pic>
      <p:sp>
        <p:nvSpPr>
          <p:cNvPr id="9" name="TextBox 8"/>
          <p:cNvSpPr txBox="1"/>
          <p:nvPr/>
        </p:nvSpPr>
        <p:spPr>
          <a:xfrm>
            <a:off x="457200" y="5897880"/>
            <a:ext cx="11277295" cy="457200"/>
          </a:xfrm>
          <a:prstGeom prst="rect">
            <a:avLst/>
          </a:prstGeom>
          <a:noFill/>
        </p:spPr>
        <p:txBody>
          <a:bodyPr wrap="square" lIns="45720" rIns="45720" anchor="t">
            <a:spAutoFit/>
          </a:bodyPr>
          <a:lstStyle/>
          <a:p>
            <a:pPr algn="ctr" rtl="1">
              <a:spcAft>
                <a:spcPts val="800"/>
              </a:spcAft>
              <a:buNone/>
            </a:pPr>
            <a:r>
              <a:rPr lang="he-IL" sz="1600" b="0">
                <a:solidFill>
                  <a:srgbClr val="5A636A"/>
                </a:solidFill>
                <a:latin typeface="Arial"/>
                <a:cs typeface="Arial"/>
              </a:rPr>
              <a:t>בהשראת TSTNN [1] בתחום הזמן, ומסכה על magnitude כמו ב-[2]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77295" cy="777240"/>
          </a:xfrm>
          <a:prstGeom prst="rect">
            <a:avLst/>
          </a:prstGeom>
          <a:noFill/>
        </p:spPr>
        <p:txBody>
          <a:bodyPr wrap="square" lIns="45720" rIns="45720" anchor="ctr">
            <a:spAutoFit/>
          </a:bodyPr>
          <a:lstStyle/>
          <a:p>
            <a:pPr algn="r" rtl="1">
              <a:spcAft>
                <a:spcPts val="800"/>
              </a:spcAft>
              <a:buNone/>
            </a:pPr>
            <a:r>
              <a:rPr lang="he-IL" sz="3200" b="1">
                <a:solidFill>
                  <a:srgbClr val="1F4E79"/>
                </a:solidFill>
                <a:latin typeface="Arial"/>
                <a:cs typeface="Arial"/>
              </a:rPr>
              <a:t>עיבוד האות</a:t>
            </a:r>
          </a:p>
        </p:txBody>
      </p:sp>
      <p:sp>
        <p:nvSpPr>
          <p:cNvPr id="4" name="Rectangle 3"/>
          <p:cNvSpPr/>
          <p:nvPr/>
        </p:nvSpPr>
        <p:spPr>
          <a:xfrm>
            <a:off x="10271455" y="1051560"/>
            <a:ext cx="1463040" cy="4572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774375" y="6400800"/>
            <a:ext cx="1051560" cy="310896"/>
          </a:xfrm>
          <a:prstGeom prst="roundRect">
            <a:avLst>
              <a:gd name="adj" fmla="val 5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74375" y="6400800"/>
            <a:ext cx="1051560" cy="310896"/>
          </a:xfrm>
          <a:prstGeom prst="rect">
            <a:avLst/>
          </a:prstGeom>
          <a:noFill/>
        </p:spPr>
        <p:txBody>
          <a:bodyPr wrap="square" lIns="45720" rIns="45720" anchor="ctr">
            <a:spAutoFit/>
          </a:bodyPr>
          <a:lstStyle/>
          <a:p>
            <a:pPr algn="ctr" rtl="1">
              <a:spcAft>
                <a:spcPts val="0"/>
              </a:spcAft>
              <a:buNone/>
            </a:pPr>
            <a:r>
              <a:rPr lang="he-IL" sz="1300" b="1">
                <a:solidFill>
                  <a:srgbClr val="FFFFFF"/>
                </a:solidFill>
                <a:latin typeface="Arial"/>
                <a:cs typeface="Arial"/>
              </a:rPr>
              <a:t>עמרי</a:t>
            </a:r>
          </a:p>
        </p:txBody>
      </p:sp>
      <p:sp>
        <p:nvSpPr>
          <p:cNvPr id="7" name="TextBox 6"/>
          <p:cNvSpPr txBox="1"/>
          <p:nvPr/>
        </p:nvSpPr>
        <p:spPr>
          <a:xfrm>
            <a:off x="365760" y="6400800"/>
            <a:ext cx="914400" cy="310896"/>
          </a:xfrm>
          <a:prstGeom prst="rect">
            <a:avLst/>
          </a:prstGeom>
          <a:noFill/>
        </p:spPr>
        <p:txBody>
          <a:bodyPr wrap="square" lIns="45720" rIns="45720" anchor="ctr">
            <a:spAutoFit/>
          </a:bodyPr>
          <a:lstStyle/>
          <a:p>
            <a:pPr algn="l" rtl="0">
              <a:spcAft>
                <a:spcPts val="0"/>
              </a:spcAft>
              <a:buNone/>
            </a:pPr>
            <a:r>
              <a:rPr lang="he-IL" sz="1300" b="0">
                <a:solidFill>
                  <a:srgbClr val="5A636A"/>
                </a:solidFill>
                <a:latin typeface="Arial"/>
                <a:cs typeface="Arial"/>
              </a:rPr>
              <a:t>5</a:t>
            </a:r>
          </a:p>
        </p:txBody>
      </p:sp>
      <p:pic>
        <p:nvPicPr>
          <p:cNvPr id="8" name="Picture 7" descr="pres_dsp.png"/>
          <p:cNvPicPr>
            <a:picLocks noChangeAspect="1"/>
          </p:cNvPicPr>
          <p:nvPr/>
        </p:nvPicPr>
        <p:blipFill>
          <a:blip r:embed="rId3"/>
          <a:stretch>
            <a:fillRect/>
          </a:stretch>
        </p:blipFill>
        <p:spPr>
          <a:xfrm>
            <a:off x="365759" y="1468115"/>
            <a:ext cx="11460175" cy="2929501"/>
          </a:xfrm>
          <a:prstGeom prst="rect">
            <a:avLst/>
          </a:prstGeom>
        </p:spPr>
      </p:pic>
      <p:sp>
        <p:nvSpPr>
          <p:cNvPr id="9" name="Rounded Rectangle 8"/>
          <p:cNvSpPr/>
          <p:nvPr/>
        </p:nvSpPr>
        <p:spPr>
          <a:xfrm>
            <a:off x="8031175" y="4754880"/>
            <a:ext cx="3474720" cy="1371600"/>
          </a:xfrm>
          <a:prstGeom prst="roundRect">
            <a:avLst>
              <a:gd name="adj" fmla="val 12000"/>
            </a:avLst>
          </a:prstGeom>
          <a:solidFill>
            <a:srgbClr val="DCEBF7"/>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2615" y="4846320"/>
            <a:ext cx="3291839" cy="685800"/>
          </a:xfrm>
          <a:prstGeom prst="rect">
            <a:avLst/>
          </a:prstGeom>
          <a:noFill/>
        </p:spPr>
        <p:txBody>
          <a:bodyPr wrap="square" lIns="45720" rIns="45720" anchor="b">
            <a:spAutoFit/>
          </a:bodyPr>
          <a:lstStyle/>
          <a:p>
            <a:pPr algn="ctr" rtl="0">
              <a:spcAft>
                <a:spcPts val="800"/>
              </a:spcAft>
              <a:buNone/>
            </a:pPr>
            <a:r>
              <a:rPr lang="he-IL" sz="2400" b="1">
                <a:solidFill>
                  <a:srgbClr val="2E75B6"/>
                </a:solidFill>
                <a:latin typeface="Arial"/>
                <a:cs typeface="Arial"/>
              </a:rPr>
              <a:t>STFT</a:t>
            </a:r>
          </a:p>
        </p:txBody>
      </p:sp>
      <p:sp>
        <p:nvSpPr>
          <p:cNvPr id="11" name="TextBox 10"/>
          <p:cNvSpPr txBox="1"/>
          <p:nvPr/>
        </p:nvSpPr>
        <p:spPr>
          <a:xfrm>
            <a:off x="8122615" y="5509260"/>
            <a:ext cx="3291839" cy="576072"/>
          </a:xfrm>
          <a:prstGeom prst="rect">
            <a:avLst/>
          </a:prstGeom>
          <a:noFill/>
        </p:spPr>
        <p:txBody>
          <a:bodyPr wrap="square" lIns="45720" rIns="45720" anchor="t">
            <a:spAutoFit/>
          </a:bodyPr>
          <a:lstStyle/>
          <a:p>
            <a:pPr algn="ctr" rtl="1">
              <a:spcAft>
                <a:spcPts val="0"/>
              </a:spcAft>
              <a:buNone/>
            </a:pPr>
            <a:r>
              <a:rPr lang="he-IL" sz="1500" b="0">
                <a:solidFill>
                  <a:srgbClr val="1B242B"/>
                </a:solidFill>
                <a:latin typeface="Arial"/>
                <a:cs typeface="Arial"/>
              </a:rPr>
              <a:t>‎Hann 512, hop 128 (32 [ms], 8 [ms])‎</a:t>
            </a:r>
          </a:p>
        </p:txBody>
      </p:sp>
      <p:sp>
        <p:nvSpPr>
          <p:cNvPr id="12" name="Rounded Rectangle 11"/>
          <p:cNvSpPr/>
          <p:nvPr/>
        </p:nvSpPr>
        <p:spPr>
          <a:xfrm>
            <a:off x="4282135" y="4754880"/>
            <a:ext cx="3474720" cy="1371600"/>
          </a:xfrm>
          <a:prstGeom prst="roundRect">
            <a:avLst>
              <a:gd name="adj" fmla="val 12000"/>
            </a:avLst>
          </a:prstGeom>
          <a:solidFill>
            <a:srgbClr val="DCEBF7"/>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73575" y="4846320"/>
            <a:ext cx="3291839" cy="685800"/>
          </a:xfrm>
          <a:prstGeom prst="rect">
            <a:avLst/>
          </a:prstGeom>
          <a:noFill/>
        </p:spPr>
        <p:txBody>
          <a:bodyPr wrap="square" lIns="45720" rIns="45720" anchor="b">
            <a:spAutoFit/>
          </a:bodyPr>
          <a:lstStyle/>
          <a:p>
            <a:pPr algn="ctr" rtl="0">
              <a:spcAft>
                <a:spcPts val="800"/>
              </a:spcAft>
              <a:buNone/>
            </a:pPr>
            <a:r>
              <a:rPr lang="he-IL" sz="2400" b="1">
                <a:solidFill>
                  <a:srgbClr val="2E75B6"/>
                </a:solidFill>
                <a:latin typeface="Arial"/>
                <a:cs typeface="Arial"/>
              </a:rPr>
              <a:t>|Y|^0.3</a:t>
            </a:r>
          </a:p>
        </p:txBody>
      </p:sp>
      <p:sp>
        <p:nvSpPr>
          <p:cNvPr id="14" name="TextBox 13"/>
          <p:cNvSpPr txBox="1"/>
          <p:nvPr/>
        </p:nvSpPr>
        <p:spPr>
          <a:xfrm>
            <a:off x="4373575" y="5509260"/>
            <a:ext cx="3291839" cy="576072"/>
          </a:xfrm>
          <a:prstGeom prst="rect">
            <a:avLst/>
          </a:prstGeom>
          <a:noFill/>
        </p:spPr>
        <p:txBody>
          <a:bodyPr wrap="square" lIns="45720" rIns="45720" anchor="t">
            <a:spAutoFit/>
          </a:bodyPr>
          <a:lstStyle/>
          <a:p>
            <a:pPr algn="ctr" rtl="1">
              <a:spcAft>
                <a:spcPts val="0"/>
              </a:spcAft>
              <a:buNone/>
            </a:pPr>
            <a:r>
              <a:rPr lang="he-IL" sz="1500" b="0">
                <a:solidFill>
                  <a:srgbClr val="1B242B"/>
                </a:solidFill>
                <a:latin typeface="Arial"/>
                <a:cs typeface="Arial"/>
              </a:rPr>
              <a:t>דחיסה, החלשים נראים</a:t>
            </a:r>
          </a:p>
        </p:txBody>
      </p:sp>
      <p:sp>
        <p:nvSpPr>
          <p:cNvPr id="15" name="Rounded Rectangle 14"/>
          <p:cNvSpPr/>
          <p:nvPr/>
        </p:nvSpPr>
        <p:spPr>
          <a:xfrm>
            <a:off x="533095" y="4754880"/>
            <a:ext cx="3474720" cy="1371600"/>
          </a:xfrm>
          <a:prstGeom prst="roundRect">
            <a:avLst>
              <a:gd name="adj" fmla="val 12000"/>
            </a:avLst>
          </a:prstGeom>
          <a:solidFill>
            <a:srgbClr val="DCEBF7"/>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4535" y="4846320"/>
            <a:ext cx="3291839" cy="685800"/>
          </a:xfrm>
          <a:prstGeom prst="rect">
            <a:avLst/>
          </a:prstGeom>
          <a:noFill/>
        </p:spPr>
        <p:txBody>
          <a:bodyPr wrap="square" lIns="45720" rIns="45720" anchor="b">
            <a:spAutoFit/>
          </a:bodyPr>
          <a:lstStyle/>
          <a:p>
            <a:pPr algn="ctr" rtl="0">
              <a:spcAft>
                <a:spcPts val="800"/>
              </a:spcAft>
              <a:buNone/>
            </a:pPr>
            <a:r>
              <a:rPr lang="he-IL" sz="2400" b="1">
                <a:solidFill>
                  <a:srgbClr val="2E75B6"/>
                </a:solidFill>
                <a:latin typeface="Arial"/>
                <a:cs typeface="Arial"/>
              </a:rPr>
              <a:t>(x - μ) / σ</a:t>
            </a:r>
          </a:p>
        </p:txBody>
      </p:sp>
      <p:sp>
        <p:nvSpPr>
          <p:cNvPr id="17" name="TextBox 16"/>
          <p:cNvSpPr txBox="1"/>
          <p:nvPr/>
        </p:nvSpPr>
        <p:spPr>
          <a:xfrm>
            <a:off x="624535" y="5509260"/>
            <a:ext cx="3291839" cy="576072"/>
          </a:xfrm>
          <a:prstGeom prst="rect">
            <a:avLst/>
          </a:prstGeom>
          <a:noFill/>
        </p:spPr>
        <p:txBody>
          <a:bodyPr wrap="square" lIns="45720" rIns="45720" anchor="t">
            <a:spAutoFit/>
          </a:bodyPr>
          <a:lstStyle/>
          <a:p>
            <a:pPr algn="ctr" rtl="1">
              <a:spcAft>
                <a:spcPts val="0"/>
              </a:spcAft>
              <a:buNone/>
            </a:pPr>
            <a:r>
              <a:rPr lang="he-IL" sz="1500" b="0">
                <a:solidFill>
                  <a:srgbClr val="1B242B"/>
                </a:solidFill>
                <a:latin typeface="Arial"/>
                <a:cs typeface="Arial"/>
              </a:rPr>
              <a:t>תקנון לכל הקלטה</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77295" cy="777240"/>
          </a:xfrm>
          <a:prstGeom prst="rect">
            <a:avLst/>
          </a:prstGeom>
          <a:noFill/>
        </p:spPr>
        <p:txBody>
          <a:bodyPr wrap="square" lIns="45720" rIns="45720" anchor="ctr">
            <a:spAutoFit/>
          </a:bodyPr>
          <a:lstStyle/>
          <a:p>
            <a:pPr algn="r" rtl="1">
              <a:spcAft>
                <a:spcPts val="800"/>
              </a:spcAft>
              <a:buNone/>
            </a:pPr>
            <a:r>
              <a:rPr lang="he-IL" sz="3200" b="1">
                <a:solidFill>
                  <a:srgbClr val="1F4E79"/>
                </a:solidFill>
                <a:latin typeface="Arial"/>
                <a:cs typeface="Arial"/>
              </a:rPr>
              <a:t>בלוק ה-Dual-Path, Attention לאורך התדר ולאורך הזמן</a:t>
            </a:r>
          </a:p>
        </p:txBody>
      </p:sp>
      <p:sp>
        <p:nvSpPr>
          <p:cNvPr id="4" name="Rectangle 3"/>
          <p:cNvSpPr/>
          <p:nvPr/>
        </p:nvSpPr>
        <p:spPr>
          <a:xfrm>
            <a:off x="10271455" y="1051560"/>
            <a:ext cx="1463040" cy="4572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774375" y="6400800"/>
            <a:ext cx="1051560" cy="310896"/>
          </a:xfrm>
          <a:prstGeom prst="roundRect">
            <a:avLst>
              <a:gd name="adj" fmla="val 5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74375" y="6400800"/>
            <a:ext cx="1051560" cy="310896"/>
          </a:xfrm>
          <a:prstGeom prst="rect">
            <a:avLst/>
          </a:prstGeom>
          <a:noFill/>
        </p:spPr>
        <p:txBody>
          <a:bodyPr wrap="square" lIns="45720" rIns="45720" anchor="ctr">
            <a:spAutoFit/>
          </a:bodyPr>
          <a:lstStyle/>
          <a:p>
            <a:pPr algn="ctr" rtl="1">
              <a:spcAft>
                <a:spcPts val="0"/>
              </a:spcAft>
              <a:buNone/>
            </a:pPr>
            <a:r>
              <a:rPr lang="he-IL" sz="1300" b="1">
                <a:solidFill>
                  <a:srgbClr val="FFFFFF"/>
                </a:solidFill>
                <a:latin typeface="Arial"/>
                <a:cs typeface="Arial"/>
              </a:rPr>
              <a:t>עמרי</a:t>
            </a:r>
          </a:p>
        </p:txBody>
      </p:sp>
      <p:sp>
        <p:nvSpPr>
          <p:cNvPr id="7" name="TextBox 6"/>
          <p:cNvSpPr txBox="1"/>
          <p:nvPr/>
        </p:nvSpPr>
        <p:spPr>
          <a:xfrm>
            <a:off x="365760" y="6400800"/>
            <a:ext cx="914400" cy="310896"/>
          </a:xfrm>
          <a:prstGeom prst="rect">
            <a:avLst/>
          </a:prstGeom>
          <a:noFill/>
        </p:spPr>
        <p:txBody>
          <a:bodyPr wrap="square" lIns="45720" rIns="45720" anchor="ctr">
            <a:spAutoFit/>
          </a:bodyPr>
          <a:lstStyle/>
          <a:p>
            <a:pPr algn="l" rtl="0">
              <a:spcAft>
                <a:spcPts val="0"/>
              </a:spcAft>
              <a:buNone/>
            </a:pPr>
            <a:r>
              <a:rPr lang="he-IL" sz="1300" b="0">
                <a:solidFill>
                  <a:srgbClr val="5A636A"/>
                </a:solidFill>
                <a:latin typeface="Arial"/>
                <a:cs typeface="Arial"/>
              </a:rPr>
              <a:t>6</a:t>
            </a:r>
          </a:p>
        </p:txBody>
      </p:sp>
      <p:pic>
        <p:nvPicPr>
          <p:cNvPr id="8" name="Picture 7" descr="arch_he_dual_path.png"/>
          <p:cNvPicPr>
            <a:picLocks noChangeAspect="1"/>
          </p:cNvPicPr>
          <p:nvPr/>
        </p:nvPicPr>
        <p:blipFill>
          <a:blip r:embed="rId3"/>
          <a:stretch>
            <a:fillRect/>
          </a:stretch>
        </p:blipFill>
        <p:spPr>
          <a:xfrm>
            <a:off x="1674626" y="1234440"/>
            <a:ext cx="8842442" cy="2743200"/>
          </a:xfrm>
          <a:prstGeom prst="rect">
            <a:avLst/>
          </a:prstGeom>
        </p:spPr>
      </p:pic>
      <p:pic>
        <p:nvPicPr>
          <p:cNvPr id="9" name="Picture 8" descr="pres_eq_attention.png"/>
          <p:cNvPicPr>
            <a:picLocks noChangeAspect="1"/>
          </p:cNvPicPr>
          <p:nvPr/>
        </p:nvPicPr>
        <p:blipFill>
          <a:blip r:embed="rId4"/>
          <a:stretch>
            <a:fillRect/>
          </a:stretch>
        </p:blipFill>
        <p:spPr>
          <a:xfrm>
            <a:off x="6583680" y="4399247"/>
            <a:ext cx="5120639" cy="619824"/>
          </a:xfrm>
          <a:prstGeom prst="rect">
            <a:avLst/>
          </a:prstGeom>
        </p:spPr>
      </p:pic>
      <p:sp>
        <p:nvSpPr>
          <p:cNvPr id="10" name="TextBox 9"/>
          <p:cNvSpPr txBox="1"/>
          <p:nvPr/>
        </p:nvSpPr>
        <p:spPr>
          <a:xfrm>
            <a:off x="6583680" y="5166360"/>
            <a:ext cx="5120640" cy="1005840"/>
          </a:xfrm>
          <a:prstGeom prst="rect">
            <a:avLst/>
          </a:prstGeom>
          <a:noFill/>
        </p:spPr>
        <p:txBody>
          <a:bodyPr wrap="square" lIns="45720" rIns="45720" anchor="t">
            <a:spAutoFit/>
          </a:bodyPr>
          <a:lstStyle/>
          <a:p>
            <a:pPr marL="292608" indent="-292608" algn="r" rtl="1">
              <a:spcAft>
                <a:spcPts val="400"/>
              </a:spcAft>
              <a:buFont typeface="Arial"/>
              <a:buChar char="•"/>
            </a:pPr>
            <a:r>
              <a:rPr lang="he-IL" sz="1700" b="0">
                <a:solidFill>
                  <a:srgbClr val="1B242B"/>
                </a:solidFill>
                <a:latin typeface="Arial"/>
                <a:cs typeface="Arial"/>
              </a:rPr>
              <a:t>4 ראשים, 12 ממדים לכל ראש</a:t>
            </a:r>
          </a:p>
          <a:p>
            <a:pPr marL="292608" indent="-292608" algn="r" rtl="1">
              <a:spcAft>
                <a:spcPts val="400"/>
              </a:spcAft>
              <a:buFont typeface="Arial"/>
              <a:buChar char="•"/>
            </a:pPr>
            <a:r>
              <a:rPr lang="he-IL" sz="1700" b="0">
                <a:solidFill>
                  <a:srgbClr val="1B242B"/>
                </a:solidFill>
                <a:latin typeface="Arial"/>
                <a:cs typeface="Arial"/>
              </a:rPr>
              <a:t>ה-BiGRU נותן את הסדר, בלי positional encoding</a:t>
            </a:r>
          </a:p>
        </p:txBody>
      </p:sp>
      <p:pic>
        <p:nvPicPr>
          <p:cNvPr id="11" name="Picture 10" descr="pres_cost.png"/>
          <p:cNvPicPr>
            <a:picLocks noChangeAspect="1"/>
          </p:cNvPicPr>
          <p:nvPr/>
        </p:nvPicPr>
        <p:blipFill>
          <a:blip r:embed="rId5"/>
          <a:stretch>
            <a:fillRect/>
          </a:stretch>
        </p:blipFill>
        <p:spPr>
          <a:xfrm>
            <a:off x="578080" y="4069080"/>
            <a:ext cx="5610399" cy="228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77295" cy="777240"/>
          </a:xfrm>
          <a:prstGeom prst="rect">
            <a:avLst/>
          </a:prstGeom>
          <a:noFill/>
        </p:spPr>
        <p:txBody>
          <a:bodyPr wrap="square" lIns="45720" rIns="45720" anchor="ctr">
            <a:spAutoFit/>
          </a:bodyPr>
          <a:lstStyle/>
          <a:p>
            <a:pPr algn="r" rtl="1">
              <a:spcAft>
                <a:spcPts val="800"/>
              </a:spcAft>
              <a:buNone/>
            </a:pPr>
            <a:r>
              <a:rPr lang="he-IL" sz="3200" b="1">
                <a:solidFill>
                  <a:srgbClr val="1F4E79"/>
                </a:solidFill>
                <a:latin typeface="Arial"/>
                <a:cs typeface="Arial"/>
              </a:rPr>
              <a:t>המסכה, הפאזה וכמות הפרמטרים</a:t>
            </a:r>
          </a:p>
        </p:txBody>
      </p:sp>
      <p:sp>
        <p:nvSpPr>
          <p:cNvPr id="4" name="Rectangle 3"/>
          <p:cNvSpPr/>
          <p:nvPr/>
        </p:nvSpPr>
        <p:spPr>
          <a:xfrm>
            <a:off x="10271455" y="1051560"/>
            <a:ext cx="1463040" cy="4572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774375" y="6400800"/>
            <a:ext cx="1051560" cy="310896"/>
          </a:xfrm>
          <a:prstGeom prst="roundRect">
            <a:avLst>
              <a:gd name="adj" fmla="val 5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74375" y="6400800"/>
            <a:ext cx="1051560" cy="310896"/>
          </a:xfrm>
          <a:prstGeom prst="rect">
            <a:avLst/>
          </a:prstGeom>
          <a:noFill/>
        </p:spPr>
        <p:txBody>
          <a:bodyPr wrap="square" lIns="45720" rIns="45720" anchor="ctr">
            <a:spAutoFit/>
          </a:bodyPr>
          <a:lstStyle/>
          <a:p>
            <a:pPr algn="ctr" rtl="1">
              <a:spcAft>
                <a:spcPts val="0"/>
              </a:spcAft>
              <a:buNone/>
            </a:pPr>
            <a:r>
              <a:rPr lang="he-IL" sz="1300" b="1">
                <a:solidFill>
                  <a:srgbClr val="FFFFFF"/>
                </a:solidFill>
                <a:latin typeface="Arial"/>
                <a:cs typeface="Arial"/>
              </a:rPr>
              <a:t>עמרי</a:t>
            </a:r>
          </a:p>
        </p:txBody>
      </p:sp>
      <p:sp>
        <p:nvSpPr>
          <p:cNvPr id="7" name="TextBox 6"/>
          <p:cNvSpPr txBox="1"/>
          <p:nvPr/>
        </p:nvSpPr>
        <p:spPr>
          <a:xfrm>
            <a:off x="365760" y="6400800"/>
            <a:ext cx="914400" cy="310896"/>
          </a:xfrm>
          <a:prstGeom prst="rect">
            <a:avLst/>
          </a:prstGeom>
          <a:noFill/>
        </p:spPr>
        <p:txBody>
          <a:bodyPr wrap="square" lIns="45720" rIns="45720" anchor="ctr">
            <a:spAutoFit/>
          </a:bodyPr>
          <a:lstStyle/>
          <a:p>
            <a:pPr algn="l" rtl="0">
              <a:spcAft>
                <a:spcPts val="0"/>
              </a:spcAft>
              <a:buNone/>
            </a:pPr>
            <a:r>
              <a:rPr lang="he-IL" sz="1300" b="0">
                <a:solidFill>
                  <a:srgbClr val="5A636A"/>
                </a:solidFill>
                <a:latin typeface="Arial"/>
                <a:cs typeface="Arial"/>
              </a:rPr>
              <a:t>7</a:t>
            </a:r>
          </a:p>
        </p:txBody>
      </p:sp>
      <p:sp>
        <p:nvSpPr>
          <p:cNvPr id="8" name="TextBox 7"/>
          <p:cNvSpPr txBox="1"/>
          <p:nvPr/>
        </p:nvSpPr>
        <p:spPr>
          <a:xfrm>
            <a:off x="6309360" y="1463040"/>
            <a:ext cx="5394960" cy="2743200"/>
          </a:xfrm>
          <a:prstGeom prst="rect">
            <a:avLst/>
          </a:prstGeom>
          <a:noFill/>
        </p:spPr>
        <p:txBody>
          <a:bodyPr wrap="square" lIns="45720" rIns="45720" anchor="t">
            <a:spAutoFit/>
          </a:bodyPr>
          <a:lstStyle/>
          <a:p>
            <a:pPr marL="292608" indent="-292608" algn="r" rtl="1">
              <a:spcAft>
                <a:spcPts val="1400"/>
              </a:spcAft>
              <a:buFont typeface="Arial"/>
              <a:buChar char="•"/>
            </a:pPr>
            <a:r>
              <a:rPr lang="he-IL" sz="2100" b="0">
                <a:solidFill>
                  <a:srgbClr val="1B242B"/>
                </a:solidFill>
                <a:latin typeface="Arial"/>
                <a:cs typeface="Arial"/>
              </a:rPr>
              <a:t>המסכה היא ReLU, לא שלילית, ואפשר גם להגביר</a:t>
            </a:r>
          </a:p>
          <a:p>
            <a:pPr marL="292608" indent="-292608" algn="r" rtl="1">
              <a:spcAft>
                <a:spcPts val="1400"/>
              </a:spcAft>
              <a:buFont typeface="Arial"/>
              <a:buChar char="•"/>
            </a:pPr>
            <a:r>
              <a:rPr lang="he-IL" sz="2100" b="0">
                <a:solidFill>
                  <a:srgbClr val="1B242B"/>
                </a:solidFill>
                <a:latin typeface="Arial"/>
                <a:cs typeface="Arial"/>
              </a:rPr>
              <a:t>היא פועלת על ה-magnitude הדחוס</a:t>
            </a:r>
          </a:p>
          <a:p>
            <a:pPr marL="292608" indent="-292608" algn="r" rtl="1">
              <a:spcAft>
                <a:spcPts val="1400"/>
              </a:spcAft>
              <a:buFont typeface="Arial"/>
              <a:buChar char="•"/>
            </a:pPr>
            <a:r>
              <a:rPr lang="he-IL" sz="2100" b="0">
                <a:solidFill>
                  <a:srgbClr val="1B242B"/>
                </a:solidFill>
                <a:latin typeface="Arial"/>
                <a:cs typeface="Arial"/>
              </a:rPr>
              <a:t>הפאזה הרועשת נשארת כמו שהיא</a:t>
            </a:r>
          </a:p>
          <a:p>
            <a:pPr marL="292608" indent="-292608" algn="r" rtl="1">
              <a:spcAft>
                <a:spcPts val="1400"/>
              </a:spcAft>
              <a:buFont typeface="Arial"/>
              <a:buChar char="•"/>
            </a:pPr>
            <a:r>
              <a:rPr lang="he-IL" sz="2100" b="0">
                <a:solidFill>
                  <a:srgbClr val="1B242B"/>
                </a:solidFill>
                <a:latin typeface="Arial"/>
                <a:cs typeface="Arial"/>
              </a:rPr>
              <a:t>התקרה, גם עם magnitude מושלם רק 3.95 PESQ</a:t>
            </a:r>
          </a:p>
        </p:txBody>
      </p:sp>
      <p:sp>
        <p:nvSpPr>
          <p:cNvPr id="9" name="Rounded Rectangle 8"/>
          <p:cNvSpPr/>
          <p:nvPr/>
        </p:nvSpPr>
        <p:spPr>
          <a:xfrm>
            <a:off x="9098280" y="4434840"/>
            <a:ext cx="2606040" cy="1463040"/>
          </a:xfrm>
          <a:prstGeom prst="roundRect">
            <a:avLst>
              <a:gd name="adj" fmla="val 12000"/>
            </a:avLst>
          </a:prstGeom>
          <a:solidFill>
            <a:srgbClr val="DCEBF7"/>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89719" y="4526279"/>
            <a:ext cx="2423160" cy="731520"/>
          </a:xfrm>
          <a:prstGeom prst="rect">
            <a:avLst/>
          </a:prstGeom>
          <a:noFill/>
        </p:spPr>
        <p:txBody>
          <a:bodyPr wrap="square" lIns="45720" rIns="45720" anchor="b">
            <a:spAutoFit/>
          </a:bodyPr>
          <a:lstStyle/>
          <a:p>
            <a:pPr algn="ctr" rtl="0">
              <a:spcAft>
                <a:spcPts val="800"/>
              </a:spcAft>
              <a:buNone/>
            </a:pPr>
            <a:r>
              <a:rPr lang="he-IL" sz="3000" b="1">
                <a:solidFill>
                  <a:srgbClr val="2E75B6"/>
                </a:solidFill>
                <a:latin typeface="Arial"/>
                <a:cs typeface="Arial"/>
              </a:rPr>
              <a:t>0.88M</a:t>
            </a:r>
          </a:p>
        </p:txBody>
      </p:sp>
      <p:sp>
        <p:nvSpPr>
          <p:cNvPr id="11" name="TextBox 10"/>
          <p:cNvSpPr txBox="1"/>
          <p:nvPr/>
        </p:nvSpPr>
        <p:spPr>
          <a:xfrm>
            <a:off x="9189719" y="5239512"/>
            <a:ext cx="2423160" cy="614476"/>
          </a:xfrm>
          <a:prstGeom prst="rect">
            <a:avLst/>
          </a:prstGeom>
          <a:noFill/>
        </p:spPr>
        <p:txBody>
          <a:bodyPr wrap="square" lIns="45720" rIns="45720" anchor="t">
            <a:spAutoFit/>
          </a:bodyPr>
          <a:lstStyle/>
          <a:p>
            <a:pPr algn="ctr" rtl="1">
              <a:spcAft>
                <a:spcPts val="0"/>
              </a:spcAft>
              <a:buNone/>
            </a:pPr>
            <a:r>
              <a:rPr lang="he-IL" sz="1500" b="0">
                <a:solidFill>
                  <a:srgbClr val="1B242B"/>
                </a:solidFill>
                <a:latin typeface="Arial"/>
                <a:cs typeface="Arial"/>
              </a:rPr>
              <a:t>הפרמטרים שלנו</a:t>
            </a:r>
          </a:p>
        </p:txBody>
      </p:sp>
      <p:sp>
        <p:nvSpPr>
          <p:cNvPr id="12" name="Rounded Rectangle 11"/>
          <p:cNvSpPr/>
          <p:nvPr/>
        </p:nvSpPr>
        <p:spPr>
          <a:xfrm>
            <a:off x="6355080" y="4434840"/>
            <a:ext cx="2606040" cy="1463040"/>
          </a:xfrm>
          <a:prstGeom prst="roundRect">
            <a:avLst>
              <a:gd name="adj" fmla="val 12000"/>
            </a:avLst>
          </a:prstGeom>
          <a:solidFill>
            <a:srgbClr val="EDE4F5"/>
          </a:solidFill>
          <a:ln w="19050">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4526279"/>
            <a:ext cx="2423160" cy="731520"/>
          </a:xfrm>
          <a:prstGeom prst="rect">
            <a:avLst/>
          </a:prstGeom>
          <a:noFill/>
        </p:spPr>
        <p:txBody>
          <a:bodyPr wrap="square" lIns="45720" rIns="45720" anchor="b">
            <a:spAutoFit/>
          </a:bodyPr>
          <a:lstStyle/>
          <a:p>
            <a:pPr algn="ctr" rtl="0">
              <a:spcAft>
                <a:spcPts val="800"/>
              </a:spcAft>
              <a:buNone/>
            </a:pPr>
            <a:r>
              <a:rPr lang="he-IL" sz="3000" b="1">
                <a:solidFill>
                  <a:srgbClr val="7030A0"/>
                </a:solidFill>
                <a:latin typeface="Arial"/>
                <a:cs typeface="Arial"/>
              </a:rPr>
              <a:t>0.92M</a:t>
            </a:r>
          </a:p>
        </p:txBody>
      </p:sp>
      <p:sp>
        <p:nvSpPr>
          <p:cNvPr id="14" name="TextBox 13"/>
          <p:cNvSpPr txBox="1"/>
          <p:nvPr/>
        </p:nvSpPr>
        <p:spPr>
          <a:xfrm>
            <a:off x="6446520" y="5239512"/>
            <a:ext cx="2423160" cy="614476"/>
          </a:xfrm>
          <a:prstGeom prst="rect">
            <a:avLst/>
          </a:prstGeom>
          <a:noFill/>
        </p:spPr>
        <p:txBody>
          <a:bodyPr wrap="square" lIns="45720" rIns="45720" anchor="t">
            <a:spAutoFit/>
          </a:bodyPr>
          <a:lstStyle/>
          <a:p>
            <a:pPr algn="ctr" rtl="1">
              <a:spcAft>
                <a:spcPts val="0"/>
              </a:spcAft>
              <a:buNone/>
            </a:pPr>
            <a:r>
              <a:rPr lang="he-IL" sz="1500" b="0">
                <a:solidFill>
                  <a:srgbClr val="1B242B"/>
                </a:solidFill>
                <a:latin typeface="Arial"/>
                <a:cs typeface="Arial"/>
              </a:rPr>
              <a:t>TSTNN</a:t>
            </a:r>
          </a:p>
        </p:txBody>
      </p:sp>
      <p:pic>
        <p:nvPicPr>
          <p:cNvPr id="15" name="Picture 14" descr="pres_params.png"/>
          <p:cNvPicPr>
            <a:picLocks noChangeAspect="1"/>
          </p:cNvPicPr>
          <p:nvPr/>
        </p:nvPicPr>
        <p:blipFill>
          <a:blip r:embed="rId3"/>
          <a:stretch>
            <a:fillRect/>
          </a:stretch>
        </p:blipFill>
        <p:spPr>
          <a:xfrm>
            <a:off x="457200" y="2129894"/>
            <a:ext cx="5669280" cy="3329731"/>
          </a:xfrm>
          <a:prstGeom prst="rect">
            <a:avLst/>
          </a:prstGeom>
        </p:spPr>
      </p:pic>
      <p:sp>
        <p:nvSpPr>
          <p:cNvPr id="16" name="Oval 15"/>
          <p:cNvSpPr/>
          <p:nvPr/>
        </p:nvSpPr>
        <p:spPr>
          <a:xfrm>
            <a:off x="1490472" y="3273552"/>
            <a:ext cx="1243584" cy="113385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rtl="0">
              <a:spcAft>
                <a:spcPts val="0"/>
              </a:spcAft>
              <a:buNone/>
            </a:pPr>
            <a:r>
              <a:rPr lang="he-IL" sz="2000" b="1" dirty="0">
                <a:solidFill>
                  <a:srgbClr val="1B242B"/>
                </a:solidFill>
                <a:latin typeface="Arial"/>
                <a:cs typeface="Arial"/>
              </a:rPr>
              <a:t>0.88M</a:t>
            </a:r>
          </a:p>
          <a:p>
            <a:pPr algn="ctr" rtl="1">
              <a:spcAft>
                <a:spcPts val="0"/>
              </a:spcAft>
              <a:buNone/>
            </a:pPr>
            <a:r>
              <a:rPr lang="he-IL" sz="1200" b="0" dirty="0">
                <a:solidFill>
                  <a:srgbClr val="5A636A"/>
                </a:solidFill>
                <a:latin typeface="Arial"/>
                <a:cs typeface="Arial"/>
              </a:rPr>
              <a:t>פרמטרים</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77295" cy="777240"/>
          </a:xfrm>
          <a:prstGeom prst="rect">
            <a:avLst/>
          </a:prstGeom>
          <a:noFill/>
        </p:spPr>
        <p:txBody>
          <a:bodyPr wrap="square" lIns="45720" rIns="45720" anchor="ctr">
            <a:spAutoFit/>
          </a:bodyPr>
          <a:lstStyle/>
          <a:p>
            <a:pPr algn="r" rtl="1">
              <a:spcAft>
                <a:spcPts val="800"/>
              </a:spcAft>
              <a:buNone/>
            </a:pPr>
            <a:r>
              <a:rPr lang="he-IL" sz="3200" b="1">
                <a:solidFill>
                  <a:srgbClr val="1F4E79"/>
                </a:solidFill>
                <a:latin typeface="Arial"/>
                <a:cs typeface="Arial"/>
              </a:rPr>
              <a:t>הנתונים והמדדים</a:t>
            </a:r>
          </a:p>
        </p:txBody>
      </p:sp>
      <p:sp>
        <p:nvSpPr>
          <p:cNvPr id="4" name="Rectangle 3"/>
          <p:cNvSpPr/>
          <p:nvPr/>
        </p:nvSpPr>
        <p:spPr>
          <a:xfrm>
            <a:off x="10271455" y="1051560"/>
            <a:ext cx="1463040" cy="4572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774375" y="6400800"/>
            <a:ext cx="1051560" cy="310896"/>
          </a:xfrm>
          <a:prstGeom prst="roundRect">
            <a:avLst>
              <a:gd name="adj" fmla="val 5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74375" y="6400800"/>
            <a:ext cx="1051560" cy="310896"/>
          </a:xfrm>
          <a:prstGeom prst="rect">
            <a:avLst/>
          </a:prstGeom>
          <a:noFill/>
        </p:spPr>
        <p:txBody>
          <a:bodyPr wrap="square" lIns="45720" rIns="45720" anchor="ctr">
            <a:spAutoFit/>
          </a:bodyPr>
          <a:lstStyle/>
          <a:p>
            <a:pPr algn="ctr" rtl="1">
              <a:spcAft>
                <a:spcPts val="0"/>
              </a:spcAft>
              <a:buNone/>
            </a:pPr>
            <a:r>
              <a:rPr lang="he-IL" sz="1300" b="1">
                <a:solidFill>
                  <a:srgbClr val="FFFFFF"/>
                </a:solidFill>
                <a:latin typeface="Arial"/>
                <a:cs typeface="Arial"/>
              </a:rPr>
              <a:t>עמרי</a:t>
            </a:r>
          </a:p>
        </p:txBody>
      </p:sp>
      <p:sp>
        <p:nvSpPr>
          <p:cNvPr id="7" name="TextBox 6"/>
          <p:cNvSpPr txBox="1"/>
          <p:nvPr/>
        </p:nvSpPr>
        <p:spPr>
          <a:xfrm>
            <a:off x="365760" y="6400800"/>
            <a:ext cx="914400" cy="310896"/>
          </a:xfrm>
          <a:prstGeom prst="rect">
            <a:avLst/>
          </a:prstGeom>
          <a:noFill/>
        </p:spPr>
        <p:txBody>
          <a:bodyPr wrap="square" lIns="45720" rIns="45720" anchor="ctr">
            <a:spAutoFit/>
          </a:bodyPr>
          <a:lstStyle/>
          <a:p>
            <a:pPr algn="l" rtl="0">
              <a:spcAft>
                <a:spcPts val="0"/>
              </a:spcAft>
              <a:buNone/>
            </a:pPr>
            <a:r>
              <a:rPr lang="he-IL" sz="1300" b="0">
                <a:solidFill>
                  <a:srgbClr val="5A636A"/>
                </a:solidFill>
                <a:latin typeface="Arial"/>
                <a:cs typeface="Arial"/>
              </a:rPr>
              <a:t>3</a:t>
            </a:r>
          </a:p>
        </p:txBody>
      </p:sp>
      <p:sp>
        <p:nvSpPr>
          <p:cNvPr id="8" name="Rounded Rectangle 7"/>
          <p:cNvSpPr/>
          <p:nvPr/>
        </p:nvSpPr>
        <p:spPr>
          <a:xfrm>
            <a:off x="8031175" y="1417320"/>
            <a:ext cx="3474720" cy="1600200"/>
          </a:xfrm>
          <a:prstGeom prst="roundRect">
            <a:avLst>
              <a:gd name="adj" fmla="val 12000"/>
            </a:avLst>
          </a:prstGeom>
          <a:solidFill>
            <a:srgbClr val="DCEBF7"/>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2615" y="1508760"/>
            <a:ext cx="3291839" cy="800100"/>
          </a:xfrm>
          <a:prstGeom prst="rect">
            <a:avLst/>
          </a:prstGeom>
          <a:noFill/>
        </p:spPr>
        <p:txBody>
          <a:bodyPr wrap="square" lIns="45720" rIns="45720" anchor="b">
            <a:spAutoFit/>
          </a:bodyPr>
          <a:lstStyle/>
          <a:p>
            <a:pPr algn="ctr" rtl="1">
              <a:spcAft>
                <a:spcPts val="800"/>
              </a:spcAft>
              <a:buNone/>
            </a:pPr>
            <a:r>
              <a:rPr lang="he-IL" sz="4000" b="1">
                <a:solidFill>
                  <a:srgbClr val="2E75B6"/>
                </a:solidFill>
                <a:latin typeface="Arial"/>
                <a:cs typeface="Arial"/>
              </a:rPr>
              <a:t>10,225</a:t>
            </a:r>
          </a:p>
        </p:txBody>
      </p:sp>
      <p:sp>
        <p:nvSpPr>
          <p:cNvPr id="10" name="TextBox 9"/>
          <p:cNvSpPr txBox="1"/>
          <p:nvPr/>
        </p:nvSpPr>
        <p:spPr>
          <a:xfrm>
            <a:off x="8122615" y="2297430"/>
            <a:ext cx="3291839" cy="672084"/>
          </a:xfrm>
          <a:prstGeom prst="rect">
            <a:avLst/>
          </a:prstGeom>
          <a:noFill/>
        </p:spPr>
        <p:txBody>
          <a:bodyPr wrap="square" lIns="45720" rIns="45720" anchor="t">
            <a:spAutoFit/>
          </a:bodyPr>
          <a:lstStyle/>
          <a:p>
            <a:pPr algn="ctr" rtl="1">
              <a:spcAft>
                <a:spcPts val="0"/>
              </a:spcAft>
              <a:buNone/>
            </a:pPr>
            <a:r>
              <a:rPr lang="he-IL" sz="1500" b="0">
                <a:solidFill>
                  <a:srgbClr val="1B242B"/>
                </a:solidFill>
                <a:latin typeface="Arial"/>
                <a:cs typeface="Arial"/>
              </a:rPr>
              <a:t>משפטי אימון, 25 דוברים, 10 רעשים</a:t>
            </a:r>
          </a:p>
          <a:p>
            <a:pPr algn="ctr" rtl="1">
              <a:spcAft>
                <a:spcPts val="0"/>
              </a:spcAft>
              <a:buNone/>
            </a:pPr>
            <a:r>
              <a:rPr lang="he-IL" sz="1500" b="1">
                <a:solidFill>
                  <a:srgbClr val="2E75B6"/>
                </a:solidFill>
                <a:latin typeface="Arial"/>
                <a:cs typeface="Arial"/>
              </a:rPr>
              <a:t>Epoch</a:t>
            </a:r>
          </a:p>
        </p:txBody>
      </p:sp>
      <p:sp>
        <p:nvSpPr>
          <p:cNvPr id="11" name="Rounded Rectangle 10"/>
          <p:cNvSpPr/>
          <p:nvPr/>
        </p:nvSpPr>
        <p:spPr>
          <a:xfrm>
            <a:off x="4282135" y="1417320"/>
            <a:ext cx="3474720" cy="1600200"/>
          </a:xfrm>
          <a:prstGeom prst="roundRect">
            <a:avLst>
              <a:gd name="adj" fmla="val 12000"/>
            </a:avLst>
          </a:prstGeom>
          <a:solidFill>
            <a:srgbClr val="FFF2CC"/>
          </a:solidFill>
          <a:ln w="1905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73575" y="1508760"/>
            <a:ext cx="3291839" cy="800100"/>
          </a:xfrm>
          <a:prstGeom prst="rect">
            <a:avLst/>
          </a:prstGeom>
          <a:noFill/>
        </p:spPr>
        <p:txBody>
          <a:bodyPr wrap="square" lIns="45720" rIns="45720" anchor="b">
            <a:spAutoFit/>
          </a:bodyPr>
          <a:lstStyle/>
          <a:p>
            <a:pPr algn="ctr" rtl="1">
              <a:spcAft>
                <a:spcPts val="800"/>
              </a:spcAft>
              <a:buNone/>
            </a:pPr>
            <a:r>
              <a:rPr lang="he-IL" sz="4000" b="1">
                <a:solidFill>
                  <a:srgbClr val="BF9000"/>
                </a:solidFill>
                <a:latin typeface="Arial"/>
                <a:cs typeface="Arial"/>
              </a:rPr>
              <a:t>1,347</a:t>
            </a:r>
          </a:p>
        </p:txBody>
      </p:sp>
      <p:sp>
        <p:nvSpPr>
          <p:cNvPr id="13" name="TextBox 12"/>
          <p:cNvSpPr txBox="1"/>
          <p:nvPr/>
        </p:nvSpPr>
        <p:spPr>
          <a:xfrm>
            <a:off x="4373575" y="2297430"/>
            <a:ext cx="3291839" cy="672084"/>
          </a:xfrm>
          <a:prstGeom prst="rect">
            <a:avLst/>
          </a:prstGeom>
          <a:noFill/>
        </p:spPr>
        <p:txBody>
          <a:bodyPr wrap="square" lIns="45720" rIns="45720" anchor="t">
            <a:spAutoFit/>
          </a:bodyPr>
          <a:lstStyle/>
          <a:p>
            <a:pPr algn="ctr" rtl="1">
              <a:spcAft>
                <a:spcPts val="0"/>
              </a:spcAft>
              <a:buNone/>
            </a:pPr>
            <a:r>
              <a:rPr lang="he-IL" sz="1500" b="0">
                <a:solidFill>
                  <a:srgbClr val="1B242B"/>
                </a:solidFill>
                <a:latin typeface="Arial"/>
                <a:cs typeface="Arial"/>
              </a:rPr>
              <a:t>משפטים של 3 דוברים אחרים</a:t>
            </a:r>
          </a:p>
          <a:p>
            <a:pPr algn="ctr" rtl="1">
              <a:spcAft>
                <a:spcPts val="0"/>
              </a:spcAft>
              <a:buNone/>
            </a:pPr>
            <a:r>
              <a:rPr lang="he-IL" sz="1500" b="1">
                <a:solidFill>
                  <a:srgbClr val="BF9000"/>
                </a:solidFill>
                <a:latin typeface="Arial"/>
                <a:cs typeface="Arial"/>
              </a:rPr>
              <a:t>Validation</a:t>
            </a:r>
          </a:p>
        </p:txBody>
      </p:sp>
      <p:sp>
        <p:nvSpPr>
          <p:cNvPr id="14" name="Rounded Rectangle 13"/>
          <p:cNvSpPr/>
          <p:nvPr/>
        </p:nvSpPr>
        <p:spPr>
          <a:xfrm>
            <a:off x="533095" y="1417320"/>
            <a:ext cx="3474720" cy="1600200"/>
          </a:xfrm>
          <a:prstGeom prst="roundRect">
            <a:avLst>
              <a:gd name="adj" fmla="val 12000"/>
            </a:avLst>
          </a:prstGeom>
          <a:solidFill>
            <a:srgbClr val="E2F0D9"/>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4535" y="1508760"/>
            <a:ext cx="3291839" cy="800100"/>
          </a:xfrm>
          <a:prstGeom prst="rect">
            <a:avLst/>
          </a:prstGeom>
          <a:noFill/>
        </p:spPr>
        <p:txBody>
          <a:bodyPr wrap="square" lIns="45720" rIns="45720" anchor="b">
            <a:spAutoFit/>
          </a:bodyPr>
          <a:lstStyle/>
          <a:p>
            <a:pPr algn="ctr" rtl="1">
              <a:spcAft>
                <a:spcPts val="800"/>
              </a:spcAft>
              <a:buNone/>
            </a:pPr>
            <a:r>
              <a:rPr lang="he-IL" sz="4000" b="1">
                <a:solidFill>
                  <a:srgbClr val="548235"/>
                </a:solidFill>
                <a:latin typeface="Arial"/>
                <a:cs typeface="Arial"/>
              </a:rPr>
              <a:t>824</a:t>
            </a:r>
          </a:p>
        </p:txBody>
      </p:sp>
      <p:sp>
        <p:nvSpPr>
          <p:cNvPr id="16" name="TextBox 15"/>
          <p:cNvSpPr txBox="1"/>
          <p:nvPr/>
        </p:nvSpPr>
        <p:spPr>
          <a:xfrm>
            <a:off x="624535" y="2297430"/>
            <a:ext cx="3291839" cy="672084"/>
          </a:xfrm>
          <a:prstGeom prst="rect">
            <a:avLst/>
          </a:prstGeom>
          <a:noFill/>
        </p:spPr>
        <p:txBody>
          <a:bodyPr wrap="square" lIns="45720" rIns="45720" anchor="t">
            <a:spAutoFit/>
          </a:bodyPr>
          <a:lstStyle/>
          <a:p>
            <a:pPr algn="ctr" rtl="1">
              <a:spcAft>
                <a:spcPts val="0"/>
              </a:spcAft>
              <a:buNone/>
            </a:pPr>
            <a:r>
              <a:rPr lang="he-IL" sz="1500" b="0">
                <a:solidFill>
                  <a:srgbClr val="1B242B"/>
                </a:solidFill>
                <a:latin typeface="Arial"/>
                <a:cs typeface="Arial"/>
              </a:rPr>
              <a:t>משפטים, דוברים ורעשים חדשים</a:t>
            </a:r>
          </a:p>
          <a:p>
            <a:pPr algn="ctr" rtl="1">
              <a:spcAft>
                <a:spcPts val="0"/>
              </a:spcAft>
              <a:buNone/>
            </a:pPr>
            <a:r>
              <a:rPr lang="he-IL" sz="1500" b="1">
                <a:solidFill>
                  <a:srgbClr val="548235"/>
                </a:solidFill>
                <a:latin typeface="Arial"/>
                <a:cs typeface="Arial"/>
              </a:rPr>
              <a:t>Test</a:t>
            </a:r>
          </a:p>
        </p:txBody>
      </p:sp>
      <p:sp>
        <p:nvSpPr>
          <p:cNvPr id="17" name="TextBox 16"/>
          <p:cNvSpPr txBox="1"/>
          <p:nvPr/>
        </p:nvSpPr>
        <p:spPr>
          <a:xfrm>
            <a:off x="548640" y="3291840"/>
            <a:ext cx="11094415" cy="457200"/>
          </a:xfrm>
          <a:prstGeom prst="rect">
            <a:avLst/>
          </a:prstGeom>
          <a:noFill/>
        </p:spPr>
        <p:txBody>
          <a:bodyPr wrap="square" lIns="45720" rIns="45720" anchor="t">
            <a:spAutoFit/>
          </a:bodyPr>
          <a:lstStyle/>
          <a:p>
            <a:pPr algn="ctr" rtl="1">
              <a:spcAft>
                <a:spcPts val="800"/>
              </a:spcAft>
              <a:buNone/>
            </a:pPr>
            <a:r>
              <a:rPr lang="he-IL" sz="1700" b="0">
                <a:solidFill>
                  <a:srgbClr val="5A636A"/>
                </a:solidFill>
                <a:latin typeface="Arial"/>
                <a:cs typeface="Arial"/>
              </a:rPr>
              <a:t>SNR של 0 עד ‎15 [dB]‏ באימון, 2.5 עד ‎17.5 [dB]‏ בבדיקה, דגימה ב-‎16 [kHz]‏</a:t>
            </a:r>
          </a:p>
        </p:txBody>
      </p:sp>
      <p:sp>
        <p:nvSpPr>
          <p:cNvPr id="18" name="Rounded Rectangle 17"/>
          <p:cNvSpPr/>
          <p:nvPr/>
        </p:nvSpPr>
        <p:spPr>
          <a:xfrm>
            <a:off x="8031175" y="3977639"/>
            <a:ext cx="3474720" cy="1600200"/>
          </a:xfrm>
          <a:prstGeom prst="roundRect">
            <a:avLst>
              <a:gd name="adj" fmla="val 12000"/>
            </a:avLst>
          </a:prstGeom>
          <a:solidFill>
            <a:srgbClr val="EDE4F5"/>
          </a:solidFill>
          <a:ln w="19050">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22615" y="4069079"/>
            <a:ext cx="3291839" cy="800100"/>
          </a:xfrm>
          <a:prstGeom prst="rect">
            <a:avLst/>
          </a:prstGeom>
          <a:noFill/>
        </p:spPr>
        <p:txBody>
          <a:bodyPr wrap="square" lIns="45720" rIns="45720" anchor="b">
            <a:spAutoFit/>
          </a:bodyPr>
          <a:lstStyle/>
          <a:p>
            <a:pPr algn="ctr" rtl="1">
              <a:spcAft>
                <a:spcPts val="800"/>
              </a:spcAft>
              <a:buNone/>
            </a:pPr>
            <a:r>
              <a:rPr lang="he-IL" sz="2800" b="1">
                <a:solidFill>
                  <a:srgbClr val="7030A0"/>
                </a:solidFill>
                <a:latin typeface="Arial"/>
                <a:cs typeface="Arial"/>
              </a:rPr>
              <a:t>PESQ</a:t>
            </a:r>
          </a:p>
        </p:txBody>
      </p:sp>
      <p:sp>
        <p:nvSpPr>
          <p:cNvPr id="20" name="TextBox 19"/>
          <p:cNvSpPr txBox="1"/>
          <p:nvPr/>
        </p:nvSpPr>
        <p:spPr>
          <a:xfrm>
            <a:off x="8122615" y="4857750"/>
            <a:ext cx="3291839" cy="672084"/>
          </a:xfrm>
          <a:prstGeom prst="rect">
            <a:avLst/>
          </a:prstGeom>
          <a:noFill/>
        </p:spPr>
        <p:txBody>
          <a:bodyPr wrap="square" lIns="45720" rIns="45720" anchor="t">
            <a:spAutoFit/>
          </a:bodyPr>
          <a:lstStyle/>
          <a:p>
            <a:pPr algn="ctr" rtl="1">
              <a:spcAft>
                <a:spcPts val="0"/>
              </a:spcAft>
              <a:buNone/>
            </a:pPr>
            <a:r>
              <a:rPr lang="he-IL" sz="1500" b="0">
                <a:solidFill>
                  <a:srgbClr val="1B242B"/>
                </a:solidFill>
                <a:latin typeface="Arial"/>
                <a:cs typeface="Arial"/>
              </a:rPr>
              <a:t>איכות כפי שהאוזן שומעת, 1 עד 4.5</a:t>
            </a:r>
          </a:p>
        </p:txBody>
      </p:sp>
      <p:sp>
        <p:nvSpPr>
          <p:cNvPr id="21" name="Rounded Rectangle 20"/>
          <p:cNvSpPr/>
          <p:nvPr/>
        </p:nvSpPr>
        <p:spPr>
          <a:xfrm>
            <a:off x="4282135" y="3977639"/>
            <a:ext cx="3474720" cy="1600200"/>
          </a:xfrm>
          <a:prstGeom prst="roundRect">
            <a:avLst>
              <a:gd name="adj" fmla="val 12000"/>
            </a:avLst>
          </a:prstGeom>
          <a:solidFill>
            <a:srgbClr val="FBE5D6"/>
          </a:solidFill>
          <a:ln w="1905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73575" y="4069079"/>
            <a:ext cx="3291839" cy="800100"/>
          </a:xfrm>
          <a:prstGeom prst="rect">
            <a:avLst/>
          </a:prstGeom>
          <a:noFill/>
        </p:spPr>
        <p:txBody>
          <a:bodyPr wrap="square" lIns="45720" rIns="45720" anchor="b">
            <a:spAutoFit/>
          </a:bodyPr>
          <a:lstStyle/>
          <a:p>
            <a:pPr algn="ctr" rtl="1">
              <a:spcAft>
                <a:spcPts val="800"/>
              </a:spcAft>
              <a:buNone/>
            </a:pPr>
            <a:r>
              <a:rPr lang="he-IL" sz="2800" b="1">
                <a:solidFill>
                  <a:srgbClr val="C55A11"/>
                </a:solidFill>
                <a:latin typeface="Arial"/>
                <a:cs typeface="Arial"/>
              </a:rPr>
              <a:t>STOI, ESTOI</a:t>
            </a:r>
          </a:p>
        </p:txBody>
      </p:sp>
      <p:sp>
        <p:nvSpPr>
          <p:cNvPr id="23" name="TextBox 22"/>
          <p:cNvSpPr txBox="1"/>
          <p:nvPr/>
        </p:nvSpPr>
        <p:spPr>
          <a:xfrm>
            <a:off x="4373575" y="4857750"/>
            <a:ext cx="3291839" cy="672084"/>
          </a:xfrm>
          <a:prstGeom prst="rect">
            <a:avLst/>
          </a:prstGeom>
          <a:noFill/>
        </p:spPr>
        <p:txBody>
          <a:bodyPr wrap="square" lIns="45720" rIns="45720" anchor="t">
            <a:spAutoFit/>
          </a:bodyPr>
          <a:lstStyle/>
          <a:p>
            <a:pPr algn="ctr" rtl="1">
              <a:spcAft>
                <a:spcPts val="0"/>
              </a:spcAft>
              <a:buNone/>
            </a:pPr>
            <a:r>
              <a:rPr lang="he-IL" sz="1500" b="0">
                <a:solidFill>
                  <a:srgbClr val="1B242B"/>
                </a:solidFill>
                <a:latin typeface="Arial"/>
                <a:cs typeface="Arial"/>
              </a:rPr>
              <a:t>מובנות, 0 עד 1</a:t>
            </a:r>
          </a:p>
        </p:txBody>
      </p:sp>
      <p:sp>
        <p:nvSpPr>
          <p:cNvPr id="24" name="Rounded Rectangle 23"/>
          <p:cNvSpPr/>
          <p:nvPr/>
        </p:nvSpPr>
        <p:spPr>
          <a:xfrm>
            <a:off x="533095" y="3977639"/>
            <a:ext cx="3474720" cy="1600200"/>
          </a:xfrm>
          <a:prstGeom prst="roundRect">
            <a:avLst>
              <a:gd name="adj" fmla="val 12000"/>
            </a:avLst>
          </a:prstGeom>
          <a:solidFill>
            <a:srgbClr val="DCEBF7"/>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4535" y="4069079"/>
            <a:ext cx="3291839" cy="800100"/>
          </a:xfrm>
          <a:prstGeom prst="rect">
            <a:avLst/>
          </a:prstGeom>
          <a:noFill/>
        </p:spPr>
        <p:txBody>
          <a:bodyPr wrap="square" lIns="45720" rIns="45720" anchor="b">
            <a:spAutoFit/>
          </a:bodyPr>
          <a:lstStyle/>
          <a:p>
            <a:pPr algn="ctr" rtl="1">
              <a:spcAft>
                <a:spcPts val="800"/>
              </a:spcAft>
              <a:buNone/>
            </a:pPr>
            <a:r>
              <a:rPr lang="he-IL" sz="2800" b="1">
                <a:solidFill>
                  <a:srgbClr val="2E75B6"/>
                </a:solidFill>
                <a:latin typeface="Arial"/>
                <a:cs typeface="Arial"/>
              </a:rPr>
              <a:t>SI-SDR, SSNR</a:t>
            </a:r>
          </a:p>
        </p:txBody>
      </p:sp>
      <p:sp>
        <p:nvSpPr>
          <p:cNvPr id="26" name="TextBox 25"/>
          <p:cNvSpPr txBox="1"/>
          <p:nvPr/>
        </p:nvSpPr>
        <p:spPr>
          <a:xfrm>
            <a:off x="624535" y="4857750"/>
            <a:ext cx="3291839" cy="672084"/>
          </a:xfrm>
          <a:prstGeom prst="rect">
            <a:avLst/>
          </a:prstGeom>
          <a:noFill/>
        </p:spPr>
        <p:txBody>
          <a:bodyPr wrap="square" lIns="45720" rIns="45720" anchor="t">
            <a:spAutoFit/>
          </a:bodyPr>
          <a:lstStyle/>
          <a:p>
            <a:pPr algn="ctr" rtl="1">
              <a:spcAft>
                <a:spcPts val="0"/>
              </a:spcAft>
              <a:buNone/>
            </a:pPr>
            <a:r>
              <a:rPr lang="he-IL" sz="1500" b="0">
                <a:solidFill>
                  <a:srgbClr val="1B242B"/>
                </a:solidFill>
                <a:latin typeface="Arial"/>
                <a:cs typeface="Arial"/>
              </a:rPr>
              <a:t>עיוות האות, ב-dB</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77295" cy="777240"/>
          </a:xfrm>
          <a:prstGeom prst="rect">
            <a:avLst/>
          </a:prstGeom>
          <a:noFill/>
        </p:spPr>
        <p:txBody>
          <a:bodyPr wrap="square" lIns="45720" rIns="45720" anchor="ctr">
            <a:spAutoFit/>
          </a:bodyPr>
          <a:lstStyle/>
          <a:p>
            <a:pPr algn="r" rtl="1">
              <a:spcAft>
                <a:spcPts val="800"/>
              </a:spcAft>
              <a:buNone/>
            </a:pPr>
            <a:r>
              <a:rPr lang="he-IL" sz="3200" b="1">
                <a:solidFill>
                  <a:srgbClr val="1F4E79"/>
                </a:solidFill>
                <a:latin typeface="Arial"/>
                <a:cs typeface="Arial"/>
              </a:rPr>
              <a:t>אימון ה-baseline</a:t>
            </a:r>
          </a:p>
        </p:txBody>
      </p:sp>
      <p:sp>
        <p:nvSpPr>
          <p:cNvPr id="4" name="Rectangle 3"/>
          <p:cNvSpPr/>
          <p:nvPr/>
        </p:nvSpPr>
        <p:spPr>
          <a:xfrm>
            <a:off x="10271455" y="1051560"/>
            <a:ext cx="1463040" cy="4572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774375" y="6400800"/>
            <a:ext cx="1051560" cy="310896"/>
          </a:xfrm>
          <a:prstGeom prst="roundRect">
            <a:avLst>
              <a:gd name="adj" fmla="val 5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74375" y="6400800"/>
            <a:ext cx="1051560" cy="310896"/>
          </a:xfrm>
          <a:prstGeom prst="rect">
            <a:avLst/>
          </a:prstGeom>
          <a:noFill/>
        </p:spPr>
        <p:txBody>
          <a:bodyPr wrap="square" lIns="45720" rIns="45720" anchor="ctr">
            <a:spAutoFit/>
          </a:bodyPr>
          <a:lstStyle/>
          <a:p>
            <a:pPr algn="ctr" rtl="1">
              <a:spcAft>
                <a:spcPts val="0"/>
              </a:spcAft>
              <a:buNone/>
            </a:pPr>
            <a:r>
              <a:rPr lang="he-IL" sz="1300" b="1">
                <a:solidFill>
                  <a:srgbClr val="FFFFFF"/>
                </a:solidFill>
                <a:latin typeface="Arial"/>
                <a:cs typeface="Arial"/>
              </a:rPr>
              <a:t>עמרי</a:t>
            </a:r>
          </a:p>
        </p:txBody>
      </p:sp>
      <p:sp>
        <p:nvSpPr>
          <p:cNvPr id="7" name="TextBox 6"/>
          <p:cNvSpPr txBox="1"/>
          <p:nvPr/>
        </p:nvSpPr>
        <p:spPr>
          <a:xfrm>
            <a:off x="365760" y="6400800"/>
            <a:ext cx="914400" cy="310896"/>
          </a:xfrm>
          <a:prstGeom prst="rect">
            <a:avLst/>
          </a:prstGeom>
          <a:noFill/>
        </p:spPr>
        <p:txBody>
          <a:bodyPr wrap="square" lIns="45720" rIns="45720" anchor="ctr">
            <a:spAutoFit/>
          </a:bodyPr>
          <a:lstStyle/>
          <a:p>
            <a:pPr algn="l" rtl="0">
              <a:spcAft>
                <a:spcPts val="0"/>
              </a:spcAft>
              <a:buNone/>
            </a:pPr>
            <a:r>
              <a:rPr lang="he-IL" sz="1300" b="0">
                <a:solidFill>
                  <a:srgbClr val="5A636A"/>
                </a:solidFill>
                <a:latin typeface="Arial"/>
                <a:cs typeface="Arial"/>
              </a:rPr>
              <a:t>8</a:t>
            </a:r>
          </a:p>
        </p:txBody>
      </p:sp>
      <p:pic>
        <p:nvPicPr>
          <p:cNvPr id="8" name="Picture 7" descr="pres_eq_loss.png"/>
          <p:cNvPicPr>
            <a:picLocks noChangeAspect="1"/>
          </p:cNvPicPr>
          <p:nvPr/>
        </p:nvPicPr>
        <p:blipFill>
          <a:blip r:embed="rId3"/>
          <a:stretch>
            <a:fillRect/>
          </a:stretch>
        </p:blipFill>
        <p:spPr>
          <a:xfrm>
            <a:off x="2037507" y="1325880"/>
            <a:ext cx="8116680" cy="777240"/>
          </a:xfrm>
          <a:prstGeom prst="rect">
            <a:avLst/>
          </a:prstGeom>
        </p:spPr>
      </p:pic>
      <p:pic>
        <p:nvPicPr>
          <p:cNvPr id="9" name="Picture 8" descr="pres_training.png"/>
          <p:cNvPicPr>
            <a:picLocks noChangeAspect="1"/>
          </p:cNvPicPr>
          <p:nvPr/>
        </p:nvPicPr>
        <p:blipFill>
          <a:blip r:embed="rId4"/>
          <a:stretch>
            <a:fillRect/>
          </a:stretch>
        </p:blipFill>
        <p:spPr>
          <a:xfrm>
            <a:off x="365760" y="2357895"/>
            <a:ext cx="5943600" cy="3879568"/>
          </a:xfrm>
          <a:prstGeom prst="rect">
            <a:avLst/>
          </a:prstGeom>
        </p:spPr>
      </p:pic>
      <p:sp>
        <p:nvSpPr>
          <p:cNvPr id="10" name="TextBox 9"/>
          <p:cNvSpPr txBox="1"/>
          <p:nvPr/>
        </p:nvSpPr>
        <p:spPr>
          <a:xfrm>
            <a:off x="6492240" y="2377440"/>
            <a:ext cx="5212080" cy="3840480"/>
          </a:xfrm>
          <a:prstGeom prst="rect">
            <a:avLst/>
          </a:prstGeom>
          <a:noFill/>
        </p:spPr>
        <p:txBody>
          <a:bodyPr wrap="square" lIns="45720" rIns="45720" anchor="t">
            <a:spAutoFit/>
          </a:bodyPr>
          <a:lstStyle/>
          <a:p>
            <a:pPr marL="292608" indent="-292608" algn="r" rtl="1">
              <a:spcAft>
                <a:spcPts val="1200"/>
              </a:spcAft>
              <a:buFont typeface="Arial"/>
              <a:buChar char="•"/>
            </a:pPr>
            <a:r>
              <a:rPr lang="he-IL" sz="2000" b="0">
                <a:solidFill>
                  <a:srgbClr val="1B242B"/>
                </a:solidFill>
                <a:latin typeface="Arial"/>
                <a:cs typeface="Arial"/>
              </a:rPr>
              <a:t>הקלטות שלמות, כמו בבדיקה</a:t>
            </a:r>
          </a:p>
          <a:p>
            <a:pPr marL="292608" indent="-292608" algn="r" rtl="1">
              <a:spcAft>
                <a:spcPts val="1200"/>
              </a:spcAft>
              <a:buFont typeface="Arial"/>
              <a:buChar char="•"/>
            </a:pPr>
            <a:r>
              <a:rPr lang="he-IL" sz="2000" b="0">
                <a:solidFill>
                  <a:srgbClr val="1B242B"/>
                </a:solidFill>
                <a:latin typeface="Arial"/>
                <a:cs typeface="Arial"/>
              </a:rPr>
              <a:t>האופטימייזר AdamW, וקצב הלמידה יורד כשאין שיפור</a:t>
            </a:r>
          </a:p>
          <a:p>
            <a:pPr marL="292608" indent="-292608" algn="r" rtl="1">
              <a:spcAft>
                <a:spcPts val="1200"/>
              </a:spcAft>
              <a:buFont typeface="Arial"/>
              <a:buChar char="•"/>
            </a:pPr>
            <a:r>
              <a:rPr lang="he-IL" sz="2000" b="0">
                <a:solidFill>
                  <a:srgbClr val="1B242B"/>
                </a:solidFill>
                <a:latin typeface="Arial"/>
                <a:cs typeface="Arial"/>
              </a:rPr>
              <a:t>בחירת epoch לפי PESQ ולא לפי ההפסד</a:t>
            </a:r>
          </a:p>
          <a:p>
            <a:pPr marL="292608" indent="-292608" algn="r" rtl="1">
              <a:spcAft>
                <a:spcPts val="1200"/>
              </a:spcAft>
              <a:buFont typeface="Arial"/>
              <a:buChar char="•"/>
            </a:pPr>
            <a:r>
              <a:rPr lang="he-IL" sz="2000" b="0">
                <a:solidFill>
                  <a:srgbClr val="1B242B"/>
                </a:solidFill>
                <a:latin typeface="Arial"/>
                <a:cs typeface="Arial"/>
              </a:rPr>
              <a:t>כ-40 דקות לכל epoch על Tesla T4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77295" cy="777240"/>
          </a:xfrm>
          <a:prstGeom prst="rect">
            <a:avLst/>
          </a:prstGeom>
          <a:noFill/>
        </p:spPr>
        <p:txBody>
          <a:bodyPr wrap="square" lIns="45720" rIns="45720" anchor="ctr">
            <a:spAutoFit/>
          </a:bodyPr>
          <a:lstStyle/>
          <a:p>
            <a:pPr algn="r" rtl="1">
              <a:spcAft>
                <a:spcPts val="800"/>
              </a:spcAft>
              <a:buNone/>
            </a:pPr>
            <a:r>
              <a:rPr lang="he-IL" sz="3200" b="1">
                <a:solidFill>
                  <a:srgbClr val="1F4E79"/>
                </a:solidFill>
                <a:latin typeface="Arial"/>
                <a:cs typeface="Arial"/>
              </a:rPr>
              <a:t>מה בדיוק נלמד, ואיך המשקולות מתעדכנות</a:t>
            </a:r>
          </a:p>
        </p:txBody>
      </p:sp>
      <p:sp>
        <p:nvSpPr>
          <p:cNvPr id="4" name="Rectangle 3"/>
          <p:cNvSpPr/>
          <p:nvPr/>
        </p:nvSpPr>
        <p:spPr>
          <a:xfrm>
            <a:off x="10271455" y="1051560"/>
            <a:ext cx="1463040" cy="4572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774375" y="6400800"/>
            <a:ext cx="1051560" cy="310896"/>
          </a:xfrm>
          <a:prstGeom prst="roundRect">
            <a:avLst>
              <a:gd name="adj" fmla="val 50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74375" y="6400800"/>
            <a:ext cx="1051560" cy="310896"/>
          </a:xfrm>
          <a:prstGeom prst="rect">
            <a:avLst/>
          </a:prstGeom>
          <a:noFill/>
        </p:spPr>
        <p:txBody>
          <a:bodyPr wrap="square" lIns="45720" rIns="45720" anchor="ctr">
            <a:spAutoFit/>
          </a:bodyPr>
          <a:lstStyle/>
          <a:p>
            <a:pPr algn="ctr" rtl="1">
              <a:spcAft>
                <a:spcPts val="0"/>
              </a:spcAft>
              <a:buNone/>
            </a:pPr>
            <a:r>
              <a:rPr lang="he-IL" sz="1300" b="1">
                <a:solidFill>
                  <a:srgbClr val="FFFFFF"/>
                </a:solidFill>
                <a:latin typeface="Arial"/>
                <a:cs typeface="Arial"/>
              </a:rPr>
              <a:t>עידן</a:t>
            </a:r>
          </a:p>
        </p:txBody>
      </p:sp>
      <p:sp>
        <p:nvSpPr>
          <p:cNvPr id="7" name="TextBox 6"/>
          <p:cNvSpPr txBox="1"/>
          <p:nvPr/>
        </p:nvSpPr>
        <p:spPr>
          <a:xfrm>
            <a:off x="365760" y="6400800"/>
            <a:ext cx="914400" cy="310896"/>
          </a:xfrm>
          <a:prstGeom prst="rect">
            <a:avLst/>
          </a:prstGeom>
          <a:noFill/>
        </p:spPr>
        <p:txBody>
          <a:bodyPr wrap="square" lIns="45720" rIns="45720" anchor="ctr">
            <a:spAutoFit/>
          </a:bodyPr>
          <a:lstStyle/>
          <a:p>
            <a:pPr algn="l" rtl="0">
              <a:spcAft>
                <a:spcPts val="0"/>
              </a:spcAft>
              <a:buNone/>
            </a:pPr>
            <a:r>
              <a:rPr lang="he-IL" sz="1300" b="0">
                <a:solidFill>
                  <a:srgbClr val="5A636A"/>
                </a:solidFill>
                <a:latin typeface="Arial"/>
                <a:cs typeface="Arial"/>
              </a:rPr>
              <a:t>9</a:t>
            </a:r>
          </a:p>
        </p:txBody>
      </p:sp>
      <p:sp>
        <p:nvSpPr>
          <p:cNvPr id="8" name="TextBox 7"/>
          <p:cNvSpPr txBox="1"/>
          <p:nvPr/>
        </p:nvSpPr>
        <p:spPr>
          <a:xfrm>
            <a:off x="6355080" y="1261872"/>
            <a:ext cx="5376672" cy="411480"/>
          </a:xfrm>
          <a:prstGeom prst="rect">
            <a:avLst/>
          </a:prstGeom>
          <a:noFill/>
        </p:spPr>
        <p:txBody>
          <a:bodyPr wrap="square" lIns="45720" tIns="27432" rIns="45720" bIns="27432" rtlCol="0" anchor="ctr">
            <a:noAutofit/>
          </a:bodyPr>
          <a:lstStyle/>
          <a:p>
            <a:pPr algn="r" rtl="1">
              <a:spcAft>
                <a:spcPts val="0"/>
              </a:spcAft>
              <a:buNone/>
            </a:pPr>
            <a:r>
              <a:rPr lang="he-IL" sz="2000" b="1" dirty="0">
                <a:solidFill>
                  <a:srgbClr val="7030A0"/>
                </a:solidFill>
                <a:latin typeface="Arial"/>
                <a:cs typeface="Arial"/>
              </a:rPr>
              <a:t>‏0.88 מיליון</a:t>
            </a:r>
            <a:r>
              <a:rPr lang="he-IL" sz="1600" b="0" dirty="0">
                <a:solidFill>
                  <a:srgbClr val="1B242B"/>
                </a:solidFill>
                <a:latin typeface="Arial"/>
                <a:cs typeface="Arial"/>
              </a:rPr>
              <a:t> פרמטרים נלמדים, ואיפה הם</a:t>
            </a:r>
          </a:p>
        </p:txBody>
      </p:sp>
      <p:sp>
        <p:nvSpPr>
          <p:cNvPr id="9" name="Rounded Rectangle 8"/>
          <p:cNvSpPr/>
          <p:nvPr/>
        </p:nvSpPr>
        <p:spPr>
          <a:xfrm>
            <a:off x="6355080" y="1755648"/>
            <a:ext cx="5376672" cy="896112"/>
          </a:xfrm>
          <a:prstGeom prst="roundRect">
            <a:avLst>
              <a:gd name="adj" fmla="val 8000"/>
            </a:avLst>
          </a:prstGeom>
          <a:solidFill>
            <a:srgbClr val="F7F9FB"/>
          </a:solidFill>
          <a:ln w="12700">
            <a:solidFill>
              <a:srgbClr val="D6DCE1"/>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10" name="TextBox 9"/>
          <p:cNvSpPr txBox="1"/>
          <p:nvPr/>
        </p:nvSpPr>
        <p:spPr>
          <a:xfrm>
            <a:off x="8321040" y="1792224"/>
            <a:ext cx="3273552" cy="329184"/>
          </a:xfrm>
          <a:prstGeom prst="rect">
            <a:avLst/>
          </a:prstGeom>
          <a:noFill/>
        </p:spPr>
        <p:txBody>
          <a:bodyPr wrap="square" lIns="45720" tIns="27432" rIns="45720" bIns="27432" rtlCol="0" anchor="ctr">
            <a:noAutofit/>
          </a:bodyPr>
          <a:lstStyle/>
          <a:p>
            <a:pPr algn="r" rtl="1">
              <a:spcAft>
                <a:spcPts val="0"/>
              </a:spcAft>
              <a:buNone/>
            </a:pPr>
            <a:r>
              <a:rPr lang="he-IL" sz="1600" b="1" dirty="0">
                <a:solidFill>
                  <a:srgbClr val="1F4E79"/>
                </a:solidFill>
                <a:latin typeface="Arial"/>
                <a:cs typeface="Arial"/>
              </a:rPr>
              <a:t>‏</a:t>
            </a:r>
            <a:r>
              <a:rPr lang="en-US" sz="1600" b="1" dirty="0">
                <a:solidFill>
                  <a:srgbClr val="1F4E79"/>
                </a:solidFill>
                <a:latin typeface="Arial"/>
                <a:cs typeface="Arial"/>
              </a:rPr>
              <a:t>Encoder</a:t>
            </a:r>
            <a:r>
              <a:rPr lang="he-IL" sz="1600" b="1" dirty="0">
                <a:solidFill>
                  <a:srgbClr val="1F4E79"/>
                </a:solidFill>
                <a:latin typeface="Arial"/>
                <a:cs typeface="Arial"/>
              </a:rPr>
              <a:t>‎ (קונבולוציות)</a:t>
            </a:r>
          </a:p>
        </p:txBody>
      </p:sp>
      <p:sp>
        <p:nvSpPr>
          <p:cNvPr id="11" name="TextBox 10"/>
          <p:cNvSpPr txBox="1"/>
          <p:nvPr/>
        </p:nvSpPr>
        <p:spPr>
          <a:xfrm>
            <a:off x="6464808" y="1792224"/>
            <a:ext cx="1920240" cy="329184"/>
          </a:xfrm>
          <a:prstGeom prst="rect">
            <a:avLst/>
          </a:prstGeom>
          <a:noFill/>
        </p:spPr>
        <p:txBody>
          <a:bodyPr wrap="square" lIns="45720" tIns="27432" rIns="45720" bIns="27432" rtlCol="0" anchor="ctr">
            <a:noAutofit/>
          </a:bodyPr>
          <a:lstStyle/>
          <a:p>
            <a:pPr algn="l" rtl="0">
              <a:spcAft>
                <a:spcPts val="0"/>
              </a:spcAft>
              <a:buNone/>
            </a:pPr>
            <a:r>
              <a:rPr lang="en-US" sz="1500" b="1" dirty="0">
                <a:solidFill>
                  <a:srgbClr val="1F4E79"/>
                </a:solidFill>
                <a:latin typeface="Arial"/>
                <a:cs typeface="Arial"/>
              </a:rPr>
              <a:t>‎250,032 (28.5%)</a:t>
            </a:r>
          </a:p>
        </p:txBody>
      </p:sp>
      <p:sp>
        <p:nvSpPr>
          <p:cNvPr id="12" name="TextBox 11"/>
          <p:cNvSpPr txBox="1"/>
          <p:nvPr/>
        </p:nvSpPr>
        <p:spPr>
          <a:xfrm>
            <a:off x="6464808" y="2121408"/>
            <a:ext cx="5129783" cy="292608"/>
          </a:xfrm>
          <a:prstGeom prst="rect">
            <a:avLst/>
          </a:prstGeom>
          <a:noFill/>
        </p:spPr>
        <p:txBody>
          <a:bodyPr wrap="square" lIns="45720" tIns="27432" rIns="45720" bIns="27432" rtlCol="0" anchor="ctr">
            <a:noAutofit/>
          </a:bodyPr>
          <a:lstStyle/>
          <a:p>
            <a:pPr algn="r" rtl="1">
              <a:spcAft>
                <a:spcPts val="0"/>
              </a:spcAft>
              <a:buNone/>
            </a:pPr>
            <a:r>
              <a:rPr lang="he-IL" sz="1300" b="0" dirty="0">
                <a:solidFill>
                  <a:srgbClr val="1B242B"/>
                </a:solidFill>
                <a:latin typeface="Arial"/>
                <a:cs typeface="Arial"/>
              </a:rPr>
              <a:t>דפוסים מקומיים סביב כל נקודה בספקטרוגרמה</a:t>
            </a:r>
          </a:p>
        </p:txBody>
      </p:sp>
      <p:sp>
        <p:nvSpPr>
          <p:cNvPr id="13" name="Rectangle 12"/>
          <p:cNvSpPr/>
          <p:nvPr/>
        </p:nvSpPr>
        <p:spPr>
          <a:xfrm>
            <a:off x="6492240" y="2450591"/>
            <a:ext cx="5102352" cy="100584"/>
          </a:xfrm>
          <a:prstGeom prst="rect">
            <a:avLst/>
          </a:prstGeom>
          <a:solidFill>
            <a:srgbClr val="E3E6E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14" name="Rectangle 13"/>
          <p:cNvSpPr/>
          <p:nvPr/>
        </p:nvSpPr>
        <p:spPr>
          <a:xfrm>
            <a:off x="10140422" y="2450591"/>
            <a:ext cx="1454170" cy="10058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15" name="Rounded Rectangle 14"/>
          <p:cNvSpPr/>
          <p:nvPr/>
        </p:nvSpPr>
        <p:spPr>
          <a:xfrm>
            <a:off x="6355080" y="2743200"/>
            <a:ext cx="5376672" cy="896112"/>
          </a:xfrm>
          <a:prstGeom prst="roundRect">
            <a:avLst>
              <a:gd name="adj" fmla="val 8000"/>
            </a:avLst>
          </a:prstGeom>
          <a:solidFill>
            <a:srgbClr val="F7F9FB"/>
          </a:solidFill>
          <a:ln w="12700">
            <a:solidFill>
              <a:srgbClr val="D6DCE1"/>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16" name="TextBox 15"/>
          <p:cNvSpPr txBox="1"/>
          <p:nvPr/>
        </p:nvSpPr>
        <p:spPr>
          <a:xfrm>
            <a:off x="8321040" y="2779776"/>
            <a:ext cx="3273552" cy="329184"/>
          </a:xfrm>
          <a:prstGeom prst="rect">
            <a:avLst/>
          </a:prstGeom>
          <a:noFill/>
        </p:spPr>
        <p:txBody>
          <a:bodyPr wrap="square" lIns="45720" tIns="27432" rIns="45720" bIns="27432" rtlCol="0" anchor="ctr">
            <a:noAutofit/>
          </a:bodyPr>
          <a:lstStyle/>
          <a:p>
            <a:pPr algn="r" rtl="1">
              <a:spcAft>
                <a:spcPts val="0"/>
              </a:spcAft>
              <a:buNone/>
            </a:pPr>
            <a:r>
              <a:rPr lang="he-IL" sz="1600" b="1" dirty="0">
                <a:solidFill>
                  <a:srgbClr val="7F7F7F"/>
                </a:solidFill>
                <a:latin typeface="Arial"/>
                <a:cs typeface="Arial"/>
              </a:rPr>
              <a:t>קיבוץ ופירוק 4×4</a:t>
            </a:r>
          </a:p>
        </p:txBody>
      </p:sp>
      <p:sp>
        <p:nvSpPr>
          <p:cNvPr id="17" name="TextBox 16"/>
          <p:cNvSpPr txBox="1"/>
          <p:nvPr/>
        </p:nvSpPr>
        <p:spPr>
          <a:xfrm>
            <a:off x="6464808" y="2779776"/>
            <a:ext cx="1920240" cy="329184"/>
          </a:xfrm>
          <a:prstGeom prst="rect">
            <a:avLst/>
          </a:prstGeom>
          <a:noFill/>
        </p:spPr>
        <p:txBody>
          <a:bodyPr wrap="square" lIns="45720" tIns="27432" rIns="45720" bIns="27432" rtlCol="0" anchor="ctr">
            <a:noAutofit/>
          </a:bodyPr>
          <a:lstStyle/>
          <a:p>
            <a:pPr algn="l" rtl="0">
              <a:spcAft>
                <a:spcPts val="0"/>
              </a:spcAft>
              <a:buNone/>
            </a:pPr>
            <a:r>
              <a:rPr lang="en-US" sz="1500" b="1" dirty="0">
                <a:solidFill>
                  <a:srgbClr val="7F7F7F"/>
                </a:solidFill>
                <a:latin typeface="Arial"/>
                <a:cs typeface="Arial"/>
              </a:rPr>
              <a:t>‎37,632 (4.3%)</a:t>
            </a:r>
          </a:p>
        </p:txBody>
      </p:sp>
      <p:sp>
        <p:nvSpPr>
          <p:cNvPr id="18" name="TextBox 17"/>
          <p:cNvSpPr txBox="1"/>
          <p:nvPr/>
        </p:nvSpPr>
        <p:spPr>
          <a:xfrm>
            <a:off x="6464808" y="3108960"/>
            <a:ext cx="5129783" cy="292608"/>
          </a:xfrm>
          <a:prstGeom prst="rect">
            <a:avLst/>
          </a:prstGeom>
          <a:noFill/>
        </p:spPr>
        <p:txBody>
          <a:bodyPr wrap="square" lIns="45720" tIns="27432" rIns="45720" bIns="27432" rtlCol="0" anchor="ctr">
            <a:noAutofit/>
          </a:bodyPr>
          <a:lstStyle/>
          <a:p>
            <a:pPr algn="r" rtl="1">
              <a:spcAft>
                <a:spcPts val="0"/>
              </a:spcAft>
              <a:buNone/>
            </a:pPr>
            <a:r>
              <a:rPr lang="he-IL" sz="1300" b="0" dirty="0">
                <a:solidFill>
                  <a:srgbClr val="1B242B"/>
                </a:solidFill>
                <a:latin typeface="Arial"/>
                <a:cs typeface="Arial"/>
              </a:rPr>
              <a:t>איך לדחוס 4×4 נקודות לאחת לפני הליבה, ולפרוש בחזרה</a:t>
            </a:r>
          </a:p>
        </p:txBody>
      </p:sp>
      <p:sp>
        <p:nvSpPr>
          <p:cNvPr id="19" name="Rectangle 18"/>
          <p:cNvSpPr/>
          <p:nvPr/>
        </p:nvSpPr>
        <p:spPr>
          <a:xfrm>
            <a:off x="6492240" y="3438144"/>
            <a:ext cx="5102352" cy="100584"/>
          </a:xfrm>
          <a:prstGeom prst="rect">
            <a:avLst/>
          </a:prstGeom>
          <a:solidFill>
            <a:srgbClr val="E3E6E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20" name="Rectangle 19"/>
          <p:cNvSpPr/>
          <p:nvPr/>
        </p:nvSpPr>
        <p:spPr>
          <a:xfrm>
            <a:off x="11375191" y="3438144"/>
            <a:ext cx="219401" cy="100584"/>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21" name="Rounded Rectangle 20"/>
          <p:cNvSpPr/>
          <p:nvPr/>
        </p:nvSpPr>
        <p:spPr>
          <a:xfrm>
            <a:off x="6355080" y="3730752"/>
            <a:ext cx="5376672" cy="896112"/>
          </a:xfrm>
          <a:prstGeom prst="roundRect">
            <a:avLst>
              <a:gd name="adj" fmla="val 8000"/>
            </a:avLst>
          </a:prstGeom>
          <a:solidFill>
            <a:srgbClr val="F7F9FB"/>
          </a:solidFill>
          <a:ln w="12700">
            <a:solidFill>
              <a:srgbClr val="D6DCE1"/>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22" name="TextBox 21"/>
          <p:cNvSpPr txBox="1"/>
          <p:nvPr/>
        </p:nvSpPr>
        <p:spPr>
          <a:xfrm>
            <a:off x="8321040" y="3767328"/>
            <a:ext cx="3273552" cy="329184"/>
          </a:xfrm>
          <a:prstGeom prst="rect">
            <a:avLst/>
          </a:prstGeom>
          <a:noFill/>
        </p:spPr>
        <p:txBody>
          <a:bodyPr wrap="square" lIns="45720" tIns="27432" rIns="45720" bIns="27432" rtlCol="0" anchor="ctr">
            <a:noAutofit/>
          </a:bodyPr>
          <a:lstStyle/>
          <a:p>
            <a:pPr algn="r" rtl="1">
              <a:spcAft>
                <a:spcPts val="0"/>
              </a:spcAft>
              <a:buNone/>
            </a:pPr>
            <a:r>
              <a:rPr lang="he-IL" sz="1600" b="1" dirty="0">
                <a:solidFill>
                  <a:srgbClr val="7030A0"/>
                </a:solidFill>
                <a:latin typeface="Arial"/>
                <a:cs typeface="Arial"/>
              </a:rPr>
              <a:t>ליבה: 4 בלוקי </a:t>
            </a:r>
            <a:r>
              <a:rPr lang="en-US" sz="1600" b="1" dirty="0">
                <a:solidFill>
                  <a:srgbClr val="7030A0"/>
                </a:solidFill>
                <a:latin typeface="Arial"/>
                <a:cs typeface="Arial"/>
              </a:rPr>
              <a:t>Dual-Path</a:t>
            </a:r>
            <a:r>
              <a:rPr lang="he-IL" sz="1600" b="1" dirty="0">
                <a:solidFill>
                  <a:srgbClr val="7030A0"/>
                </a:solidFill>
                <a:latin typeface="Arial"/>
                <a:cs typeface="Arial"/>
              </a:rPr>
              <a:t>‎</a:t>
            </a:r>
          </a:p>
        </p:txBody>
      </p:sp>
      <p:sp>
        <p:nvSpPr>
          <p:cNvPr id="23" name="TextBox 22"/>
          <p:cNvSpPr txBox="1"/>
          <p:nvPr/>
        </p:nvSpPr>
        <p:spPr>
          <a:xfrm>
            <a:off x="6464808" y="3767328"/>
            <a:ext cx="1920240" cy="329184"/>
          </a:xfrm>
          <a:prstGeom prst="rect">
            <a:avLst/>
          </a:prstGeom>
          <a:noFill/>
        </p:spPr>
        <p:txBody>
          <a:bodyPr wrap="square" lIns="45720" tIns="27432" rIns="45720" bIns="27432" rtlCol="0" anchor="ctr">
            <a:noAutofit/>
          </a:bodyPr>
          <a:lstStyle/>
          <a:p>
            <a:pPr algn="l" rtl="0">
              <a:spcAft>
                <a:spcPts val="0"/>
              </a:spcAft>
              <a:buNone/>
            </a:pPr>
            <a:r>
              <a:rPr lang="en-US" sz="1500" b="1" dirty="0">
                <a:solidFill>
                  <a:srgbClr val="7030A0"/>
                </a:solidFill>
                <a:latin typeface="Arial"/>
                <a:cs typeface="Arial"/>
              </a:rPr>
              <a:t>‎339,840 (38.7%)</a:t>
            </a:r>
          </a:p>
        </p:txBody>
      </p:sp>
      <p:sp>
        <p:nvSpPr>
          <p:cNvPr id="24" name="TextBox 23"/>
          <p:cNvSpPr txBox="1"/>
          <p:nvPr/>
        </p:nvSpPr>
        <p:spPr>
          <a:xfrm>
            <a:off x="6464808" y="4096512"/>
            <a:ext cx="5129783" cy="292608"/>
          </a:xfrm>
          <a:prstGeom prst="rect">
            <a:avLst/>
          </a:prstGeom>
          <a:noFill/>
        </p:spPr>
        <p:txBody>
          <a:bodyPr wrap="square" lIns="45720" tIns="27432" rIns="45720" bIns="27432" rtlCol="0" anchor="ctr">
            <a:noAutofit/>
          </a:bodyPr>
          <a:lstStyle/>
          <a:p>
            <a:pPr algn="r" rtl="0">
              <a:spcAft>
                <a:spcPts val="0"/>
              </a:spcAft>
              <a:buNone/>
            </a:pPr>
            <a:r>
              <a:rPr lang="he-IL" sz="1300" b="0" dirty="0">
                <a:solidFill>
                  <a:srgbClr val="1B242B"/>
                </a:solidFill>
                <a:latin typeface="Arial"/>
                <a:cs typeface="Arial"/>
              </a:rPr>
              <a:t>BiGRU 225,792 · Attention 75,264 · Linear + LayerNorm 38,784</a:t>
            </a:r>
          </a:p>
        </p:txBody>
      </p:sp>
      <p:sp>
        <p:nvSpPr>
          <p:cNvPr id="25" name="Rectangle 24"/>
          <p:cNvSpPr/>
          <p:nvPr/>
        </p:nvSpPr>
        <p:spPr>
          <a:xfrm>
            <a:off x="6492240" y="4425696"/>
            <a:ext cx="5102352" cy="100584"/>
          </a:xfrm>
          <a:prstGeom prst="rect">
            <a:avLst/>
          </a:prstGeom>
          <a:solidFill>
            <a:srgbClr val="E3E6E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26" name="Rectangle 25"/>
          <p:cNvSpPr/>
          <p:nvPr/>
        </p:nvSpPr>
        <p:spPr>
          <a:xfrm>
            <a:off x="9619982" y="4425696"/>
            <a:ext cx="1974610" cy="100584"/>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27" name="Rounded Rectangle 26"/>
          <p:cNvSpPr/>
          <p:nvPr/>
        </p:nvSpPr>
        <p:spPr>
          <a:xfrm>
            <a:off x="6355080" y="4718304"/>
            <a:ext cx="5376672" cy="896112"/>
          </a:xfrm>
          <a:prstGeom prst="roundRect">
            <a:avLst>
              <a:gd name="adj" fmla="val 8000"/>
            </a:avLst>
          </a:prstGeom>
          <a:solidFill>
            <a:srgbClr val="F7F9FB"/>
          </a:solidFill>
          <a:ln w="12700">
            <a:solidFill>
              <a:srgbClr val="D6DCE1"/>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28" name="TextBox 27"/>
          <p:cNvSpPr txBox="1"/>
          <p:nvPr/>
        </p:nvSpPr>
        <p:spPr>
          <a:xfrm>
            <a:off x="8321040" y="4754880"/>
            <a:ext cx="3273552" cy="329184"/>
          </a:xfrm>
          <a:prstGeom prst="rect">
            <a:avLst/>
          </a:prstGeom>
          <a:noFill/>
        </p:spPr>
        <p:txBody>
          <a:bodyPr wrap="square" lIns="45720" tIns="27432" rIns="45720" bIns="27432" rtlCol="0" anchor="ctr">
            <a:noAutofit/>
          </a:bodyPr>
          <a:lstStyle/>
          <a:p>
            <a:pPr algn="r" rtl="1">
              <a:spcAft>
                <a:spcPts val="0"/>
              </a:spcAft>
              <a:buNone/>
            </a:pPr>
            <a:r>
              <a:rPr lang="he-IL" sz="1600" b="1" dirty="0">
                <a:solidFill>
                  <a:srgbClr val="1F4E79"/>
                </a:solidFill>
                <a:latin typeface="Arial"/>
                <a:cs typeface="Arial"/>
              </a:rPr>
              <a:t>‏</a:t>
            </a:r>
            <a:r>
              <a:rPr lang="en-US" sz="1600" b="1" dirty="0">
                <a:solidFill>
                  <a:srgbClr val="1F4E79"/>
                </a:solidFill>
                <a:latin typeface="Arial"/>
                <a:cs typeface="Arial"/>
              </a:rPr>
              <a:t>Decoder</a:t>
            </a:r>
            <a:r>
              <a:rPr lang="he-IL" sz="1600" b="1" dirty="0">
                <a:solidFill>
                  <a:srgbClr val="1F4E79"/>
                </a:solidFill>
                <a:latin typeface="Arial"/>
                <a:cs typeface="Arial"/>
              </a:rPr>
              <a:t>‎ (קונבולוציות)</a:t>
            </a:r>
          </a:p>
        </p:txBody>
      </p:sp>
      <p:sp>
        <p:nvSpPr>
          <p:cNvPr id="29" name="TextBox 28"/>
          <p:cNvSpPr txBox="1"/>
          <p:nvPr/>
        </p:nvSpPr>
        <p:spPr>
          <a:xfrm>
            <a:off x="6464808" y="4754880"/>
            <a:ext cx="1920240" cy="329184"/>
          </a:xfrm>
          <a:prstGeom prst="rect">
            <a:avLst/>
          </a:prstGeom>
          <a:noFill/>
        </p:spPr>
        <p:txBody>
          <a:bodyPr wrap="square" lIns="45720" tIns="27432" rIns="45720" bIns="27432" rtlCol="0" anchor="ctr">
            <a:noAutofit/>
          </a:bodyPr>
          <a:lstStyle/>
          <a:p>
            <a:pPr algn="l" rtl="0">
              <a:spcAft>
                <a:spcPts val="0"/>
              </a:spcAft>
              <a:buNone/>
            </a:pPr>
            <a:r>
              <a:rPr lang="en-US" sz="1500" b="1" dirty="0">
                <a:solidFill>
                  <a:srgbClr val="1F4E79"/>
                </a:solidFill>
                <a:latin typeface="Arial"/>
                <a:cs typeface="Arial"/>
              </a:rPr>
              <a:t>‎249,985 (28.5%)</a:t>
            </a:r>
          </a:p>
        </p:txBody>
      </p:sp>
      <p:sp>
        <p:nvSpPr>
          <p:cNvPr id="30" name="TextBox 29"/>
          <p:cNvSpPr txBox="1"/>
          <p:nvPr/>
        </p:nvSpPr>
        <p:spPr>
          <a:xfrm>
            <a:off x="6464808" y="5084064"/>
            <a:ext cx="5129783" cy="292608"/>
          </a:xfrm>
          <a:prstGeom prst="rect">
            <a:avLst/>
          </a:prstGeom>
          <a:noFill/>
        </p:spPr>
        <p:txBody>
          <a:bodyPr wrap="square" lIns="45720" tIns="27432" rIns="45720" bIns="27432" rtlCol="0" anchor="ctr">
            <a:noAutofit/>
          </a:bodyPr>
          <a:lstStyle/>
          <a:p>
            <a:pPr algn="r" rtl="1">
              <a:spcAft>
                <a:spcPts val="0"/>
              </a:spcAft>
              <a:buNone/>
            </a:pPr>
            <a:r>
              <a:rPr lang="he-IL" sz="1300" b="0" dirty="0">
                <a:solidFill>
                  <a:srgbClr val="1B242B"/>
                </a:solidFill>
                <a:latin typeface="Arial"/>
                <a:cs typeface="Arial"/>
              </a:rPr>
              <a:t>מתרגם את התכונות למספר אחד בכל נקודה: המסכה</a:t>
            </a:r>
          </a:p>
        </p:txBody>
      </p:sp>
      <p:sp>
        <p:nvSpPr>
          <p:cNvPr id="31" name="Rectangle 30"/>
          <p:cNvSpPr/>
          <p:nvPr/>
        </p:nvSpPr>
        <p:spPr>
          <a:xfrm>
            <a:off x="6492240" y="5413248"/>
            <a:ext cx="5102352" cy="100584"/>
          </a:xfrm>
          <a:prstGeom prst="rect">
            <a:avLst/>
          </a:prstGeom>
          <a:solidFill>
            <a:srgbClr val="E3E6E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32" name="Rectangle 31"/>
          <p:cNvSpPr/>
          <p:nvPr/>
        </p:nvSpPr>
        <p:spPr>
          <a:xfrm>
            <a:off x="10140422" y="5413248"/>
            <a:ext cx="1454170" cy="10058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33" name="Rounded Rectangle 32"/>
          <p:cNvSpPr/>
          <p:nvPr/>
        </p:nvSpPr>
        <p:spPr>
          <a:xfrm>
            <a:off x="6355080" y="5742432"/>
            <a:ext cx="5376672" cy="502920"/>
          </a:xfrm>
          <a:prstGeom prst="roundRect">
            <a:avLst>
              <a:gd name="adj" fmla="val 8000"/>
            </a:avLst>
          </a:prstGeom>
          <a:solidFill>
            <a:srgbClr val="FFFFFF"/>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34" name="TextBox 33"/>
          <p:cNvSpPr txBox="1"/>
          <p:nvPr/>
        </p:nvSpPr>
        <p:spPr>
          <a:xfrm>
            <a:off x="6446520" y="5742432"/>
            <a:ext cx="5193792" cy="502920"/>
          </a:xfrm>
          <a:prstGeom prst="rect">
            <a:avLst/>
          </a:prstGeom>
          <a:noFill/>
        </p:spPr>
        <p:txBody>
          <a:bodyPr wrap="square" lIns="45720" tIns="27432" rIns="45720" bIns="27432" rtlCol="0" anchor="ctr">
            <a:noAutofit/>
          </a:bodyPr>
          <a:lstStyle/>
          <a:p>
            <a:pPr algn="ctr" rtl="1">
              <a:spcAft>
                <a:spcPts val="0"/>
              </a:spcAft>
              <a:buNone/>
            </a:pPr>
            <a:r>
              <a:rPr lang="he-IL" sz="1400" b="1" dirty="0">
                <a:solidFill>
                  <a:srgbClr val="5A636A"/>
                </a:solidFill>
                <a:latin typeface="Arial"/>
                <a:cs typeface="Arial"/>
              </a:rPr>
              <a:t>‏0 פרמטרים: </a:t>
            </a:r>
            <a:r>
              <a:rPr lang="en-US" sz="1400" b="0" dirty="0">
                <a:solidFill>
                  <a:srgbClr val="5A636A"/>
                </a:solidFill>
                <a:latin typeface="Arial"/>
                <a:cs typeface="Arial"/>
              </a:rPr>
              <a:t>STFT</a:t>
            </a:r>
            <a:r>
              <a:rPr lang="he-IL" sz="1400" b="0" dirty="0">
                <a:solidFill>
                  <a:srgbClr val="5A636A"/>
                </a:solidFill>
                <a:latin typeface="Arial"/>
                <a:cs typeface="Arial"/>
              </a:rPr>
              <a:t>‎, דחיסה, תקנון והמסכה עצמה</a:t>
            </a:r>
          </a:p>
        </p:txBody>
      </p:sp>
      <p:sp>
        <p:nvSpPr>
          <p:cNvPr id="35" name="TextBox 34"/>
          <p:cNvSpPr txBox="1"/>
          <p:nvPr/>
        </p:nvSpPr>
        <p:spPr>
          <a:xfrm>
            <a:off x="438912" y="1261872"/>
            <a:ext cx="5641848" cy="411480"/>
          </a:xfrm>
          <a:prstGeom prst="rect">
            <a:avLst/>
          </a:prstGeom>
          <a:noFill/>
        </p:spPr>
        <p:txBody>
          <a:bodyPr wrap="square" lIns="45720" tIns="27432" rIns="45720" bIns="27432" rtlCol="0" anchor="ctr">
            <a:noAutofit/>
          </a:bodyPr>
          <a:lstStyle/>
          <a:p>
            <a:pPr algn="r" rtl="1">
              <a:spcAft>
                <a:spcPts val="0"/>
              </a:spcAft>
              <a:buNone/>
            </a:pPr>
            <a:r>
              <a:rPr lang="he-IL" sz="1700" b="1" dirty="0">
                <a:solidFill>
                  <a:srgbClr val="1F4E79"/>
                </a:solidFill>
                <a:latin typeface="Arial"/>
                <a:cs typeface="Arial"/>
              </a:rPr>
              <a:t>צעד עדכון אחד, כ-3,200 פעמים בכל </a:t>
            </a:r>
            <a:r>
              <a:rPr lang="en-US" sz="1700" b="1" dirty="0">
                <a:solidFill>
                  <a:srgbClr val="1F4E79"/>
                </a:solidFill>
                <a:latin typeface="Arial"/>
                <a:cs typeface="Arial"/>
              </a:rPr>
              <a:t>epoch</a:t>
            </a:r>
            <a:r>
              <a:rPr lang="he-IL" sz="1700" b="1" dirty="0">
                <a:solidFill>
                  <a:srgbClr val="1F4E79"/>
                </a:solidFill>
                <a:latin typeface="Arial"/>
                <a:cs typeface="Arial"/>
              </a:rPr>
              <a:t>‎</a:t>
            </a:r>
          </a:p>
        </p:txBody>
      </p:sp>
      <p:sp>
        <p:nvSpPr>
          <p:cNvPr id="36" name="Oval 35"/>
          <p:cNvSpPr/>
          <p:nvPr/>
        </p:nvSpPr>
        <p:spPr>
          <a:xfrm>
            <a:off x="5623560" y="1828800"/>
            <a:ext cx="420624" cy="420624"/>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rtl="0">
              <a:spcAft>
                <a:spcPts val="0"/>
              </a:spcAft>
              <a:buNone/>
            </a:pPr>
            <a:r>
              <a:rPr lang="he-IL" sz="1600" b="1" dirty="0">
                <a:solidFill>
                  <a:srgbClr val="FFFFFF"/>
                </a:solidFill>
                <a:latin typeface="Arial"/>
                <a:cs typeface="Arial"/>
              </a:rPr>
              <a:t>1</a:t>
            </a:r>
          </a:p>
        </p:txBody>
      </p:sp>
      <p:sp>
        <p:nvSpPr>
          <p:cNvPr id="37" name="TextBox 36"/>
          <p:cNvSpPr txBox="1"/>
          <p:nvPr/>
        </p:nvSpPr>
        <p:spPr>
          <a:xfrm>
            <a:off x="438912" y="1755648"/>
            <a:ext cx="5047488" cy="822960"/>
          </a:xfrm>
          <a:prstGeom prst="rect">
            <a:avLst/>
          </a:prstGeom>
          <a:noFill/>
        </p:spPr>
        <p:txBody>
          <a:bodyPr wrap="square" lIns="45720" tIns="27432" rIns="45720" bIns="27432" rtlCol="0" anchor="t">
            <a:noAutofit/>
          </a:bodyPr>
          <a:lstStyle/>
          <a:p>
            <a:pPr algn="r" rtl="1">
              <a:spcAft>
                <a:spcPts val="0"/>
              </a:spcAft>
              <a:buNone/>
            </a:pPr>
            <a:r>
              <a:rPr lang="he-IL" sz="1500" b="1" dirty="0">
                <a:solidFill>
                  <a:srgbClr val="1B242B"/>
                </a:solidFill>
                <a:latin typeface="Arial"/>
                <a:cs typeface="Arial"/>
              </a:rPr>
              <a:t>קדימה: </a:t>
            </a:r>
            <a:r>
              <a:rPr lang="en-US" sz="1500" b="0" dirty="0">
                <a:solidFill>
                  <a:srgbClr val="1B242B"/>
                </a:solidFill>
                <a:latin typeface="Arial"/>
                <a:cs typeface="Arial"/>
              </a:rPr>
              <a:t>batch</a:t>
            </a:r>
            <a:r>
              <a:rPr lang="he-IL" sz="1500" b="0" dirty="0">
                <a:solidFill>
                  <a:srgbClr val="1B242B"/>
                </a:solidFill>
                <a:latin typeface="Arial"/>
                <a:cs typeface="Arial"/>
              </a:rPr>
              <a:t>‎ של הקלטות שלמות (12 שניות אודיו) עובר את כל השרשרת, ויוצא אות משופר</a:t>
            </a:r>
          </a:p>
        </p:txBody>
      </p:sp>
      <p:sp>
        <p:nvSpPr>
          <p:cNvPr id="38" name="Oval 37"/>
          <p:cNvSpPr/>
          <p:nvPr/>
        </p:nvSpPr>
        <p:spPr>
          <a:xfrm>
            <a:off x="5623560" y="2724912"/>
            <a:ext cx="420624" cy="420624"/>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rtl="0">
              <a:spcAft>
                <a:spcPts val="0"/>
              </a:spcAft>
              <a:buNone/>
            </a:pPr>
            <a:r>
              <a:rPr lang="he-IL" sz="1600" b="1" dirty="0">
                <a:solidFill>
                  <a:srgbClr val="FFFFFF"/>
                </a:solidFill>
                <a:latin typeface="Arial"/>
                <a:cs typeface="Arial"/>
              </a:rPr>
              <a:t>2</a:t>
            </a:r>
          </a:p>
        </p:txBody>
      </p:sp>
      <p:sp>
        <p:nvSpPr>
          <p:cNvPr id="39" name="TextBox 38"/>
          <p:cNvSpPr txBox="1"/>
          <p:nvPr/>
        </p:nvSpPr>
        <p:spPr>
          <a:xfrm>
            <a:off x="438912" y="2651760"/>
            <a:ext cx="5047488" cy="822960"/>
          </a:xfrm>
          <a:prstGeom prst="rect">
            <a:avLst/>
          </a:prstGeom>
          <a:noFill/>
        </p:spPr>
        <p:txBody>
          <a:bodyPr wrap="square" lIns="45720" tIns="27432" rIns="45720" bIns="27432" rtlCol="0" anchor="t">
            <a:noAutofit/>
          </a:bodyPr>
          <a:lstStyle/>
          <a:p>
            <a:pPr algn="r" rtl="1">
              <a:spcAft>
                <a:spcPts val="0"/>
              </a:spcAft>
              <a:buNone/>
            </a:pPr>
            <a:r>
              <a:rPr lang="he-IL" sz="1500" b="1" dirty="0">
                <a:solidFill>
                  <a:srgbClr val="1B242B"/>
                </a:solidFill>
                <a:latin typeface="Arial"/>
                <a:cs typeface="Arial"/>
              </a:rPr>
              <a:t>הפסד: </a:t>
            </a:r>
            <a:r>
              <a:rPr lang="he-IL" sz="1500" b="0" dirty="0">
                <a:solidFill>
                  <a:srgbClr val="1B242B"/>
                </a:solidFill>
                <a:latin typeface="Arial"/>
                <a:cs typeface="Arial"/>
              </a:rPr>
              <a:t>מספר אחד: 0.4 × שגיאת האות + 0.6 × שגיאת ה-</a:t>
            </a:r>
            <a:r>
              <a:rPr lang="en-US" sz="1500" b="0" dirty="0">
                <a:solidFill>
                  <a:srgbClr val="1B242B"/>
                </a:solidFill>
                <a:latin typeface="Arial"/>
                <a:cs typeface="Arial"/>
              </a:rPr>
              <a:t>magnitude</a:t>
            </a:r>
            <a:r>
              <a:rPr lang="he-IL" sz="1500" b="0" dirty="0">
                <a:solidFill>
                  <a:srgbClr val="1B242B"/>
                </a:solidFill>
                <a:latin typeface="Arial"/>
                <a:cs typeface="Arial"/>
              </a:rPr>
              <a:t>‎ הדחוס</a:t>
            </a:r>
          </a:p>
        </p:txBody>
      </p:sp>
      <p:sp>
        <p:nvSpPr>
          <p:cNvPr id="40" name="Oval 39"/>
          <p:cNvSpPr/>
          <p:nvPr/>
        </p:nvSpPr>
        <p:spPr>
          <a:xfrm>
            <a:off x="5623560" y="3621024"/>
            <a:ext cx="420624" cy="420624"/>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rtl="0">
              <a:spcAft>
                <a:spcPts val="0"/>
              </a:spcAft>
              <a:buNone/>
            </a:pPr>
            <a:r>
              <a:rPr lang="he-IL" sz="1600" b="1" dirty="0">
                <a:solidFill>
                  <a:srgbClr val="FFFFFF"/>
                </a:solidFill>
                <a:latin typeface="Arial"/>
                <a:cs typeface="Arial"/>
              </a:rPr>
              <a:t>3</a:t>
            </a:r>
          </a:p>
        </p:txBody>
      </p:sp>
      <p:sp>
        <p:nvSpPr>
          <p:cNvPr id="41" name="TextBox 40"/>
          <p:cNvSpPr txBox="1"/>
          <p:nvPr/>
        </p:nvSpPr>
        <p:spPr>
          <a:xfrm>
            <a:off x="438912" y="3547872"/>
            <a:ext cx="5047488" cy="822960"/>
          </a:xfrm>
          <a:prstGeom prst="rect">
            <a:avLst/>
          </a:prstGeom>
          <a:noFill/>
        </p:spPr>
        <p:txBody>
          <a:bodyPr wrap="square" lIns="45720" tIns="27432" rIns="45720" bIns="27432" rtlCol="0" anchor="t">
            <a:noAutofit/>
          </a:bodyPr>
          <a:lstStyle/>
          <a:p>
            <a:pPr algn="r" rtl="1">
              <a:spcAft>
                <a:spcPts val="0"/>
              </a:spcAft>
              <a:buNone/>
            </a:pPr>
            <a:r>
              <a:rPr lang="he-IL" sz="1500" b="1" dirty="0">
                <a:solidFill>
                  <a:srgbClr val="1B242B"/>
                </a:solidFill>
                <a:latin typeface="Arial"/>
                <a:cs typeface="Arial"/>
              </a:rPr>
              <a:t>אחורה: </a:t>
            </a:r>
            <a:r>
              <a:rPr lang="en-US" sz="1500" b="0" dirty="0">
                <a:solidFill>
                  <a:srgbClr val="1B242B"/>
                </a:solidFill>
                <a:latin typeface="Arial"/>
                <a:cs typeface="Arial"/>
              </a:rPr>
              <a:t>backpropagation</a:t>
            </a:r>
            <a:r>
              <a:rPr lang="he-IL" sz="1500" b="0" dirty="0">
                <a:solidFill>
                  <a:srgbClr val="1B242B"/>
                </a:solidFill>
                <a:latin typeface="Arial"/>
                <a:cs typeface="Arial"/>
              </a:rPr>
              <a:t>‎: לכל אחת מ-0.88 מיליון המשקולות מחשבים כמה היא תרמה לשגיאה, הגרדיאנט</a:t>
            </a:r>
          </a:p>
        </p:txBody>
      </p:sp>
      <p:sp>
        <p:nvSpPr>
          <p:cNvPr id="42" name="Oval 41"/>
          <p:cNvSpPr/>
          <p:nvPr/>
        </p:nvSpPr>
        <p:spPr>
          <a:xfrm>
            <a:off x="5623560" y="4517136"/>
            <a:ext cx="420624" cy="420624"/>
          </a:xfrm>
          <a:prstGeom prst="ellipse">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noAutofit/>
          </a:bodyPr>
          <a:lstStyle/>
          <a:p>
            <a:pPr algn="ctr" rtl="0">
              <a:spcAft>
                <a:spcPts val="0"/>
              </a:spcAft>
              <a:buNone/>
            </a:pPr>
            <a:r>
              <a:rPr lang="he-IL" sz="1600" b="1" dirty="0">
                <a:solidFill>
                  <a:srgbClr val="FFFFFF"/>
                </a:solidFill>
                <a:latin typeface="Arial"/>
                <a:cs typeface="Arial"/>
              </a:rPr>
              <a:t>4</a:t>
            </a:r>
          </a:p>
        </p:txBody>
      </p:sp>
      <p:sp>
        <p:nvSpPr>
          <p:cNvPr id="43" name="TextBox 42"/>
          <p:cNvSpPr txBox="1"/>
          <p:nvPr/>
        </p:nvSpPr>
        <p:spPr>
          <a:xfrm>
            <a:off x="438912" y="4443983"/>
            <a:ext cx="5047488" cy="822960"/>
          </a:xfrm>
          <a:prstGeom prst="rect">
            <a:avLst/>
          </a:prstGeom>
          <a:noFill/>
        </p:spPr>
        <p:txBody>
          <a:bodyPr wrap="square" lIns="45720" tIns="27432" rIns="45720" bIns="27432" rtlCol="0" anchor="t">
            <a:noAutofit/>
          </a:bodyPr>
          <a:lstStyle/>
          <a:p>
            <a:pPr algn="r" rtl="1">
              <a:spcAft>
                <a:spcPts val="0"/>
              </a:spcAft>
              <a:buNone/>
            </a:pPr>
            <a:r>
              <a:rPr lang="he-IL" sz="1500" b="1" dirty="0">
                <a:solidFill>
                  <a:srgbClr val="1B242B"/>
                </a:solidFill>
                <a:latin typeface="Arial"/>
                <a:cs typeface="Arial"/>
              </a:rPr>
              <a:t>עדכון: </a:t>
            </a:r>
            <a:r>
              <a:rPr lang="en-US" sz="1500" b="0" dirty="0">
                <a:solidFill>
                  <a:srgbClr val="1B242B"/>
                </a:solidFill>
                <a:latin typeface="Arial"/>
                <a:cs typeface="Arial"/>
              </a:rPr>
              <a:t>AdamW</a:t>
            </a:r>
            <a:r>
              <a:rPr lang="he-IL" sz="1500" b="0" dirty="0">
                <a:solidFill>
                  <a:srgbClr val="1B242B"/>
                </a:solidFill>
                <a:latin typeface="Arial"/>
                <a:cs typeface="Arial"/>
              </a:rPr>
              <a:t>‎ מזיז כל משקולת צעד קטן בכיוון שמקטין את השגיאה (פירוט בשקופית הבאה)</a:t>
            </a:r>
          </a:p>
        </p:txBody>
      </p:sp>
      <p:sp>
        <p:nvSpPr>
          <p:cNvPr id="44" name="Rounded Rectangle 43"/>
          <p:cNvSpPr/>
          <p:nvPr/>
        </p:nvSpPr>
        <p:spPr>
          <a:xfrm>
            <a:off x="438912" y="5440680"/>
            <a:ext cx="5641848" cy="804672"/>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45" name="TextBox 44"/>
          <p:cNvSpPr txBox="1"/>
          <p:nvPr/>
        </p:nvSpPr>
        <p:spPr>
          <a:xfrm>
            <a:off x="530352" y="5440680"/>
            <a:ext cx="5458968" cy="804672"/>
          </a:xfrm>
          <a:prstGeom prst="rect">
            <a:avLst/>
          </a:prstGeom>
          <a:noFill/>
        </p:spPr>
        <p:txBody>
          <a:bodyPr wrap="square" lIns="45720" tIns="27432" rIns="45720" bIns="27432" rtlCol="0" anchor="ctr">
            <a:noAutofit/>
          </a:bodyPr>
          <a:lstStyle/>
          <a:p>
            <a:pPr algn="r" rtl="1">
              <a:spcAft>
                <a:spcPts val="0"/>
              </a:spcAft>
              <a:buNone/>
            </a:pPr>
            <a:r>
              <a:rPr lang="he-IL" sz="1400" b="1" dirty="0">
                <a:solidFill>
                  <a:srgbClr val="1B242B"/>
                </a:solidFill>
                <a:latin typeface="Arial"/>
                <a:cs typeface="Arial"/>
              </a:rPr>
              <a:t>בכל הגרסאות </a:t>
            </a:r>
            <a:r>
              <a:rPr lang="he-IL" sz="1400" b="0" dirty="0">
                <a:solidFill>
                  <a:srgbClr val="1B242B"/>
                </a:solidFill>
                <a:latin typeface="Arial"/>
                <a:cs typeface="Arial"/>
              </a:rPr>
              <a:t>כל המשקולות מתעדכנות. לא הקפאנו אף חלק, ושינינו רק את הנתונים או את ההפסד</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77295" cy="777240"/>
          </a:xfrm>
          <a:prstGeom prst="rect">
            <a:avLst/>
          </a:prstGeom>
          <a:noFill/>
        </p:spPr>
        <p:txBody>
          <a:bodyPr wrap="square" lIns="45720" rIns="45720" anchor="ctr">
            <a:spAutoFit/>
          </a:bodyPr>
          <a:lstStyle/>
          <a:p>
            <a:pPr algn="r" rtl="1">
              <a:spcAft>
                <a:spcPts val="800"/>
              </a:spcAft>
              <a:buNone/>
            </a:pPr>
            <a:r>
              <a:rPr lang="he-IL" sz="3200" b="1">
                <a:solidFill>
                  <a:srgbClr val="1F4E79"/>
                </a:solidFill>
                <a:latin typeface="Arial"/>
                <a:cs typeface="Arial"/>
              </a:rPr>
              <a:t>איך אימנו ובחרנו את המודל</a:t>
            </a:r>
          </a:p>
        </p:txBody>
      </p:sp>
      <p:sp>
        <p:nvSpPr>
          <p:cNvPr id="4" name="Rectangle 3"/>
          <p:cNvSpPr/>
          <p:nvPr/>
        </p:nvSpPr>
        <p:spPr>
          <a:xfrm>
            <a:off x="10271455" y="1051560"/>
            <a:ext cx="1463040" cy="4572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774375" y="6400800"/>
            <a:ext cx="1051560" cy="310896"/>
          </a:xfrm>
          <a:prstGeom prst="roundRect">
            <a:avLst>
              <a:gd name="adj" fmla="val 50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74375" y="6400800"/>
            <a:ext cx="1051560" cy="310896"/>
          </a:xfrm>
          <a:prstGeom prst="rect">
            <a:avLst/>
          </a:prstGeom>
          <a:noFill/>
        </p:spPr>
        <p:txBody>
          <a:bodyPr wrap="square" lIns="45720" rIns="45720" anchor="ctr">
            <a:spAutoFit/>
          </a:bodyPr>
          <a:lstStyle/>
          <a:p>
            <a:pPr algn="ctr" rtl="1">
              <a:spcAft>
                <a:spcPts val="0"/>
              </a:spcAft>
              <a:buNone/>
            </a:pPr>
            <a:r>
              <a:rPr lang="he-IL" sz="1300" b="1">
                <a:solidFill>
                  <a:srgbClr val="FFFFFF"/>
                </a:solidFill>
                <a:latin typeface="Arial"/>
                <a:cs typeface="Arial"/>
              </a:rPr>
              <a:t>עידן</a:t>
            </a:r>
          </a:p>
        </p:txBody>
      </p:sp>
      <p:sp>
        <p:nvSpPr>
          <p:cNvPr id="7" name="TextBox 6"/>
          <p:cNvSpPr txBox="1"/>
          <p:nvPr/>
        </p:nvSpPr>
        <p:spPr>
          <a:xfrm>
            <a:off x="365760" y="6400800"/>
            <a:ext cx="914400" cy="310896"/>
          </a:xfrm>
          <a:prstGeom prst="rect">
            <a:avLst/>
          </a:prstGeom>
          <a:noFill/>
        </p:spPr>
        <p:txBody>
          <a:bodyPr wrap="square" lIns="45720" rIns="45720" anchor="ctr">
            <a:spAutoFit/>
          </a:bodyPr>
          <a:lstStyle/>
          <a:p>
            <a:pPr algn="l" rtl="0">
              <a:spcAft>
                <a:spcPts val="0"/>
              </a:spcAft>
              <a:buNone/>
            </a:pPr>
            <a:r>
              <a:rPr lang="he-IL" sz="1300" b="0">
                <a:solidFill>
                  <a:srgbClr val="5A636A"/>
                </a:solidFill>
                <a:latin typeface="Arial"/>
                <a:cs typeface="Arial"/>
              </a:rPr>
              <a:t>10</a:t>
            </a:r>
          </a:p>
        </p:txBody>
      </p:sp>
      <p:sp>
        <p:nvSpPr>
          <p:cNvPr id="8" name="Rounded Rectangle 7"/>
          <p:cNvSpPr/>
          <p:nvPr/>
        </p:nvSpPr>
        <p:spPr>
          <a:xfrm>
            <a:off x="6537960" y="1325880"/>
            <a:ext cx="5193792" cy="4937760"/>
          </a:xfrm>
          <a:prstGeom prst="roundRect">
            <a:avLst>
              <a:gd name="adj" fmla="val 8000"/>
            </a:avLst>
          </a:prstGeom>
          <a:solidFill>
            <a:srgbClr val="F7F9FB"/>
          </a:solidFill>
          <a:ln w="12700">
            <a:solidFill>
              <a:srgbClr val="D6DCE1"/>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9" name="Oval 8"/>
          <p:cNvSpPr/>
          <p:nvPr/>
        </p:nvSpPr>
        <p:spPr>
          <a:xfrm>
            <a:off x="11073384" y="1490472"/>
            <a:ext cx="512064" cy="512064"/>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loop.png"/>
          <p:cNvPicPr>
            <a:picLocks noChangeAspect="1"/>
          </p:cNvPicPr>
          <p:nvPr/>
        </p:nvPicPr>
        <p:blipFill>
          <a:blip r:embed="rId3"/>
          <a:stretch>
            <a:fillRect/>
          </a:stretch>
        </p:blipFill>
        <p:spPr>
          <a:xfrm>
            <a:off x="11196279" y="1613367"/>
            <a:ext cx="266273" cy="266273"/>
          </a:xfrm>
          <a:prstGeom prst="rect">
            <a:avLst/>
          </a:prstGeom>
        </p:spPr>
      </p:pic>
      <p:sp>
        <p:nvSpPr>
          <p:cNvPr id="11" name="TextBox 10"/>
          <p:cNvSpPr txBox="1"/>
          <p:nvPr/>
        </p:nvSpPr>
        <p:spPr>
          <a:xfrm>
            <a:off x="6675120" y="1508760"/>
            <a:ext cx="4279392" cy="475488"/>
          </a:xfrm>
          <a:prstGeom prst="rect">
            <a:avLst/>
          </a:prstGeom>
          <a:noFill/>
        </p:spPr>
        <p:txBody>
          <a:bodyPr wrap="square" lIns="45720" tIns="27432" rIns="45720" bIns="27432" rtlCol="0" anchor="ctr">
            <a:noAutofit/>
          </a:bodyPr>
          <a:lstStyle/>
          <a:p>
            <a:pPr algn="r" rtl="1">
              <a:spcAft>
                <a:spcPts val="0"/>
              </a:spcAft>
              <a:buNone/>
            </a:pPr>
            <a:r>
              <a:rPr lang="he-IL" sz="1900" b="1" dirty="0">
                <a:solidFill>
                  <a:srgbClr val="2E75B6"/>
                </a:solidFill>
                <a:latin typeface="Arial"/>
                <a:cs typeface="Arial"/>
              </a:rPr>
              <a:t>מה קורה בכל </a:t>
            </a:r>
            <a:r>
              <a:rPr lang="en-US" sz="1900" b="1" dirty="0">
                <a:solidFill>
                  <a:srgbClr val="2E75B6"/>
                </a:solidFill>
                <a:latin typeface="Arial"/>
                <a:cs typeface="Arial"/>
              </a:rPr>
              <a:t>epoch</a:t>
            </a:r>
            <a:r>
              <a:rPr lang="he-IL" sz="1900" b="1" dirty="0">
                <a:solidFill>
                  <a:srgbClr val="2E75B6"/>
                </a:solidFill>
                <a:latin typeface="Arial"/>
                <a:cs typeface="Arial"/>
              </a:rPr>
              <a:t>‎</a:t>
            </a:r>
          </a:p>
        </p:txBody>
      </p:sp>
      <p:sp>
        <p:nvSpPr>
          <p:cNvPr id="12" name="Rounded Rectangle 11"/>
          <p:cNvSpPr/>
          <p:nvPr/>
        </p:nvSpPr>
        <p:spPr>
          <a:xfrm>
            <a:off x="7104888" y="2029968"/>
            <a:ext cx="4325112" cy="566928"/>
          </a:xfrm>
          <a:prstGeom prst="roundRect">
            <a:avLst>
              <a:gd name="adj" fmla="val 8000"/>
            </a:avLst>
          </a:prstGeom>
          <a:solidFill>
            <a:srgbClr val="DCEBF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13" name="TextBox 12"/>
          <p:cNvSpPr txBox="1"/>
          <p:nvPr/>
        </p:nvSpPr>
        <p:spPr>
          <a:xfrm>
            <a:off x="7178040" y="2029968"/>
            <a:ext cx="4178807" cy="566928"/>
          </a:xfrm>
          <a:prstGeom prst="rect">
            <a:avLst/>
          </a:prstGeom>
          <a:noFill/>
        </p:spPr>
        <p:txBody>
          <a:bodyPr wrap="square" lIns="45720" tIns="27432" rIns="45720" bIns="27432" rtlCol="0" anchor="ctr">
            <a:noAutofit/>
          </a:bodyPr>
          <a:lstStyle/>
          <a:p>
            <a:pPr algn="r" rtl="1">
              <a:spcAft>
                <a:spcPts val="0"/>
              </a:spcAft>
              <a:buNone/>
            </a:pPr>
            <a:r>
              <a:rPr lang="he-IL" sz="1400" b="1" dirty="0">
                <a:solidFill>
                  <a:srgbClr val="1B242B"/>
                </a:solidFill>
                <a:latin typeface="Arial"/>
                <a:cs typeface="Arial"/>
              </a:rPr>
              <a:t>אימון: </a:t>
            </a:r>
            <a:r>
              <a:rPr lang="he-IL" sz="1400" b="0" dirty="0">
                <a:solidFill>
                  <a:srgbClr val="1B242B"/>
                </a:solidFill>
                <a:latin typeface="Arial"/>
                <a:cs typeface="Arial"/>
              </a:rPr>
              <a:t>כ-3,200 עדכוני </a:t>
            </a:r>
            <a:r>
              <a:rPr lang="en-US" sz="1400" b="0" dirty="0">
                <a:solidFill>
                  <a:srgbClr val="1B242B"/>
                </a:solidFill>
                <a:latin typeface="Arial"/>
                <a:cs typeface="Arial"/>
              </a:rPr>
              <a:t>AdamW</a:t>
            </a:r>
            <a:r>
              <a:rPr lang="he-IL" sz="1400" b="0" dirty="0">
                <a:solidFill>
                  <a:srgbClr val="1B242B"/>
                </a:solidFill>
                <a:latin typeface="Arial"/>
                <a:cs typeface="Arial"/>
              </a:rPr>
              <a:t>‎ על כל הקלטות האימון</a:t>
            </a:r>
          </a:p>
        </p:txBody>
      </p:sp>
      <p:cxnSp>
        <p:nvCxnSpPr>
          <p:cNvPr id="14" name="Connector 13"/>
          <p:cNvCxnSpPr/>
          <p:nvPr/>
        </p:nvCxnSpPr>
        <p:spPr>
          <a:xfrm>
            <a:off x="9267444" y="2606040"/>
            <a:ext cx="0" cy="201168"/>
          </a:xfrm>
          <a:prstGeom prst="line">
            <a:avLst/>
          </a:prstGeom>
          <a:ln w="25400">
            <a:solidFill>
              <a:srgbClr val="2E75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104888" y="2816352"/>
            <a:ext cx="4325112" cy="566928"/>
          </a:xfrm>
          <a:prstGeom prst="roundRect">
            <a:avLst>
              <a:gd name="adj" fmla="val 8000"/>
            </a:avLst>
          </a:prstGeom>
          <a:solidFill>
            <a:srgbClr val="DCEBF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16" name="TextBox 15"/>
          <p:cNvSpPr txBox="1"/>
          <p:nvPr/>
        </p:nvSpPr>
        <p:spPr>
          <a:xfrm>
            <a:off x="7178040" y="2816352"/>
            <a:ext cx="4178807" cy="566928"/>
          </a:xfrm>
          <a:prstGeom prst="rect">
            <a:avLst/>
          </a:prstGeom>
          <a:noFill/>
        </p:spPr>
        <p:txBody>
          <a:bodyPr wrap="square" lIns="45720" tIns="27432" rIns="45720" bIns="27432" rtlCol="0" anchor="ctr">
            <a:noAutofit/>
          </a:bodyPr>
          <a:lstStyle/>
          <a:p>
            <a:pPr algn="r" rtl="1">
              <a:spcAft>
                <a:spcPts val="0"/>
              </a:spcAft>
              <a:buNone/>
            </a:pPr>
            <a:r>
              <a:rPr lang="he-IL" sz="1400" b="1" dirty="0">
                <a:solidFill>
                  <a:srgbClr val="1B242B"/>
                </a:solidFill>
                <a:latin typeface="Arial"/>
                <a:cs typeface="Arial"/>
              </a:rPr>
              <a:t>‏</a:t>
            </a:r>
            <a:r>
              <a:rPr lang="en-US" sz="1400" b="1" dirty="0">
                <a:solidFill>
                  <a:srgbClr val="1B242B"/>
                </a:solidFill>
                <a:latin typeface="Arial"/>
                <a:cs typeface="Arial"/>
              </a:rPr>
              <a:t>validation: </a:t>
            </a:r>
            <a:r>
              <a:rPr lang="en-US" sz="1400" b="0" dirty="0">
                <a:solidFill>
                  <a:srgbClr val="1B242B"/>
                </a:solidFill>
                <a:latin typeface="Arial"/>
                <a:cs typeface="Arial"/>
              </a:rPr>
              <a:t>PESQ</a:t>
            </a:r>
            <a:r>
              <a:rPr lang="he-IL" sz="1400" b="0" dirty="0">
                <a:solidFill>
                  <a:srgbClr val="1B242B"/>
                </a:solidFill>
                <a:latin typeface="Arial"/>
                <a:cs typeface="Arial"/>
              </a:rPr>
              <a:t>‎ על 200 קבצים של 3 דוברים שלא נראו באימון</a:t>
            </a:r>
          </a:p>
        </p:txBody>
      </p:sp>
      <p:cxnSp>
        <p:nvCxnSpPr>
          <p:cNvPr id="17" name="Connector 16"/>
          <p:cNvCxnSpPr/>
          <p:nvPr/>
        </p:nvCxnSpPr>
        <p:spPr>
          <a:xfrm>
            <a:off x="9267444" y="3392424"/>
            <a:ext cx="0" cy="201168"/>
          </a:xfrm>
          <a:prstGeom prst="line">
            <a:avLst/>
          </a:prstGeom>
          <a:ln w="25400">
            <a:solidFill>
              <a:srgbClr val="2E75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104888" y="3602736"/>
            <a:ext cx="4325112" cy="566928"/>
          </a:xfrm>
          <a:prstGeom prst="roundRect">
            <a:avLst>
              <a:gd name="adj" fmla="val 8000"/>
            </a:avLst>
          </a:prstGeom>
          <a:solidFill>
            <a:srgbClr val="DCEBF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19" name="TextBox 18"/>
          <p:cNvSpPr txBox="1"/>
          <p:nvPr/>
        </p:nvSpPr>
        <p:spPr>
          <a:xfrm>
            <a:off x="7178040" y="3602736"/>
            <a:ext cx="4178807" cy="566928"/>
          </a:xfrm>
          <a:prstGeom prst="rect">
            <a:avLst/>
          </a:prstGeom>
          <a:noFill/>
        </p:spPr>
        <p:txBody>
          <a:bodyPr wrap="square" lIns="45720" tIns="27432" rIns="45720" bIns="27432" rtlCol="0" anchor="ctr">
            <a:noAutofit/>
          </a:bodyPr>
          <a:lstStyle/>
          <a:p>
            <a:pPr algn="r" rtl="1">
              <a:spcAft>
                <a:spcPts val="0"/>
              </a:spcAft>
              <a:buNone/>
            </a:pPr>
            <a:r>
              <a:rPr lang="he-IL" sz="1400" b="1" dirty="0">
                <a:solidFill>
                  <a:srgbClr val="1B242B"/>
                </a:solidFill>
                <a:latin typeface="Arial"/>
                <a:cs typeface="Arial"/>
              </a:rPr>
              <a:t>שמירה: </a:t>
            </a:r>
            <a:r>
              <a:rPr lang="he-IL" sz="1400" b="0" dirty="0">
                <a:solidFill>
                  <a:srgbClr val="1B242B"/>
                </a:solidFill>
                <a:latin typeface="Arial"/>
                <a:cs typeface="Arial"/>
              </a:rPr>
              <a:t>נשמר ה-</a:t>
            </a:r>
            <a:r>
              <a:rPr lang="en-US" sz="1400" b="0" dirty="0">
                <a:solidFill>
                  <a:srgbClr val="1B242B"/>
                </a:solidFill>
                <a:latin typeface="Arial"/>
                <a:cs typeface="Arial"/>
              </a:rPr>
              <a:t>epoch</a:t>
            </a:r>
            <a:r>
              <a:rPr lang="he-IL" sz="1400" b="0" dirty="0">
                <a:solidFill>
                  <a:srgbClr val="1B242B"/>
                </a:solidFill>
                <a:latin typeface="Arial"/>
                <a:cs typeface="Arial"/>
              </a:rPr>
              <a:t>‎ עם ה-</a:t>
            </a:r>
            <a:r>
              <a:rPr lang="en-US" sz="1400" b="0" dirty="0">
                <a:solidFill>
                  <a:srgbClr val="1B242B"/>
                </a:solidFill>
                <a:latin typeface="Arial"/>
                <a:cs typeface="Arial"/>
              </a:rPr>
              <a:t>PESQ</a:t>
            </a:r>
            <a:r>
              <a:rPr lang="he-IL" sz="1400" b="0" dirty="0">
                <a:solidFill>
                  <a:srgbClr val="1B242B"/>
                </a:solidFill>
                <a:latin typeface="Arial"/>
                <a:cs typeface="Arial"/>
              </a:rPr>
              <a:t>‎ הגבוה ביותר, לא האחרון</a:t>
            </a:r>
          </a:p>
        </p:txBody>
      </p:sp>
      <p:cxnSp>
        <p:nvCxnSpPr>
          <p:cNvPr id="20" name="Connector 19"/>
          <p:cNvCxnSpPr/>
          <p:nvPr/>
        </p:nvCxnSpPr>
        <p:spPr>
          <a:xfrm>
            <a:off x="9267444" y="4178808"/>
            <a:ext cx="0" cy="201168"/>
          </a:xfrm>
          <a:prstGeom prst="line">
            <a:avLst/>
          </a:prstGeom>
          <a:ln w="25400">
            <a:solidFill>
              <a:srgbClr val="2E75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104888" y="4389120"/>
            <a:ext cx="4325112" cy="566928"/>
          </a:xfrm>
          <a:prstGeom prst="roundRect">
            <a:avLst>
              <a:gd name="adj" fmla="val 8000"/>
            </a:avLst>
          </a:prstGeom>
          <a:solidFill>
            <a:srgbClr val="DCEBF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22" name="TextBox 21"/>
          <p:cNvSpPr txBox="1"/>
          <p:nvPr/>
        </p:nvSpPr>
        <p:spPr>
          <a:xfrm>
            <a:off x="7178040" y="4389120"/>
            <a:ext cx="4178807" cy="566928"/>
          </a:xfrm>
          <a:prstGeom prst="rect">
            <a:avLst/>
          </a:prstGeom>
          <a:noFill/>
        </p:spPr>
        <p:txBody>
          <a:bodyPr wrap="square" lIns="45720" tIns="27432" rIns="45720" bIns="27432" rtlCol="0" anchor="ctr">
            <a:noAutofit/>
          </a:bodyPr>
          <a:lstStyle/>
          <a:p>
            <a:pPr algn="r" rtl="1">
              <a:spcAft>
                <a:spcPts val="0"/>
              </a:spcAft>
              <a:buNone/>
            </a:pPr>
            <a:r>
              <a:rPr lang="he-IL" sz="1400" b="1" dirty="0">
                <a:solidFill>
                  <a:srgbClr val="1B242B"/>
                </a:solidFill>
                <a:latin typeface="Arial"/>
                <a:cs typeface="Arial"/>
              </a:rPr>
              <a:t>קצב למידה: </a:t>
            </a:r>
            <a:r>
              <a:rPr lang="he-IL" sz="1400" b="0" dirty="0">
                <a:solidFill>
                  <a:srgbClr val="1B242B"/>
                </a:solidFill>
                <a:latin typeface="Arial"/>
                <a:cs typeface="Arial"/>
              </a:rPr>
              <a:t>אין שיפור 3 </a:t>
            </a:r>
            <a:r>
              <a:rPr lang="en-US" sz="1400" b="0" dirty="0">
                <a:solidFill>
                  <a:srgbClr val="1B242B"/>
                </a:solidFill>
                <a:latin typeface="Arial"/>
                <a:cs typeface="Arial"/>
              </a:rPr>
              <a:t>epochs</a:t>
            </a:r>
            <a:r>
              <a:rPr lang="he-IL" sz="1400" b="0" dirty="0">
                <a:solidFill>
                  <a:srgbClr val="1B242B"/>
                </a:solidFill>
                <a:latin typeface="Arial"/>
                <a:cs typeface="Arial"/>
              </a:rPr>
              <a:t>‎? קצב הלמידה יורד פי 2</a:t>
            </a:r>
          </a:p>
        </p:txBody>
      </p:sp>
      <p:cxnSp>
        <p:nvCxnSpPr>
          <p:cNvPr id="23" name="Connector 22"/>
          <p:cNvCxnSpPr/>
          <p:nvPr/>
        </p:nvCxnSpPr>
        <p:spPr>
          <a:xfrm flipH="1">
            <a:off x="6830568" y="4672584"/>
            <a:ext cx="265176" cy="0"/>
          </a:xfrm>
          <a:prstGeom prst="line">
            <a:avLst/>
          </a:prstGeom>
          <a:ln w="25400">
            <a:solidFill>
              <a:srgbClr val="2E75B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6830568" y="2313432"/>
            <a:ext cx="0" cy="2359152"/>
          </a:xfrm>
          <a:prstGeom prst="line">
            <a:avLst/>
          </a:prstGeom>
          <a:ln w="25400">
            <a:solidFill>
              <a:srgbClr val="2E75B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830568" y="2313432"/>
            <a:ext cx="265176" cy="0"/>
          </a:xfrm>
          <a:prstGeom prst="line">
            <a:avLst/>
          </a:prstGeom>
          <a:ln w="25400">
            <a:solidFill>
              <a:srgbClr val="2E75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766560" y="5257800"/>
            <a:ext cx="4736592" cy="86868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27" name="Oval 26"/>
          <p:cNvSpPr/>
          <p:nvPr/>
        </p:nvSpPr>
        <p:spPr>
          <a:xfrm>
            <a:off x="10972800" y="5422392"/>
            <a:ext cx="475488" cy="475488"/>
          </a:xfrm>
          <a:prstGeom prst="ellipse">
            <a:avLst/>
          </a:prstGeom>
          <a:solidFill>
            <a:srgbClr val="BF9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final.png"/>
          <p:cNvPicPr>
            <a:picLocks noChangeAspect="1"/>
          </p:cNvPicPr>
          <p:nvPr/>
        </p:nvPicPr>
        <p:blipFill>
          <a:blip r:embed="rId4"/>
          <a:stretch>
            <a:fillRect/>
          </a:stretch>
        </p:blipFill>
        <p:spPr>
          <a:xfrm>
            <a:off x="11086917" y="5536509"/>
            <a:ext cx="247253" cy="247253"/>
          </a:xfrm>
          <a:prstGeom prst="rect">
            <a:avLst/>
          </a:prstGeom>
        </p:spPr>
      </p:pic>
      <p:sp>
        <p:nvSpPr>
          <p:cNvPr id="29" name="TextBox 28"/>
          <p:cNvSpPr txBox="1"/>
          <p:nvPr/>
        </p:nvSpPr>
        <p:spPr>
          <a:xfrm>
            <a:off x="6858000" y="5257800"/>
            <a:ext cx="4005072" cy="868680"/>
          </a:xfrm>
          <a:prstGeom prst="rect">
            <a:avLst/>
          </a:prstGeom>
          <a:noFill/>
        </p:spPr>
        <p:txBody>
          <a:bodyPr wrap="square" lIns="45720" tIns="27432" rIns="45720" bIns="27432" rtlCol="0" anchor="ctr">
            <a:noAutofit/>
          </a:bodyPr>
          <a:lstStyle/>
          <a:p>
            <a:pPr algn="r" rtl="1">
              <a:spcAft>
                <a:spcPts val="0"/>
              </a:spcAft>
              <a:buNone/>
            </a:pPr>
            <a:r>
              <a:rPr lang="he-IL" sz="1400" b="1" dirty="0">
                <a:solidFill>
                  <a:srgbClr val="1B242B"/>
                </a:solidFill>
                <a:latin typeface="Arial"/>
                <a:cs typeface="Arial"/>
              </a:rPr>
              <a:t>סט הבדיקה (824): </a:t>
            </a:r>
            <a:r>
              <a:rPr lang="he-IL" sz="1400" b="0" dirty="0">
                <a:solidFill>
                  <a:srgbClr val="1B242B"/>
                </a:solidFill>
                <a:latin typeface="Arial"/>
                <a:cs typeface="Arial"/>
              </a:rPr>
              <a:t>נבדק פעם אחת בסוף, רק ה-</a:t>
            </a:r>
            <a:r>
              <a:rPr lang="en-US" sz="1400" b="0" dirty="0">
                <a:solidFill>
                  <a:srgbClr val="1B242B"/>
                </a:solidFill>
                <a:latin typeface="Arial"/>
                <a:cs typeface="Arial"/>
              </a:rPr>
              <a:t>epoch</a:t>
            </a:r>
            <a:r>
              <a:rPr lang="he-IL" sz="1400" b="0" dirty="0">
                <a:solidFill>
                  <a:srgbClr val="1B242B"/>
                </a:solidFill>
                <a:latin typeface="Arial"/>
                <a:cs typeface="Arial"/>
              </a:rPr>
              <a:t>‎ שנבחר</a:t>
            </a:r>
          </a:p>
        </p:txBody>
      </p:sp>
      <p:sp>
        <p:nvSpPr>
          <p:cNvPr id="30" name="Rounded Rectangle 29"/>
          <p:cNvSpPr/>
          <p:nvPr/>
        </p:nvSpPr>
        <p:spPr>
          <a:xfrm>
            <a:off x="438912" y="1325880"/>
            <a:ext cx="5870448" cy="3246120"/>
          </a:xfrm>
          <a:prstGeom prst="roundRect">
            <a:avLst>
              <a:gd name="adj" fmla="val 8000"/>
            </a:avLst>
          </a:prstGeom>
          <a:solidFill>
            <a:srgbClr val="EDE4F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31" name="Oval 30"/>
          <p:cNvSpPr/>
          <p:nvPr/>
        </p:nvSpPr>
        <p:spPr>
          <a:xfrm>
            <a:off x="5650992" y="1490472"/>
            <a:ext cx="512064" cy="512064"/>
          </a:xfrm>
          <a:prstGeom prst="ellipse">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scale.png"/>
          <p:cNvPicPr>
            <a:picLocks noChangeAspect="1"/>
          </p:cNvPicPr>
          <p:nvPr/>
        </p:nvPicPr>
        <p:blipFill>
          <a:blip r:embed="rId5"/>
          <a:stretch>
            <a:fillRect/>
          </a:stretch>
        </p:blipFill>
        <p:spPr>
          <a:xfrm>
            <a:off x="5773887" y="1613367"/>
            <a:ext cx="266273" cy="266273"/>
          </a:xfrm>
          <a:prstGeom prst="rect">
            <a:avLst/>
          </a:prstGeom>
        </p:spPr>
      </p:pic>
      <p:sp>
        <p:nvSpPr>
          <p:cNvPr id="33" name="TextBox 32"/>
          <p:cNvSpPr txBox="1"/>
          <p:nvPr/>
        </p:nvSpPr>
        <p:spPr>
          <a:xfrm>
            <a:off x="576072" y="1508760"/>
            <a:ext cx="4956048" cy="475488"/>
          </a:xfrm>
          <a:prstGeom prst="rect">
            <a:avLst/>
          </a:prstGeom>
          <a:noFill/>
        </p:spPr>
        <p:txBody>
          <a:bodyPr wrap="square" lIns="45720" tIns="27432" rIns="45720" bIns="27432" rtlCol="0" anchor="ctr">
            <a:noAutofit/>
          </a:bodyPr>
          <a:lstStyle/>
          <a:p>
            <a:pPr algn="r" rtl="1">
              <a:spcAft>
                <a:spcPts val="0"/>
              </a:spcAft>
              <a:buNone/>
            </a:pPr>
            <a:r>
              <a:rPr lang="he-IL" sz="1900" b="1" dirty="0">
                <a:solidFill>
                  <a:srgbClr val="7030A0"/>
                </a:solidFill>
                <a:latin typeface="Arial"/>
                <a:cs typeface="Arial"/>
              </a:rPr>
              <a:t>‏</a:t>
            </a:r>
            <a:r>
              <a:rPr lang="en-US" sz="1900" b="1" dirty="0">
                <a:solidFill>
                  <a:srgbClr val="7030A0"/>
                </a:solidFill>
                <a:latin typeface="Arial"/>
                <a:cs typeface="Arial"/>
              </a:rPr>
              <a:t>AdamW</a:t>
            </a:r>
            <a:r>
              <a:rPr lang="he-IL" sz="1900" b="1" dirty="0">
                <a:solidFill>
                  <a:srgbClr val="7030A0"/>
                </a:solidFill>
                <a:latin typeface="Arial"/>
                <a:cs typeface="Arial"/>
              </a:rPr>
              <a:t>‎: איך כל משקולת זזה</a:t>
            </a:r>
          </a:p>
        </p:txBody>
      </p:sp>
      <p:sp>
        <p:nvSpPr>
          <p:cNvPr id="34" name="TextBox 33"/>
          <p:cNvSpPr txBox="1"/>
          <p:nvPr/>
        </p:nvSpPr>
        <p:spPr>
          <a:xfrm>
            <a:off x="621792" y="2011680"/>
            <a:ext cx="5504688" cy="1783080"/>
          </a:xfrm>
          <a:prstGeom prst="rect">
            <a:avLst/>
          </a:prstGeom>
          <a:noFill/>
        </p:spPr>
        <p:txBody>
          <a:bodyPr wrap="square" lIns="45720" tIns="27432" rIns="45720" bIns="27432" rtlCol="0" anchor="t">
            <a:noAutofit/>
          </a:bodyPr>
          <a:lstStyle/>
          <a:p>
            <a:pPr marL="256032" indent="-256032" algn="r" rtl="1">
              <a:spcAft>
                <a:spcPts val="500"/>
              </a:spcAft>
              <a:buFont typeface="Arial"/>
              <a:buChar char="•"/>
            </a:pPr>
            <a:r>
              <a:rPr lang="he-IL" sz="1400" b="0" dirty="0">
                <a:solidFill>
                  <a:srgbClr val="1B242B"/>
                </a:solidFill>
                <a:latin typeface="Arial"/>
                <a:cs typeface="Arial"/>
              </a:rPr>
              <a:t>לכל משקולת ממוצע נע של הגרדיאנטים שלה, כדי לא לקפוץ בגלל </a:t>
            </a:r>
            <a:r>
              <a:rPr lang="en-US" sz="1400" b="0" dirty="0">
                <a:solidFill>
                  <a:srgbClr val="1B242B"/>
                </a:solidFill>
                <a:latin typeface="Arial"/>
                <a:cs typeface="Arial"/>
              </a:rPr>
              <a:t>batch</a:t>
            </a:r>
            <a:r>
              <a:rPr lang="he-IL" sz="1400" b="0" dirty="0">
                <a:solidFill>
                  <a:srgbClr val="1B242B"/>
                </a:solidFill>
                <a:latin typeface="Arial"/>
                <a:cs typeface="Arial"/>
              </a:rPr>
              <a:t>‎ אחד</a:t>
            </a:r>
          </a:p>
          <a:p>
            <a:pPr marL="256032" indent="-256032" algn="r" rtl="1">
              <a:spcAft>
                <a:spcPts val="500"/>
              </a:spcAft>
              <a:buFont typeface="Arial"/>
              <a:buChar char="•"/>
            </a:pPr>
            <a:r>
              <a:rPr lang="he-IL" sz="1400" b="0" dirty="0">
                <a:solidFill>
                  <a:srgbClr val="1B242B"/>
                </a:solidFill>
                <a:latin typeface="Arial"/>
                <a:cs typeface="Arial"/>
              </a:rPr>
              <a:t>גודל הצעד מותאם לכל משקולת, לפי עוצמת הגרדיאנטים שלה</a:t>
            </a:r>
          </a:p>
          <a:p>
            <a:pPr marL="256032" indent="-256032" algn="r" rtl="1">
              <a:spcAft>
                <a:spcPts val="500"/>
              </a:spcAft>
              <a:buFont typeface="Arial"/>
              <a:buChar char="•"/>
            </a:pPr>
            <a:r>
              <a:rPr lang="he-IL" sz="1400" b="0" dirty="0">
                <a:solidFill>
                  <a:srgbClr val="1B242B"/>
                </a:solidFill>
                <a:latin typeface="Arial"/>
                <a:cs typeface="Arial"/>
              </a:rPr>
              <a:t>‏</a:t>
            </a:r>
            <a:r>
              <a:rPr lang="en-US" sz="1400" b="0" dirty="0">
                <a:solidFill>
                  <a:srgbClr val="1B242B"/>
                </a:solidFill>
                <a:latin typeface="Arial"/>
                <a:cs typeface="Arial"/>
              </a:rPr>
              <a:t>weight decay</a:t>
            </a:r>
            <a:r>
              <a:rPr lang="he-IL" sz="1400" b="0" dirty="0">
                <a:solidFill>
                  <a:srgbClr val="1B242B"/>
                </a:solidFill>
                <a:latin typeface="Arial"/>
                <a:cs typeface="Arial"/>
              </a:rPr>
              <a:t>‎ של 0.01 מקטין משקולות, בנפרד מהגרדיאנט</a:t>
            </a:r>
          </a:p>
          <a:p>
            <a:pPr marL="256032" indent="-256032" algn="r" rtl="1">
              <a:spcAft>
                <a:spcPts val="0"/>
              </a:spcAft>
              <a:buFont typeface="Arial"/>
              <a:buChar char="•"/>
            </a:pPr>
            <a:r>
              <a:rPr lang="he-IL" sz="1400" b="0" dirty="0">
                <a:solidFill>
                  <a:srgbClr val="1B242B"/>
                </a:solidFill>
                <a:latin typeface="Arial"/>
                <a:cs typeface="Arial"/>
              </a:rPr>
              <a:t>חיתוך גרדיאנט בנורמה 5 נגד קפיצות של ה-</a:t>
            </a:r>
            <a:r>
              <a:rPr lang="en-US" sz="1400" b="0" dirty="0">
                <a:solidFill>
                  <a:srgbClr val="1B242B"/>
                </a:solidFill>
                <a:latin typeface="Arial"/>
                <a:cs typeface="Arial"/>
              </a:rPr>
              <a:t>Attention</a:t>
            </a:r>
            <a:r>
              <a:rPr lang="he-IL" sz="1400" b="0" dirty="0">
                <a:solidFill>
                  <a:srgbClr val="1B242B"/>
                </a:solidFill>
                <a:latin typeface="Arial"/>
                <a:cs typeface="Arial"/>
              </a:rPr>
              <a:t>‎ וה-</a:t>
            </a:r>
            <a:r>
              <a:rPr lang="en-US" sz="1400" b="0" dirty="0">
                <a:solidFill>
                  <a:srgbClr val="1B242B"/>
                </a:solidFill>
                <a:latin typeface="Arial"/>
                <a:cs typeface="Arial"/>
              </a:rPr>
              <a:t>GRU</a:t>
            </a:r>
            <a:r>
              <a:rPr lang="he-IL" sz="1400" b="0" dirty="0">
                <a:solidFill>
                  <a:srgbClr val="1B242B"/>
                </a:solidFill>
                <a:latin typeface="Arial"/>
                <a:cs typeface="Arial"/>
              </a:rPr>
              <a:t>‎</a:t>
            </a:r>
          </a:p>
        </p:txBody>
      </p:sp>
      <p:sp>
        <p:nvSpPr>
          <p:cNvPr id="35" name="Rounded Rectangle 34"/>
          <p:cNvSpPr/>
          <p:nvPr/>
        </p:nvSpPr>
        <p:spPr>
          <a:xfrm>
            <a:off x="758952" y="3383280"/>
            <a:ext cx="5230368" cy="786384"/>
          </a:xfrm>
          <a:prstGeom prst="roundRect">
            <a:avLst>
              <a:gd name="adj" fmla="val 8000"/>
            </a:avLst>
          </a:prstGeom>
          <a:solidFill>
            <a:srgbClr val="FFFFFF"/>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37" name="TextBox 36"/>
          <p:cNvSpPr txBox="1"/>
          <p:nvPr/>
        </p:nvSpPr>
        <p:spPr>
          <a:xfrm>
            <a:off x="621792" y="4187952"/>
            <a:ext cx="5504688" cy="384048"/>
          </a:xfrm>
          <a:prstGeom prst="rect">
            <a:avLst/>
          </a:prstGeom>
          <a:noFill/>
        </p:spPr>
        <p:txBody>
          <a:bodyPr wrap="square" lIns="45720" tIns="27432" rIns="45720" bIns="27432" rtlCol="0" anchor="ctr">
            <a:noAutofit/>
          </a:bodyPr>
          <a:lstStyle/>
          <a:p>
            <a:pPr algn="ctr" rtl="1">
              <a:spcAft>
                <a:spcPts val="0"/>
              </a:spcAft>
              <a:buNone/>
            </a:pPr>
            <a:r>
              <a:rPr lang="he-IL" sz="1100" b="0" dirty="0">
                <a:solidFill>
                  <a:srgbClr val="5A636A"/>
                </a:solidFill>
                <a:latin typeface="Arial"/>
                <a:cs typeface="Arial"/>
              </a:rPr>
              <a:t>קצב הלמידה η: 0.0005 בהתחלה, ו-0.00025 בנקודת ההמשך</a:t>
            </a:r>
          </a:p>
          <a:p>
            <a:pPr algn="ctr" rtl="1">
              <a:spcAft>
                <a:spcPts val="0"/>
              </a:spcAft>
              <a:buNone/>
            </a:pPr>
            <a:r>
              <a:rPr lang="he-IL" sz="1100" b="0" dirty="0">
                <a:solidFill>
                  <a:srgbClr val="5A636A"/>
                </a:solidFill>
                <a:latin typeface="Arial"/>
                <a:cs typeface="Arial"/>
              </a:rPr>
              <a:t>כאשר λ = 0.01‎, ו-m̂‎ ו-v̂‎ הם הממוצעים אחרי תיקון הטיה</a:t>
            </a:r>
          </a:p>
        </p:txBody>
      </p:sp>
      <p:sp>
        <p:nvSpPr>
          <p:cNvPr id="38" name="Rounded Rectangle 37"/>
          <p:cNvSpPr/>
          <p:nvPr/>
        </p:nvSpPr>
        <p:spPr>
          <a:xfrm>
            <a:off x="438912" y="4754880"/>
            <a:ext cx="5870448" cy="1508760"/>
          </a:xfrm>
          <a:prstGeom prst="roundRect">
            <a:avLst>
              <a:gd name="adj" fmla="val 8000"/>
            </a:avLst>
          </a:prstGeom>
          <a:solidFill>
            <a:srgbClr val="DCEBF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39" name="Oval 38"/>
          <p:cNvSpPr/>
          <p:nvPr/>
        </p:nvSpPr>
        <p:spPr>
          <a:xfrm>
            <a:off x="5623560" y="5257800"/>
            <a:ext cx="502920" cy="50292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Picture 39" descr="flag.png"/>
          <p:cNvPicPr>
            <a:picLocks noChangeAspect="1"/>
          </p:cNvPicPr>
          <p:nvPr/>
        </p:nvPicPr>
        <p:blipFill>
          <a:blip r:embed="rId6"/>
          <a:stretch>
            <a:fillRect/>
          </a:stretch>
        </p:blipFill>
        <p:spPr>
          <a:xfrm>
            <a:off x="5744260" y="5378500"/>
            <a:ext cx="261518" cy="261518"/>
          </a:xfrm>
          <a:prstGeom prst="rect">
            <a:avLst/>
          </a:prstGeom>
        </p:spPr>
      </p:pic>
      <p:sp>
        <p:nvSpPr>
          <p:cNvPr id="41" name="TextBox 40"/>
          <p:cNvSpPr txBox="1"/>
          <p:nvPr/>
        </p:nvSpPr>
        <p:spPr>
          <a:xfrm>
            <a:off x="576072" y="4800600"/>
            <a:ext cx="4956048" cy="1417320"/>
          </a:xfrm>
          <a:prstGeom prst="rect">
            <a:avLst/>
          </a:prstGeom>
          <a:noFill/>
        </p:spPr>
        <p:txBody>
          <a:bodyPr wrap="square" lIns="45720" tIns="27432" rIns="45720" bIns="27432" rtlCol="0" anchor="ctr">
            <a:noAutofit/>
          </a:bodyPr>
          <a:lstStyle/>
          <a:p>
            <a:pPr algn="r" rtl="1">
              <a:spcAft>
                <a:spcPts val="300"/>
              </a:spcAft>
              <a:buNone/>
            </a:pPr>
            <a:r>
              <a:rPr lang="he-IL" sz="1500" b="1" dirty="0">
                <a:solidFill>
                  <a:srgbClr val="1F4E79"/>
                </a:solidFill>
                <a:latin typeface="Arial"/>
                <a:cs typeface="Arial"/>
              </a:rPr>
              <a:t>המשך מ-</a:t>
            </a:r>
            <a:r>
              <a:rPr lang="en-US" sz="1500" b="1" dirty="0">
                <a:solidFill>
                  <a:srgbClr val="1F4E79"/>
                </a:solidFill>
                <a:latin typeface="Arial"/>
                <a:cs typeface="Arial"/>
              </a:rPr>
              <a:t>epoch 16</a:t>
            </a:r>
            <a:r>
              <a:rPr lang="he-IL" sz="1500" b="1" dirty="0">
                <a:solidFill>
                  <a:srgbClr val="1F4E79"/>
                </a:solidFill>
                <a:latin typeface="Arial"/>
                <a:cs typeface="Arial"/>
              </a:rPr>
              <a:t>‎</a:t>
            </a:r>
          </a:p>
          <a:p>
            <a:pPr algn="r" rtl="1">
              <a:spcAft>
                <a:spcPts val="0"/>
              </a:spcAft>
              <a:buNone/>
            </a:pPr>
            <a:r>
              <a:rPr lang="he-IL" sz="1300" b="0" dirty="0">
                <a:solidFill>
                  <a:srgbClr val="1B242B"/>
                </a:solidFill>
                <a:latin typeface="Arial"/>
                <a:cs typeface="Arial"/>
              </a:rPr>
              <a:t>כל גרסה שחזרה את המשקולות וגם את מצב </a:t>
            </a:r>
            <a:r>
              <a:rPr lang="en-US" sz="1300" b="0" dirty="0">
                <a:solidFill>
                  <a:srgbClr val="1B242B"/>
                </a:solidFill>
                <a:latin typeface="Arial"/>
                <a:cs typeface="Arial"/>
              </a:rPr>
              <a:t>AdamW (m, v)</a:t>
            </a:r>
            <a:r>
              <a:rPr lang="he-IL" sz="1300" b="0" dirty="0">
                <a:solidFill>
                  <a:srgbClr val="1B242B"/>
                </a:solidFill>
                <a:latin typeface="Arial"/>
                <a:cs typeface="Arial"/>
              </a:rPr>
              <a:t>‎ וקצב הלמידה, כך שהאימון ממשיך ולא מתחיל מחדש</a:t>
            </a:r>
          </a:p>
        </p:txBody>
      </p:sp>
      <p:pic>
        <p:nvPicPr>
          <p:cNvPr id="42" name="Picture 41" descr="adamw.png"/>
          <p:cNvPicPr>
            <a:picLocks noChangeAspect="1"/>
          </p:cNvPicPr>
          <p:nvPr/>
        </p:nvPicPr>
        <p:blipFill>
          <a:blip r:embed="rId7"/>
          <a:stretch>
            <a:fillRect/>
          </a:stretch>
        </p:blipFill>
        <p:spPr>
          <a:xfrm>
            <a:off x="1214070" y="3474720"/>
            <a:ext cx="4320133" cy="60350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77295" cy="777240"/>
          </a:xfrm>
          <a:prstGeom prst="rect">
            <a:avLst/>
          </a:prstGeom>
          <a:noFill/>
        </p:spPr>
        <p:txBody>
          <a:bodyPr wrap="square" lIns="45720" rIns="45720" anchor="ctr">
            <a:spAutoFit/>
          </a:bodyPr>
          <a:lstStyle/>
          <a:p>
            <a:pPr algn="r" rtl="1">
              <a:spcAft>
                <a:spcPts val="800"/>
              </a:spcAft>
              <a:buNone/>
            </a:pPr>
            <a:r>
              <a:rPr lang="he-IL" sz="3200" b="1">
                <a:solidFill>
                  <a:srgbClr val="1F4E79"/>
                </a:solidFill>
                <a:latin typeface="Arial"/>
                <a:cs typeface="Arial"/>
              </a:rPr>
              <a:t>שלוש גרסאות אימון מאותה נקודת התחלה</a:t>
            </a:r>
          </a:p>
        </p:txBody>
      </p:sp>
      <p:sp>
        <p:nvSpPr>
          <p:cNvPr id="4" name="Rectangle 3"/>
          <p:cNvSpPr/>
          <p:nvPr/>
        </p:nvSpPr>
        <p:spPr>
          <a:xfrm>
            <a:off x="10271455" y="1051560"/>
            <a:ext cx="1463040" cy="4572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774375" y="6400800"/>
            <a:ext cx="1051560" cy="310896"/>
          </a:xfrm>
          <a:prstGeom prst="roundRect">
            <a:avLst>
              <a:gd name="adj" fmla="val 50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74375" y="6400800"/>
            <a:ext cx="1051560" cy="310896"/>
          </a:xfrm>
          <a:prstGeom prst="rect">
            <a:avLst/>
          </a:prstGeom>
          <a:noFill/>
        </p:spPr>
        <p:txBody>
          <a:bodyPr wrap="square" lIns="45720" rIns="45720" anchor="ctr">
            <a:spAutoFit/>
          </a:bodyPr>
          <a:lstStyle/>
          <a:p>
            <a:pPr algn="ctr" rtl="1">
              <a:spcAft>
                <a:spcPts val="0"/>
              </a:spcAft>
              <a:buNone/>
            </a:pPr>
            <a:r>
              <a:rPr lang="he-IL" sz="1300" b="1">
                <a:solidFill>
                  <a:srgbClr val="FFFFFF"/>
                </a:solidFill>
                <a:latin typeface="Arial"/>
                <a:cs typeface="Arial"/>
              </a:rPr>
              <a:t>עידן</a:t>
            </a:r>
          </a:p>
        </p:txBody>
      </p:sp>
      <p:sp>
        <p:nvSpPr>
          <p:cNvPr id="7" name="TextBox 6"/>
          <p:cNvSpPr txBox="1"/>
          <p:nvPr/>
        </p:nvSpPr>
        <p:spPr>
          <a:xfrm>
            <a:off x="365760" y="6400800"/>
            <a:ext cx="914400" cy="310896"/>
          </a:xfrm>
          <a:prstGeom prst="rect">
            <a:avLst/>
          </a:prstGeom>
          <a:noFill/>
        </p:spPr>
        <p:txBody>
          <a:bodyPr wrap="square" lIns="45720" rIns="45720" anchor="ctr">
            <a:spAutoFit/>
          </a:bodyPr>
          <a:lstStyle/>
          <a:p>
            <a:pPr algn="l" rtl="0">
              <a:spcAft>
                <a:spcPts val="0"/>
              </a:spcAft>
              <a:buNone/>
            </a:pPr>
            <a:r>
              <a:rPr lang="he-IL" sz="1300" b="0">
                <a:solidFill>
                  <a:srgbClr val="5A636A"/>
                </a:solidFill>
                <a:latin typeface="Arial"/>
                <a:cs typeface="Arial"/>
              </a:rPr>
              <a:t>11</a:t>
            </a:r>
          </a:p>
        </p:txBody>
      </p:sp>
      <p:sp>
        <p:nvSpPr>
          <p:cNvPr id="8" name="Rounded Rectangle 7"/>
          <p:cNvSpPr/>
          <p:nvPr/>
        </p:nvSpPr>
        <p:spPr>
          <a:xfrm>
            <a:off x="9235440" y="2103120"/>
            <a:ext cx="2496312" cy="2377440"/>
          </a:xfrm>
          <a:prstGeom prst="roundRect">
            <a:avLst>
              <a:gd name="adj" fmla="val 8000"/>
            </a:avLst>
          </a:prstGeom>
          <a:solidFill>
            <a:srgbClr val="EEF1F4"/>
          </a:solidFill>
          <a:ln w="22225">
            <a:solidFill>
              <a:srgbClr val="1B242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9" name="TextBox 8"/>
          <p:cNvSpPr txBox="1"/>
          <p:nvPr/>
        </p:nvSpPr>
        <p:spPr>
          <a:xfrm>
            <a:off x="9281160" y="2148840"/>
            <a:ext cx="2404872" cy="2286000"/>
          </a:xfrm>
          <a:prstGeom prst="rect">
            <a:avLst/>
          </a:prstGeom>
          <a:noFill/>
        </p:spPr>
        <p:txBody>
          <a:bodyPr wrap="square" lIns="45720" tIns="27432" rIns="45720" bIns="27432" rtlCol="0" anchor="ctr">
            <a:noAutofit/>
          </a:bodyPr>
          <a:lstStyle/>
          <a:p>
            <a:pPr algn="ctr" rtl="0">
              <a:spcAft>
                <a:spcPts val="400"/>
              </a:spcAft>
              <a:buNone/>
            </a:pPr>
            <a:r>
              <a:rPr lang="he-IL" sz="2400" b="1" dirty="0">
                <a:solidFill>
                  <a:srgbClr val="1B242B"/>
                </a:solidFill>
                <a:latin typeface="Arial"/>
                <a:cs typeface="Arial"/>
              </a:rPr>
              <a:t>baseline</a:t>
            </a:r>
          </a:p>
          <a:p>
            <a:pPr algn="ctr" rtl="1">
              <a:spcAft>
                <a:spcPts val="200"/>
              </a:spcAft>
              <a:buNone/>
            </a:pPr>
            <a:r>
              <a:rPr lang="he-IL" sz="1400" b="0" dirty="0">
                <a:solidFill>
                  <a:srgbClr val="1B242B"/>
                </a:solidFill>
                <a:latin typeface="Arial"/>
                <a:cs typeface="Arial"/>
              </a:rPr>
              <a:t>‏16 </a:t>
            </a:r>
            <a:r>
              <a:rPr lang="en-US" sz="1400" b="0" dirty="0">
                <a:solidFill>
                  <a:srgbClr val="1B242B"/>
                </a:solidFill>
                <a:latin typeface="Arial"/>
                <a:cs typeface="Arial"/>
              </a:rPr>
              <a:t>epochs</a:t>
            </a:r>
            <a:r>
              <a:rPr lang="he-IL" sz="1400" b="0" dirty="0">
                <a:solidFill>
                  <a:srgbClr val="1B242B"/>
                </a:solidFill>
                <a:latin typeface="Arial"/>
                <a:cs typeface="Arial"/>
              </a:rPr>
              <a:t>‎, כ-10.6 שעות</a:t>
            </a:r>
          </a:p>
          <a:p>
            <a:pPr algn="ctr" rtl="1">
              <a:spcAft>
                <a:spcPts val="200"/>
              </a:spcAft>
              <a:buNone/>
            </a:pPr>
            <a:r>
              <a:rPr lang="he-IL" sz="1400" b="0" dirty="0">
                <a:solidFill>
                  <a:srgbClr val="1B242B"/>
                </a:solidFill>
                <a:latin typeface="Arial"/>
                <a:cs typeface="Arial"/>
              </a:rPr>
              <a:t>נבחר </a:t>
            </a:r>
            <a:r>
              <a:rPr lang="en-US" sz="1400" b="0" dirty="0">
                <a:solidFill>
                  <a:srgbClr val="1B242B"/>
                </a:solidFill>
                <a:latin typeface="Arial"/>
                <a:cs typeface="Arial"/>
              </a:rPr>
              <a:t>epoch 15</a:t>
            </a:r>
            <a:r>
              <a:rPr lang="he-IL" sz="1400" b="0" dirty="0">
                <a:solidFill>
                  <a:srgbClr val="1B242B"/>
                </a:solidFill>
                <a:latin typeface="Arial"/>
                <a:cs typeface="Arial"/>
              </a:rPr>
              <a:t>‎</a:t>
            </a:r>
          </a:p>
          <a:p>
            <a:pPr algn="ctr" rtl="0">
              <a:spcAft>
                <a:spcPts val="600"/>
              </a:spcAft>
              <a:buNone/>
            </a:pPr>
            <a:r>
              <a:rPr lang="he-IL" sz="1400" b="0" dirty="0">
                <a:solidFill>
                  <a:srgbClr val="1B242B"/>
                </a:solidFill>
                <a:latin typeface="Arial"/>
                <a:cs typeface="Arial"/>
              </a:rPr>
              <a:t>validation PESQ 2.800</a:t>
            </a:r>
          </a:p>
          <a:p>
            <a:pPr algn="ctr" rtl="1">
              <a:spcAft>
                <a:spcPts val="0"/>
              </a:spcAft>
              <a:buNone/>
            </a:pPr>
            <a:r>
              <a:rPr lang="he-IL" sz="1300" b="1" dirty="0">
                <a:solidFill>
                  <a:srgbClr val="1F4E79"/>
                </a:solidFill>
                <a:latin typeface="Arial"/>
                <a:cs typeface="Arial"/>
              </a:rPr>
              <a:t>ממשיכים מסוף </a:t>
            </a:r>
            <a:r>
              <a:rPr lang="en-US" sz="1300" b="1" dirty="0">
                <a:solidFill>
                  <a:srgbClr val="1F4E79"/>
                </a:solidFill>
                <a:latin typeface="Arial"/>
                <a:cs typeface="Arial"/>
              </a:rPr>
              <a:t>epoch 16</a:t>
            </a:r>
            <a:r>
              <a:rPr lang="he-IL" sz="1300" b="1" dirty="0">
                <a:solidFill>
                  <a:srgbClr val="1F4E79"/>
                </a:solidFill>
                <a:latin typeface="Arial"/>
                <a:cs typeface="Arial"/>
              </a:rPr>
              <a:t>‎</a:t>
            </a:r>
          </a:p>
        </p:txBody>
      </p:sp>
      <p:sp>
        <p:nvSpPr>
          <p:cNvPr id="10" name="Rounded Rectangle 9"/>
          <p:cNvSpPr/>
          <p:nvPr/>
        </p:nvSpPr>
        <p:spPr>
          <a:xfrm>
            <a:off x="3931920" y="1325880"/>
            <a:ext cx="4526280" cy="1463040"/>
          </a:xfrm>
          <a:prstGeom prst="roundRect">
            <a:avLst>
              <a:gd name="adj" fmla="val 8000"/>
            </a:avLst>
          </a:prstGeom>
          <a:solidFill>
            <a:srgbClr val="DCEBF7"/>
          </a:solidFill>
          <a:ln w="22225">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11" name="Oval 10"/>
          <p:cNvSpPr/>
          <p:nvPr/>
        </p:nvSpPr>
        <p:spPr>
          <a:xfrm>
            <a:off x="7863840" y="1463039"/>
            <a:ext cx="457200" cy="45720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clock.png"/>
          <p:cNvPicPr>
            <a:picLocks noChangeAspect="1"/>
          </p:cNvPicPr>
          <p:nvPr/>
        </p:nvPicPr>
        <p:blipFill>
          <a:blip r:embed="rId3"/>
          <a:stretch>
            <a:fillRect/>
          </a:stretch>
        </p:blipFill>
        <p:spPr>
          <a:xfrm>
            <a:off x="7973567" y="1572767"/>
            <a:ext cx="237744" cy="237744"/>
          </a:xfrm>
          <a:prstGeom prst="rect">
            <a:avLst/>
          </a:prstGeom>
        </p:spPr>
      </p:pic>
      <p:sp>
        <p:nvSpPr>
          <p:cNvPr id="13" name="TextBox 12"/>
          <p:cNvSpPr txBox="1"/>
          <p:nvPr/>
        </p:nvSpPr>
        <p:spPr>
          <a:xfrm>
            <a:off x="4023360" y="1417320"/>
            <a:ext cx="3749039" cy="457200"/>
          </a:xfrm>
          <a:prstGeom prst="rect">
            <a:avLst/>
          </a:prstGeom>
          <a:noFill/>
        </p:spPr>
        <p:txBody>
          <a:bodyPr wrap="square" lIns="45720" tIns="27432" rIns="45720" bIns="27432" rtlCol="0" anchor="ctr">
            <a:noAutofit/>
          </a:bodyPr>
          <a:lstStyle/>
          <a:p>
            <a:pPr algn="r" rtl="1">
              <a:spcAft>
                <a:spcPts val="0"/>
              </a:spcAft>
              <a:buNone/>
            </a:pPr>
            <a:r>
              <a:rPr lang="he-IL" sz="1900" b="1" dirty="0">
                <a:solidFill>
                  <a:srgbClr val="2E75B6"/>
                </a:solidFill>
                <a:latin typeface="Arial"/>
                <a:cs typeface="Arial"/>
              </a:rPr>
              <a:t>גרסה 1: המשך אימון</a:t>
            </a:r>
          </a:p>
        </p:txBody>
      </p:sp>
      <p:sp>
        <p:nvSpPr>
          <p:cNvPr id="14" name="TextBox 13"/>
          <p:cNvSpPr txBox="1"/>
          <p:nvPr/>
        </p:nvSpPr>
        <p:spPr>
          <a:xfrm>
            <a:off x="4023360" y="1929384"/>
            <a:ext cx="4343400" cy="822960"/>
          </a:xfrm>
          <a:prstGeom prst="rect">
            <a:avLst/>
          </a:prstGeom>
          <a:noFill/>
        </p:spPr>
        <p:txBody>
          <a:bodyPr wrap="square" lIns="45720" tIns="27432" rIns="45720" bIns="27432" rtlCol="0" anchor="t">
            <a:noAutofit/>
          </a:bodyPr>
          <a:lstStyle/>
          <a:p>
            <a:pPr algn="r" rtl="1">
              <a:spcAft>
                <a:spcPts val="300"/>
              </a:spcAft>
              <a:buNone/>
            </a:pPr>
            <a:r>
              <a:rPr lang="he-IL" sz="1400" b="1" dirty="0">
                <a:solidFill>
                  <a:srgbClr val="1B242B"/>
                </a:solidFill>
                <a:latin typeface="Arial"/>
                <a:cs typeface="Arial"/>
              </a:rPr>
              <a:t>השאלה: </a:t>
            </a:r>
            <a:r>
              <a:rPr lang="he-IL" sz="1400" b="0" dirty="0">
                <a:solidFill>
                  <a:srgbClr val="1B242B"/>
                </a:solidFill>
                <a:latin typeface="Arial"/>
                <a:cs typeface="Arial"/>
              </a:rPr>
              <a:t>האם המודל פשוט לא סיים ללמוד?</a:t>
            </a:r>
          </a:p>
          <a:p>
            <a:pPr algn="r" rtl="1">
              <a:spcAft>
                <a:spcPts val="0"/>
              </a:spcAft>
              <a:buNone/>
            </a:pPr>
            <a:r>
              <a:rPr lang="he-IL" sz="1400" b="1" dirty="0">
                <a:solidFill>
                  <a:srgbClr val="1B242B"/>
                </a:solidFill>
                <a:latin typeface="Arial"/>
                <a:cs typeface="Arial"/>
              </a:rPr>
              <a:t>השינוי: </a:t>
            </a:r>
            <a:r>
              <a:rPr lang="he-IL" sz="1400" b="0" dirty="0">
                <a:solidFill>
                  <a:srgbClr val="1B242B"/>
                </a:solidFill>
                <a:latin typeface="Arial"/>
                <a:cs typeface="Arial"/>
              </a:rPr>
              <a:t>עוד 8 </a:t>
            </a:r>
            <a:r>
              <a:rPr lang="en-US" sz="1400" b="0" dirty="0">
                <a:solidFill>
                  <a:srgbClr val="1B242B"/>
                </a:solidFill>
                <a:latin typeface="Arial"/>
                <a:cs typeface="Arial"/>
              </a:rPr>
              <a:t>epochs</a:t>
            </a:r>
            <a:r>
              <a:rPr lang="he-IL" sz="1400" b="0" dirty="0">
                <a:solidFill>
                  <a:srgbClr val="1B242B"/>
                </a:solidFill>
                <a:latin typeface="Arial"/>
                <a:cs typeface="Arial"/>
              </a:rPr>
              <a:t>‎ על אותם נתונים</a:t>
            </a:r>
          </a:p>
        </p:txBody>
      </p:sp>
      <p:cxnSp>
        <p:nvCxnSpPr>
          <p:cNvPr id="15" name="Connector 14"/>
          <p:cNvCxnSpPr/>
          <p:nvPr/>
        </p:nvCxnSpPr>
        <p:spPr>
          <a:xfrm flipH="1" flipV="1">
            <a:off x="8476488" y="2057400"/>
            <a:ext cx="758952" cy="1234440"/>
          </a:xfrm>
          <a:prstGeom prst="line">
            <a:avLst/>
          </a:prstGeom>
          <a:ln w="28575">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931920" y="2990088"/>
            <a:ext cx="4526280" cy="1463040"/>
          </a:xfrm>
          <a:prstGeom prst="roundRect">
            <a:avLst>
              <a:gd name="adj" fmla="val 8000"/>
            </a:avLst>
          </a:prstGeom>
          <a:solidFill>
            <a:srgbClr val="E2F0D9"/>
          </a:solidFill>
          <a:ln w="22225">
            <a:solidFill>
              <a:srgbClr val="54823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17" name="Oval 16"/>
          <p:cNvSpPr/>
          <p:nvPr/>
        </p:nvSpPr>
        <p:spPr>
          <a:xfrm>
            <a:off x="7863840" y="3127248"/>
            <a:ext cx="457200" cy="457200"/>
          </a:xfrm>
          <a:prstGeom prst="ellipse">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data.png"/>
          <p:cNvPicPr>
            <a:picLocks noChangeAspect="1"/>
          </p:cNvPicPr>
          <p:nvPr/>
        </p:nvPicPr>
        <p:blipFill>
          <a:blip r:embed="rId4"/>
          <a:stretch>
            <a:fillRect/>
          </a:stretch>
        </p:blipFill>
        <p:spPr>
          <a:xfrm>
            <a:off x="7973567" y="3236976"/>
            <a:ext cx="237744" cy="237744"/>
          </a:xfrm>
          <a:prstGeom prst="rect">
            <a:avLst/>
          </a:prstGeom>
        </p:spPr>
      </p:pic>
      <p:sp>
        <p:nvSpPr>
          <p:cNvPr id="19" name="TextBox 18"/>
          <p:cNvSpPr txBox="1"/>
          <p:nvPr/>
        </p:nvSpPr>
        <p:spPr>
          <a:xfrm>
            <a:off x="4023360" y="3081528"/>
            <a:ext cx="3749039" cy="457200"/>
          </a:xfrm>
          <a:prstGeom prst="rect">
            <a:avLst/>
          </a:prstGeom>
          <a:noFill/>
        </p:spPr>
        <p:txBody>
          <a:bodyPr wrap="square" lIns="45720" tIns="27432" rIns="45720" bIns="27432" rtlCol="0" anchor="ctr">
            <a:noAutofit/>
          </a:bodyPr>
          <a:lstStyle/>
          <a:p>
            <a:pPr algn="r" rtl="1">
              <a:spcAft>
                <a:spcPts val="0"/>
              </a:spcAft>
              <a:buNone/>
            </a:pPr>
            <a:r>
              <a:rPr lang="he-IL" sz="1900" b="1" dirty="0">
                <a:solidFill>
                  <a:srgbClr val="548235"/>
                </a:solidFill>
                <a:latin typeface="Arial"/>
                <a:cs typeface="Arial"/>
              </a:rPr>
              <a:t>גרסה 2: נתונים נוספים</a:t>
            </a:r>
          </a:p>
        </p:txBody>
      </p:sp>
      <p:sp>
        <p:nvSpPr>
          <p:cNvPr id="20" name="TextBox 19"/>
          <p:cNvSpPr txBox="1"/>
          <p:nvPr/>
        </p:nvSpPr>
        <p:spPr>
          <a:xfrm>
            <a:off x="4023360" y="3593592"/>
            <a:ext cx="4343400" cy="822960"/>
          </a:xfrm>
          <a:prstGeom prst="rect">
            <a:avLst/>
          </a:prstGeom>
          <a:noFill/>
        </p:spPr>
        <p:txBody>
          <a:bodyPr wrap="square" lIns="45720" tIns="27432" rIns="45720" bIns="27432" rtlCol="0" anchor="t">
            <a:noAutofit/>
          </a:bodyPr>
          <a:lstStyle/>
          <a:p>
            <a:pPr algn="r" rtl="1">
              <a:spcAft>
                <a:spcPts val="300"/>
              </a:spcAft>
              <a:buNone/>
            </a:pPr>
            <a:r>
              <a:rPr lang="he-IL" sz="1400" b="1" dirty="0">
                <a:solidFill>
                  <a:srgbClr val="1B242B"/>
                </a:solidFill>
                <a:latin typeface="Arial"/>
                <a:cs typeface="Arial"/>
              </a:rPr>
              <a:t>השאלה: </a:t>
            </a:r>
            <a:r>
              <a:rPr lang="he-IL" sz="1400" b="0" dirty="0">
                <a:solidFill>
                  <a:srgbClr val="1B242B"/>
                </a:solidFill>
                <a:latin typeface="Arial"/>
                <a:cs typeface="Arial"/>
              </a:rPr>
              <a:t>האם חסר לו גיוון של קולות ומשפטים?</a:t>
            </a:r>
          </a:p>
          <a:p>
            <a:pPr algn="r" rtl="1">
              <a:spcAft>
                <a:spcPts val="0"/>
              </a:spcAft>
              <a:buNone/>
            </a:pPr>
            <a:r>
              <a:rPr lang="he-IL" sz="1400" b="1" dirty="0">
                <a:solidFill>
                  <a:srgbClr val="1B242B"/>
                </a:solidFill>
                <a:latin typeface="Arial"/>
                <a:cs typeface="Arial"/>
              </a:rPr>
              <a:t>השינוי: </a:t>
            </a:r>
            <a:r>
              <a:rPr lang="he-IL" sz="1400" b="0" dirty="0">
                <a:solidFill>
                  <a:srgbClr val="1B242B"/>
                </a:solidFill>
                <a:latin typeface="Arial"/>
                <a:cs typeface="Arial"/>
              </a:rPr>
              <a:t>מוסיפים את גרסת 56 הדוברים, פי 3 גיוון</a:t>
            </a:r>
          </a:p>
        </p:txBody>
      </p:sp>
      <p:cxnSp>
        <p:nvCxnSpPr>
          <p:cNvPr id="21" name="Connector 20"/>
          <p:cNvCxnSpPr/>
          <p:nvPr/>
        </p:nvCxnSpPr>
        <p:spPr>
          <a:xfrm flipH="1">
            <a:off x="8476488" y="3291840"/>
            <a:ext cx="758952" cy="429768"/>
          </a:xfrm>
          <a:prstGeom prst="line">
            <a:avLst/>
          </a:prstGeom>
          <a:ln w="28575">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931920" y="4654296"/>
            <a:ext cx="4526280" cy="1463040"/>
          </a:xfrm>
          <a:prstGeom prst="roundRect">
            <a:avLst>
              <a:gd name="adj" fmla="val 8000"/>
            </a:avLst>
          </a:prstGeom>
          <a:solidFill>
            <a:srgbClr val="FBE5D6"/>
          </a:solidFill>
          <a:ln w="2222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23" name="Oval 22"/>
          <p:cNvSpPr/>
          <p:nvPr/>
        </p:nvSpPr>
        <p:spPr>
          <a:xfrm>
            <a:off x="7863840" y="4791456"/>
            <a:ext cx="457200" cy="45720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target.png"/>
          <p:cNvPicPr>
            <a:picLocks noChangeAspect="1"/>
          </p:cNvPicPr>
          <p:nvPr/>
        </p:nvPicPr>
        <p:blipFill>
          <a:blip r:embed="rId5"/>
          <a:stretch>
            <a:fillRect/>
          </a:stretch>
        </p:blipFill>
        <p:spPr>
          <a:xfrm>
            <a:off x="7973567" y="4901184"/>
            <a:ext cx="237744" cy="237744"/>
          </a:xfrm>
          <a:prstGeom prst="rect">
            <a:avLst/>
          </a:prstGeom>
        </p:spPr>
      </p:pic>
      <p:sp>
        <p:nvSpPr>
          <p:cNvPr id="25" name="TextBox 24"/>
          <p:cNvSpPr txBox="1"/>
          <p:nvPr/>
        </p:nvSpPr>
        <p:spPr>
          <a:xfrm>
            <a:off x="4023360" y="4745736"/>
            <a:ext cx="3749039" cy="457200"/>
          </a:xfrm>
          <a:prstGeom prst="rect">
            <a:avLst/>
          </a:prstGeom>
          <a:noFill/>
        </p:spPr>
        <p:txBody>
          <a:bodyPr wrap="square" lIns="45720" tIns="27432" rIns="45720" bIns="27432" rtlCol="0" anchor="ctr">
            <a:noAutofit/>
          </a:bodyPr>
          <a:lstStyle/>
          <a:p>
            <a:pPr algn="r" rtl="1">
              <a:spcAft>
                <a:spcPts val="0"/>
              </a:spcAft>
              <a:buNone/>
            </a:pPr>
            <a:r>
              <a:rPr lang="he-IL" sz="1900" b="1" dirty="0">
                <a:solidFill>
                  <a:srgbClr val="C55A11"/>
                </a:solidFill>
                <a:latin typeface="Arial"/>
                <a:cs typeface="Arial"/>
              </a:rPr>
              <a:t>גרסה 3: נתונים נוספים ו-</a:t>
            </a:r>
            <a:r>
              <a:rPr lang="en-US" sz="1900" b="1" dirty="0">
                <a:solidFill>
                  <a:srgbClr val="C55A11"/>
                </a:solidFill>
                <a:latin typeface="Arial"/>
                <a:cs typeface="Arial"/>
              </a:rPr>
              <a:t>L1</a:t>
            </a:r>
            <a:r>
              <a:rPr lang="he-IL" sz="1900" b="1" dirty="0">
                <a:solidFill>
                  <a:srgbClr val="C55A11"/>
                </a:solidFill>
                <a:latin typeface="Arial"/>
                <a:cs typeface="Arial"/>
              </a:rPr>
              <a:t>‎</a:t>
            </a:r>
          </a:p>
        </p:txBody>
      </p:sp>
      <p:sp>
        <p:nvSpPr>
          <p:cNvPr id="26" name="TextBox 25"/>
          <p:cNvSpPr txBox="1"/>
          <p:nvPr/>
        </p:nvSpPr>
        <p:spPr>
          <a:xfrm>
            <a:off x="4023360" y="5257800"/>
            <a:ext cx="4343400" cy="822960"/>
          </a:xfrm>
          <a:prstGeom prst="rect">
            <a:avLst/>
          </a:prstGeom>
          <a:noFill/>
        </p:spPr>
        <p:txBody>
          <a:bodyPr wrap="square" lIns="45720" tIns="27432" rIns="45720" bIns="27432" rtlCol="0" anchor="t">
            <a:noAutofit/>
          </a:bodyPr>
          <a:lstStyle/>
          <a:p>
            <a:pPr algn="r" rtl="1">
              <a:spcAft>
                <a:spcPts val="300"/>
              </a:spcAft>
              <a:buNone/>
            </a:pPr>
            <a:r>
              <a:rPr lang="he-IL" sz="1400" b="1" dirty="0">
                <a:solidFill>
                  <a:srgbClr val="1B242B"/>
                </a:solidFill>
                <a:latin typeface="Arial"/>
                <a:cs typeface="Arial"/>
              </a:rPr>
              <a:t>השאלה: </a:t>
            </a:r>
            <a:r>
              <a:rPr lang="he-IL" sz="1400" b="0" dirty="0">
                <a:solidFill>
                  <a:srgbClr val="1B242B"/>
                </a:solidFill>
                <a:latin typeface="Arial"/>
                <a:cs typeface="Arial"/>
              </a:rPr>
              <a:t>האם הוא מתאמן על המטרה הנכונה?</a:t>
            </a:r>
          </a:p>
          <a:p>
            <a:pPr algn="r" rtl="1">
              <a:spcAft>
                <a:spcPts val="0"/>
              </a:spcAft>
              <a:buNone/>
            </a:pPr>
            <a:r>
              <a:rPr lang="he-IL" sz="1400" b="1" dirty="0">
                <a:solidFill>
                  <a:srgbClr val="1B242B"/>
                </a:solidFill>
                <a:latin typeface="Arial"/>
                <a:cs typeface="Arial"/>
              </a:rPr>
              <a:t>השינוי: </a:t>
            </a:r>
            <a:r>
              <a:rPr lang="en-US" sz="1400" b="0" dirty="0">
                <a:solidFill>
                  <a:srgbClr val="1B242B"/>
                </a:solidFill>
                <a:latin typeface="Arial"/>
                <a:cs typeface="Arial"/>
              </a:rPr>
              <a:t>L1</a:t>
            </a:r>
            <a:r>
              <a:rPr lang="he-IL" sz="1400" b="0" dirty="0">
                <a:solidFill>
                  <a:srgbClr val="1B242B"/>
                </a:solidFill>
                <a:latin typeface="Arial"/>
                <a:cs typeface="Arial"/>
              </a:rPr>
              <a:t>‎ במקום </a:t>
            </a:r>
            <a:r>
              <a:rPr lang="en-US" sz="1400" b="0" dirty="0">
                <a:solidFill>
                  <a:srgbClr val="1B242B"/>
                </a:solidFill>
                <a:latin typeface="Arial"/>
                <a:cs typeface="Arial"/>
              </a:rPr>
              <a:t>MSE</a:t>
            </a:r>
            <a:r>
              <a:rPr lang="he-IL" sz="1400" b="0" dirty="0">
                <a:solidFill>
                  <a:srgbClr val="1B242B"/>
                </a:solidFill>
                <a:latin typeface="Arial"/>
                <a:cs typeface="Arial"/>
              </a:rPr>
              <a:t>‎ בשני איברי ההפסד</a:t>
            </a:r>
          </a:p>
        </p:txBody>
      </p:sp>
      <p:cxnSp>
        <p:nvCxnSpPr>
          <p:cNvPr id="27" name="Connector 26"/>
          <p:cNvCxnSpPr/>
          <p:nvPr/>
        </p:nvCxnSpPr>
        <p:spPr>
          <a:xfrm flipH="1">
            <a:off x="8476488" y="3291840"/>
            <a:ext cx="758952" cy="2093976"/>
          </a:xfrm>
          <a:prstGeom prst="line">
            <a:avLst/>
          </a:prstGeom>
          <a:ln w="28575">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1325880"/>
            <a:ext cx="3154680" cy="365760"/>
          </a:xfrm>
          <a:prstGeom prst="rect">
            <a:avLst/>
          </a:prstGeom>
          <a:noFill/>
        </p:spPr>
        <p:txBody>
          <a:bodyPr wrap="square" lIns="45720" tIns="27432" rIns="45720" bIns="27432" rtlCol="0" anchor="t">
            <a:noAutofit/>
          </a:bodyPr>
          <a:lstStyle/>
          <a:p>
            <a:pPr algn="r" rtl="1">
              <a:spcAft>
                <a:spcPts val="0"/>
              </a:spcAft>
              <a:buNone/>
            </a:pPr>
            <a:r>
              <a:rPr lang="he-IL" sz="1500" b="1" dirty="0">
                <a:solidFill>
                  <a:srgbClr val="1B242B"/>
                </a:solidFill>
                <a:latin typeface="Arial"/>
                <a:cs typeface="Arial"/>
              </a:rPr>
              <a:t>כל גרסה מוסיפה שינוי אחד</a:t>
            </a:r>
          </a:p>
        </p:txBody>
      </p:sp>
      <p:graphicFrame>
        <p:nvGraphicFramePr>
          <p:cNvPr id="29" name="Table 28"/>
          <p:cNvGraphicFramePr>
            <a:graphicFrameLocks noGrp="1"/>
          </p:cNvGraphicFramePr>
          <p:nvPr/>
        </p:nvGraphicFramePr>
        <p:xfrm>
          <a:off x="457200" y="1783080"/>
          <a:ext cx="3154680" cy="1828800"/>
        </p:xfrm>
        <a:graphic>
          <a:graphicData uri="http://schemas.openxmlformats.org/drawingml/2006/table">
            <a:tbl>
              <a:tblPr rtl="1" firstRow="1">
                <a:tableStyleId>{5C22544A-7EE6-4342-B048-85BDC9FD1C3A}</a:tableStyleId>
              </a:tblPr>
              <a:tblGrid>
                <a:gridCol w="9601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457200">
                <a:tc>
                  <a:txBody>
                    <a:bodyPr/>
                    <a:lstStyle/>
                    <a:p>
                      <a:pPr algn="r" rtl="1">
                        <a:spcAft>
                          <a:spcPts val="0"/>
                        </a:spcAft>
                        <a:buNone/>
                      </a:pPr>
                      <a:endParaRPr/>
                    </a:p>
                  </a:txBody>
                  <a:tcPr marL="54864" marR="54864" marT="27432" marB="27432" anchor="ctr">
                    <a:solidFill>
                      <a:srgbClr val="1F4E79"/>
                    </a:solidFill>
                  </a:tcPr>
                </a:tc>
                <a:tc>
                  <a:txBody>
                    <a:bodyPr/>
                    <a:lstStyle/>
                    <a:p>
                      <a:pPr algn="ctr" rtl="1">
                        <a:spcAft>
                          <a:spcPts val="0"/>
                        </a:spcAft>
                        <a:buNone/>
                      </a:pPr>
                      <a:r>
                        <a:rPr lang="he-IL" sz="1300" b="1" dirty="0">
                          <a:solidFill>
                            <a:srgbClr val="FFFFFF"/>
                          </a:solidFill>
                          <a:latin typeface="Arial"/>
                          <a:cs typeface="Arial"/>
                        </a:rPr>
                        <a:t>גרסה 1</a:t>
                      </a:r>
                    </a:p>
                  </a:txBody>
                  <a:tcPr marL="54864" marR="54864" marT="27432" marB="27432" anchor="ctr">
                    <a:solidFill>
                      <a:srgbClr val="1F4E79"/>
                    </a:solidFill>
                  </a:tcPr>
                </a:tc>
                <a:tc>
                  <a:txBody>
                    <a:bodyPr/>
                    <a:lstStyle/>
                    <a:p>
                      <a:pPr algn="ctr" rtl="1">
                        <a:spcAft>
                          <a:spcPts val="0"/>
                        </a:spcAft>
                        <a:buNone/>
                      </a:pPr>
                      <a:r>
                        <a:rPr lang="he-IL" sz="1300" b="1" dirty="0">
                          <a:solidFill>
                            <a:srgbClr val="FFFFFF"/>
                          </a:solidFill>
                          <a:latin typeface="Arial"/>
                          <a:cs typeface="Arial"/>
                        </a:rPr>
                        <a:t>גרסה 2</a:t>
                      </a:r>
                    </a:p>
                  </a:txBody>
                  <a:tcPr marL="54864" marR="54864" marT="27432" marB="27432" anchor="ctr">
                    <a:solidFill>
                      <a:srgbClr val="1F4E79"/>
                    </a:solidFill>
                  </a:tcPr>
                </a:tc>
                <a:tc>
                  <a:txBody>
                    <a:bodyPr/>
                    <a:lstStyle/>
                    <a:p>
                      <a:pPr algn="ctr" rtl="1">
                        <a:spcAft>
                          <a:spcPts val="0"/>
                        </a:spcAft>
                        <a:buNone/>
                      </a:pPr>
                      <a:r>
                        <a:rPr lang="he-IL" sz="1300" b="1" dirty="0">
                          <a:solidFill>
                            <a:srgbClr val="FFFFFF"/>
                          </a:solidFill>
                          <a:latin typeface="Arial"/>
                          <a:cs typeface="Arial"/>
                        </a:rPr>
                        <a:t>גרסה 3</a:t>
                      </a:r>
                    </a:p>
                  </a:txBody>
                  <a:tcPr marL="54864" marR="54864" marT="27432" marB="27432" anchor="ctr">
                    <a:solidFill>
                      <a:srgbClr val="1F4E79"/>
                    </a:solidFill>
                  </a:tcPr>
                </a:tc>
                <a:extLst>
                  <a:ext uri="{0D108BD9-81ED-4DB2-BD59-A6C34878D82A}">
                    <a16:rowId xmlns:a16="http://schemas.microsoft.com/office/drawing/2014/main" val="10000"/>
                  </a:ext>
                </a:extLst>
              </a:tr>
              <a:tr h="457200">
                <a:tc>
                  <a:txBody>
                    <a:bodyPr/>
                    <a:lstStyle/>
                    <a:p>
                      <a:pPr algn="r" rtl="1">
                        <a:spcAft>
                          <a:spcPts val="0"/>
                        </a:spcAft>
                        <a:buNone/>
                      </a:pPr>
                      <a:r>
                        <a:rPr lang="he-IL" sz="1300" b="1" dirty="0">
                          <a:solidFill>
                            <a:srgbClr val="1B242B"/>
                          </a:solidFill>
                          <a:latin typeface="Arial"/>
                          <a:cs typeface="Arial"/>
                        </a:rPr>
                        <a:t>עוד זמן</a:t>
                      </a:r>
                    </a:p>
                  </a:txBody>
                  <a:tcPr marL="54864" marR="54864" marT="27432" marB="27432" anchor="ctr">
                    <a:solidFill>
                      <a:srgbClr val="F7F9FB"/>
                    </a:solidFill>
                  </a:tcPr>
                </a:tc>
                <a:tc>
                  <a:txBody>
                    <a:bodyPr/>
                    <a:lstStyle/>
                    <a:p>
                      <a:pPr algn="ctr" rtl="1">
                        <a:spcAft>
                          <a:spcPts val="0"/>
                        </a:spcAft>
                        <a:buNone/>
                      </a:pPr>
                      <a:r>
                        <a:rPr lang="he-IL" sz="1300" b="0" dirty="0">
                          <a:solidFill>
                            <a:srgbClr val="1B242B"/>
                          </a:solidFill>
                          <a:latin typeface="Arial"/>
                          <a:cs typeface="Arial"/>
                        </a:rPr>
                        <a:t>✓</a:t>
                      </a:r>
                    </a:p>
                  </a:txBody>
                  <a:tcPr marL="54864" marR="54864" marT="27432" marB="27432" anchor="ctr">
                    <a:solidFill>
                      <a:srgbClr val="F7F9FB"/>
                    </a:solidFill>
                  </a:tcPr>
                </a:tc>
                <a:tc>
                  <a:txBody>
                    <a:bodyPr/>
                    <a:lstStyle/>
                    <a:p>
                      <a:pPr algn="ctr" rtl="1">
                        <a:spcAft>
                          <a:spcPts val="0"/>
                        </a:spcAft>
                        <a:buNone/>
                      </a:pPr>
                      <a:r>
                        <a:rPr lang="he-IL" sz="1300" b="0" dirty="0">
                          <a:solidFill>
                            <a:srgbClr val="1B242B"/>
                          </a:solidFill>
                          <a:latin typeface="Arial"/>
                          <a:cs typeface="Arial"/>
                        </a:rPr>
                        <a:t>✓</a:t>
                      </a:r>
                    </a:p>
                  </a:txBody>
                  <a:tcPr marL="54864" marR="54864" marT="27432" marB="27432" anchor="ctr">
                    <a:solidFill>
                      <a:srgbClr val="F7F9FB"/>
                    </a:solidFill>
                  </a:tcPr>
                </a:tc>
                <a:tc>
                  <a:txBody>
                    <a:bodyPr/>
                    <a:lstStyle/>
                    <a:p>
                      <a:pPr algn="ctr" rtl="1">
                        <a:spcAft>
                          <a:spcPts val="0"/>
                        </a:spcAft>
                        <a:buNone/>
                      </a:pPr>
                      <a:r>
                        <a:rPr lang="he-IL" sz="1300" b="0" dirty="0">
                          <a:solidFill>
                            <a:srgbClr val="1B242B"/>
                          </a:solidFill>
                          <a:latin typeface="Arial"/>
                          <a:cs typeface="Arial"/>
                        </a:rPr>
                        <a:t>✓</a:t>
                      </a:r>
                    </a:p>
                  </a:txBody>
                  <a:tcPr marL="54864" marR="54864" marT="27432" marB="27432" anchor="ctr">
                    <a:solidFill>
                      <a:srgbClr val="F7F9FB"/>
                    </a:solidFill>
                  </a:tcPr>
                </a:tc>
                <a:extLst>
                  <a:ext uri="{0D108BD9-81ED-4DB2-BD59-A6C34878D82A}">
                    <a16:rowId xmlns:a16="http://schemas.microsoft.com/office/drawing/2014/main" val="10001"/>
                  </a:ext>
                </a:extLst>
              </a:tr>
              <a:tr h="457200">
                <a:tc>
                  <a:txBody>
                    <a:bodyPr/>
                    <a:lstStyle/>
                    <a:p>
                      <a:pPr algn="r" rtl="1">
                        <a:spcAft>
                          <a:spcPts val="0"/>
                        </a:spcAft>
                        <a:buNone/>
                      </a:pPr>
                      <a:r>
                        <a:rPr lang="he-IL" sz="1300" b="1" dirty="0">
                          <a:solidFill>
                            <a:srgbClr val="1B242B"/>
                          </a:solidFill>
                          <a:latin typeface="Arial"/>
                          <a:cs typeface="Arial"/>
                        </a:rPr>
                        <a:t>עוד נתונים</a:t>
                      </a:r>
                    </a:p>
                  </a:txBody>
                  <a:tcPr marL="54864" marR="54864" marT="27432" marB="27432" anchor="ctr">
                    <a:solidFill>
                      <a:srgbClr val="FFFFFF"/>
                    </a:solidFill>
                  </a:tcPr>
                </a:tc>
                <a:tc>
                  <a:txBody>
                    <a:bodyPr/>
                    <a:lstStyle/>
                    <a:p>
                      <a:pPr algn="ctr" rtl="1">
                        <a:spcAft>
                          <a:spcPts val="0"/>
                        </a:spcAft>
                        <a:buNone/>
                      </a:pPr>
                      <a:endParaRPr/>
                    </a:p>
                  </a:txBody>
                  <a:tcPr marL="54864" marR="54864" marT="27432" marB="27432" anchor="ctr">
                    <a:solidFill>
                      <a:srgbClr val="FFFFFF"/>
                    </a:solidFill>
                  </a:tcPr>
                </a:tc>
                <a:tc>
                  <a:txBody>
                    <a:bodyPr/>
                    <a:lstStyle/>
                    <a:p>
                      <a:pPr algn="ctr" rtl="1">
                        <a:spcAft>
                          <a:spcPts val="0"/>
                        </a:spcAft>
                        <a:buNone/>
                      </a:pPr>
                      <a:r>
                        <a:rPr lang="he-IL" sz="1300" b="0" dirty="0">
                          <a:solidFill>
                            <a:srgbClr val="1B242B"/>
                          </a:solidFill>
                          <a:latin typeface="Arial"/>
                          <a:cs typeface="Arial"/>
                        </a:rPr>
                        <a:t>✓</a:t>
                      </a:r>
                    </a:p>
                  </a:txBody>
                  <a:tcPr marL="54864" marR="54864" marT="27432" marB="27432" anchor="ctr">
                    <a:solidFill>
                      <a:srgbClr val="FFFFFF"/>
                    </a:solidFill>
                  </a:tcPr>
                </a:tc>
                <a:tc>
                  <a:txBody>
                    <a:bodyPr/>
                    <a:lstStyle/>
                    <a:p>
                      <a:pPr algn="ctr" rtl="1">
                        <a:spcAft>
                          <a:spcPts val="0"/>
                        </a:spcAft>
                        <a:buNone/>
                      </a:pPr>
                      <a:r>
                        <a:rPr lang="he-IL" sz="1300" b="0" dirty="0">
                          <a:solidFill>
                            <a:srgbClr val="1B242B"/>
                          </a:solidFill>
                          <a:latin typeface="Arial"/>
                          <a:cs typeface="Arial"/>
                        </a:rPr>
                        <a:t>✓</a:t>
                      </a:r>
                    </a:p>
                  </a:txBody>
                  <a:tcPr marL="54864" marR="54864" marT="27432" marB="27432" anchor="ctr">
                    <a:solidFill>
                      <a:srgbClr val="FFFFFF"/>
                    </a:solidFill>
                  </a:tcPr>
                </a:tc>
                <a:extLst>
                  <a:ext uri="{0D108BD9-81ED-4DB2-BD59-A6C34878D82A}">
                    <a16:rowId xmlns:a16="http://schemas.microsoft.com/office/drawing/2014/main" val="10002"/>
                  </a:ext>
                </a:extLst>
              </a:tr>
              <a:tr h="457200">
                <a:tc>
                  <a:txBody>
                    <a:bodyPr/>
                    <a:lstStyle/>
                    <a:p>
                      <a:pPr algn="r" rtl="1">
                        <a:spcAft>
                          <a:spcPts val="0"/>
                        </a:spcAft>
                        <a:buNone/>
                      </a:pPr>
                      <a:r>
                        <a:rPr lang="he-IL" sz="1300" b="1" dirty="0">
                          <a:solidFill>
                            <a:srgbClr val="1B242B"/>
                          </a:solidFill>
                          <a:latin typeface="Arial"/>
                          <a:cs typeface="Arial"/>
                        </a:rPr>
                        <a:t>הפסד </a:t>
                      </a:r>
                      <a:r>
                        <a:rPr lang="en-US" sz="1300" b="1" dirty="0">
                          <a:solidFill>
                            <a:srgbClr val="1B242B"/>
                          </a:solidFill>
                          <a:latin typeface="Arial"/>
                          <a:cs typeface="Arial"/>
                        </a:rPr>
                        <a:t>L1</a:t>
                      </a:r>
                      <a:r>
                        <a:rPr lang="he-IL" sz="1300" b="1" dirty="0">
                          <a:solidFill>
                            <a:srgbClr val="1B242B"/>
                          </a:solidFill>
                          <a:latin typeface="Arial"/>
                          <a:cs typeface="Arial"/>
                        </a:rPr>
                        <a:t>‎</a:t>
                      </a:r>
                    </a:p>
                  </a:txBody>
                  <a:tcPr marL="54864" marR="54864" marT="27432" marB="27432" anchor="ctr">
                    <a:solidFill>
                      <a:srgbClr val="F7F9FB"/>
                    </a:solidFill>
                  </a:tcPr>
                </a:tc>
                <a:tc>
                  <a:txBody>
                    <a:bodyPr/>
                    <a:lstStyle/>
                    <a:p>
                      <a:pPr algn="ctr" rtl="1">
                        <a:spcAft>
                          <a:spcPts val="0"/>
                        </a:spcAft>
                        <a:buNone/>
                      </a:pPr>
                      <a:endParaRPr/>
                    </a:p>
                  </a:txBody>
                  <a:tcPr marL="54864" marR="54864" marT="27432" marB="27432" anchor="ctr">
                    <a:solidFill>
                      <a:srgbClr val="F7F9FB"/>
                    </a:solidFill>
                  </a:tcPr>
                </a:tc>
                <a:tc>
                  <a:txBody>
                    <a:bodyPr/>
                    <a:lstStyle/>
                    <a:p>
                      <a:pPr algn="ctr" rtl="1">
                        <a:spcAft>
                          <a:spcPts val="0"/>
                        </a:spcAft>
                        <a:buNone/>
                      </a:pPr>
                      <a:endParaRPr/>
                    </a:p>
                  </a:txBody>
                  <a:tcPr marL="54864" marR="54864" marT="27432" marB="27432" anchor="ctr">
                    <a:solidFill>
                      <a:srgbClr val="F7F9FB"/>
                    </a:solidFill>
                  </a:tcPr>
                </a:tc>
                <a:tc>
                  <a:txBody>
                    <a:bodyPr/>
                    <a:lstStyle/>
                    <a:p>
                      <a:pPr algn="ctr" rtl="1">
                        <a:spcAft>
                          <a:spcPts val="0"/>
                        </a:spcAft>
                        <a:buNone/>
                      </a:pPr>
                      <a:r>
                        <a:rPr lang="he-IL" sz="1300" b="0" dirty="0">
                          <a:solidFill>
                            <a:srgbClr val="1B242B"/>
                          </a:solidFill>
                          <a:latin typeface="Arial"/>
                          <a:cs typeface="Arial"/>
                        </a:rPr>
                        <a:t>✓</a:t>
                      </a:r>
                    </a:p>
                  </a:txBody>
                  <a:tcPr marL="54864" marR="54864" marT="27432" marB="27432" anchor="ctr">
                    <a:solidFill>
                      <a:srgbClr val="F7F9FB"/>
                    </a:solidFill>
                  </a:tcPr>
                </a:tc>
                <a:extLst>
                  <a:ext uri="{0D108BD9-81ED-4DB2-BD59-A6C34878D82A}">
                    <a16:rowId xmlns:a16="http://schemas.microsoft.com/office/drawing/2014/main" val="10003"/>
                  </a:ext>
                </a:extLst>
              </a:tr>
            </a:tbl>
          </a:graphicData>
        </a:graphic>
      </p:graphicFrame>
      <p:sp>
        <p:nvSpPr>
          <p:cNvPr id="30" name="Rounded Rectangle 29"/>
          <p:cNvSpPr/>
          <p:nvPr/>
        </p:nvSpPr>
        <p:spPr>
          <a:xfrm>
            <a:off x="457200" y="3840480"/>
            <a:ext cx="3154680" cy="1463040"/>
          </a:xfrm>
          <a:prstGeom prst="roundRect">
            <a:avLst>
              <a:gd name="adj" fmla="val 8000"/>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31" name="TextBox 30"/>
          <p:cNvSpPr txBox="1"/>
          <p:nvPr/>
        </p:nvSpPr>
        <p:spPr>
          <a:xfrm>
            <a:off x="548640" y="3886200"/>
            <a:ext cx="2971800" cy="1371600"/>
          </a:xfrm>
          <a:prstGeom prst="rect">
            <a:avLst/>
          </a:prstGeom>
          <a:noFill/>
        </p:spPr>
        <p:txBody>
          <a:bodyPr wrap="square" lIns="45720" tIns="27432" rIns="45720" bIns="27432" rtlCol="0" anchor="ctr">
            <a:noAutofit/>
          </a:bodyPr>
          <a:lstStyle/>
          <a:p>
            <a:pPr algn="r" rtl="1">
              <a:spcAft>
                <a:spcPts val="400"/>
              </a:spcAft>
              <a:buNone/>
            </a:pPr>
            <a:r>
              <a:rPr lang="he-IL" sz="1500" b="1" dirty="0">
                <a:solidFill>
                  <a:srgbClr val="1B242B"/>
                </a:solidFill>
                <a:latin typeface="Arial"/>
                <a:cs typeface="Arial"/>
              </a:rPr>
              <a:t>אותו תקציב לכולן</a:t>
            </a:r>
          </a:p>
          <a:p>
            <a:pPr algn="r" rtl="1">
              <a:spcAft>
                <a:spcPts val="0"/>
              </a:spcAft>
              <a:buNone/>
            </a:pPr>
            <a:r>
              <a:rPr lang="he-IL" sz="1300" b="0" dirty="0">
                <a:solidFill>
                  <a:srgbClr val="1B242B"/>
                </a:solidFill>
                <a:latin typeface="Arial"/>
                <a:cs typeface="Arial"/>
              </a:rPr>
              <a:t>‏8 </a:t>
            </a:r>
            <a:r>
              <a:rPr lang="en-US" sz="1300" b="0" dirty="0">
                <a:solidFill>
                  <a:srgbClr val="1B242B"/>
                </a:solidFill>
                <a:latin typeface="Arial"/>
                <a:cs typeface="Arial"/>
              </a:rPr>
              <a:t>epochs (17</a:t>
            </a:r>
            <a:r>
              <a:rPr lang="he-IL" sz="1300" b="0" dirty="0">
                <a:solidFill>
                  <a:srgbClr val="1B242B"/>
                </a:solidFill>
                <a:latin typeface="Arial"/>
                <a:cs typeface="Arial"/>
              </a:rPr>
              <a:t>‎ עד 24), ובכל </a:t>
            </a:r>
            <a:r>
              <a:rPr lang="en-US" sz="1300" b="0" dirty="0">
                <a:solidFill>
                  <a:srgbClr val="1B242B"/>
                </a:solidFill>
                <a:latin typeface="Arial"/>
                <a:cs typeface="Arial"/>
              </a:rPr>
              <a:t>epoch 10,225</a:t>
            </a:r>
            <a:r>
              <a:rPr lang="he-IL" sz="1300" b="0" dirty="0">
                <a:solidFill>
                  <a:srgbClr val="1B242B"/>
                </a:solidFill>
                <a:latin typeface="Arial"/>
                <a:cs typeface="Arial"/>
              </a:rPr>
              <a:t>‎ הקלטות. עם הנתונים הנוספים מגרילים אותן מתוך 33,300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77295" cy="777240"/>
          </a:xfrm>
          <a:prstGeom prst="rect">
            <a:avLst/>
          </a:prstGeom>
          <a:noFill/>
        </p:spPr>
        <p:txBody>
          <a:bodyPr wrap="square" lIns="45720" rIns="45720" anchor="ctr">
            <a:spAutoFit/>
          </a:bodyPr>
          <a:lstStyle/>
          <a:p>
            <a:pPr algn="r" rtl="1">
              <a:spcAft>
                <a:spcPts val="800"/>
              </a:spcAft>
              <a:buNone/>
            </a:pPr>
            <a:r>
              <a:rPr lang="he-IL" sz="3200" b="1">
                <a:solidFill>
                  <a:srgbClr val="1F4E79"/>
                </a:solidFill>
                <a:latin typeface="Arial"/>
                <a:cs typeface="Arial"/>
              </a:rPr>
              <a:t>גרסה 1: המשך אימון</a:t>
            </a:r>
          </a:p>
        </p:txBody>
      </p:sp>
      <p:sp>
        <p:nvSpPr>
          <p:cNvPr id="4" name="Rectangle 3"/>
          <p:cNvSpPr/>
          <p:nvPr/>
        </p:nvSpPr>
        <p:spPr>
          <a:xfrm>
            <a:off x="10271455" y="1051560"/>
            <a:ext cx="1463040" cy="4572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774375" y="6400800"/>
            <a:ext cx="1051560" cy="310896"/>
          </a:xfrm>
          <a:prstGeom prst="roundRect">
            <a:avLst>
              <a:gd name="adj" fmla="val 50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74375" y="6400800"/>
            <a:ext cx="1051560" cy="310896"/>
          </a:xfrm>
          <a:prstGeom prst="rect">
            <a:avLst/>
          </a:prstGeom>
          <a:noFill/>
        </p:spPr>
        <p:txBody>
          <a:bodyPr wrap="square" lIns="45720" rIns="45720" anchor="ctr">
            <a:spAutoFit/>
          </a:bodyPr>
          <a:lstStyle/>
          <a:p>
            <a:pPr algn="ctr" rtl="1">
              <a:spcAft>
                <a:spcPts val="0"/>
              </a:spcAft>
              <a:buNone/>
            </a:pPr>
            <a:r>
              <a:rPr lang="he-IL" sz="1300" b="1">
                <a:solidFill>
                  <a:srgbClr val="FFFFFF"/>
                </a:solidFill>
                <a:latin typeface="Arial"/>
                <a:cs typeface="Arial"/>
              </a:rPr>
              <a:t>עידן</a:t>
            </a:r>
          </a:p>
        </p:txBody>
      </p:sp>
      <p:sp>
        <p:nvSpPr>
          <p:cNvPr id="7" name="TextBox 6"/>
          <p:cNvSpPr txBox="1"/>
          <p:nvPr/>
        </p:nvSpPr>
        <p:spPr>
          <a:xfrm>
            <a:off x="365760" y="6400800"/>
            <a:ext cx="914400" cy="310896"/>
          </a:xfrm>
          <a:prstGeom prst="rect">
            <a:avLst/>
          </a:prstGeom>
          <a:noFill/>
        </p:spPr>
        <p:txBody>
          <a:bodyPr wrap="square" lIns="45720" rIns="45720" anchor="ctr">
            <a:spAutoFit/>
          </a:bodyPr>
          <a:lstStyle/>
          <a:p>
            <a:pPr algn="l" rtl="0">
              <a:spcAft>
                <a:spcPts val="0"/>
              </a:spcAft>
              <a:buNone/>
            </a:pPr>
            <a:r>
              <a:rPr lang="he-IL" sz="1300" b="0">
                <a:solidFill>
                  <a:srgbClr val="5A636A"/>
                </a:solidFill>
                <a:latin typeface="Arial"/>
                <a:cs typeface="Arial"/>
              </a:rPr>
              <a:t>12</a:t>
            </a:r>
          </a:p>
        </p:txBody>
      </p:sp>
      <p:sp>
        <p:nvSpPr>
          <p:cNvPr id="8" name="Rounded Rectangle 7"/>
          <p:cNvSpPr/>
          <p:nvPr/>
        </p:nvSpPr>
        <p:spPr>
          <a:xfrm>
            <a:off x="7882127" y="1325880"/>
            <a:ext cx="3849624" cy="1325880"/>
          </a:xfrm>
          <a:prstGeom prst="roundRect">
            <a:avLst>
              <a:gd name="adj" fmla="val 8000"/>
            </a:avLst>
          </a:prstGeom>
          <a:solidFill>
            <a:srgbClr val="DCEBF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9" name="Oval 8"/>
          <p:cNvSpPr/>
          <p:nvPr/>
        </p:nvSpPr>
        <p:spPr>
          <a:xfrm>
            <a:off x="11073383" y="1444751"/>
            <a:ext cx="512064" cy="512064"/>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clock.png"/>
          <p:cNvPicPr>
            <a:picLocks noChangeAspect="1"/>
          </p:cNvPicPr>
          <p:nvPr/>
        </p:nvPicPr>
        <p:blipFill>
          <a:blip r:embed="rId3"/>
          <a:stretch>
            <a:fillRect/>
          </a:stretch>
        </p:blipFill>
        <p:spPr>
          <a:xfrm>
            <a:off x="11196279" y="1567647"/>
            <a:ext cx="266273" cy="266273"/>
          </a:xfrm>
          <a:prstGeom prst="rect">
            <a:avLst/>
          </a:prstGeom>
        </p:spPr>
      </p:pic>
      <p:sp>
        <p:nvSpPr>
          <p:cNvPr id="11" name="TextBox 10"/>
          <p:cNvSpPr txBox="1"/>
          <p:nvPr/>
        </p:nvSpPr>
        <p:spPr>
          <a:xfrm>
            <a:off x="8019288" y="1463039"/>
            <a:ext cx="2935224" cy="475488"/>
          </a:xfrm>
          <a:prstGeom prst="rect">
            <a:avLst/>
          </a:prstGeom>
          <a:noFill/>
        </p:spPr>
        <p:txBody>
          <a:bodyPr wrap="square" lIns="45720" tIns="27432" rIns="45720" bIns="27432" rtlCol="0" anchor="ctr">
            <a:noAutofit/>
          </a:bodyPr>
          <a:lstStyle/>
          <a:p>
            <a:pPr algn="r" rtl="1">
              <a:spcAft>
                <a:spcPts val="0"/>
              </a:spcAft>
              <a:buNone/>
            </a:pPr>
            <a:r>
              <a:rPr lang="he-IL" sz="1800" b="1" dirty="0">
                <a:solidFill>
                  <a:srgbClr val="2E75B6"/>
                </a:solidFill>
                <a:latin typeface="Arial"/>
                <a:cs typeface="Arial"/>
              </a:rPr>
              <a:t>למה</a:t>
            </a:r>
          </a:p>
        </p:txBody>
      </p:sp>
      <p:sp>
        <p:nvSpPr>
          <p:cNvPr id="12" name="TextBox 11"/>
          <p:cNvSpPr txBox="1"/>
          <p:nvPr/>
        </p:nvSpPr>
        <p:spPr>
          <a:xfrm>
            <a:off x="8019288" y="1874519"/>
            <a:ext cx="3611880" cy="731520"/>
          </a:xfrm>
          <a:prstGeom prst="rect">
            <a:avLst/>
          </a:prstGeom>
          <a:noFill/>
        </p:spPr>
        <p:txBody>
          <a:bodyPr wrap="square" lIns="45720" tIns="27432" rIns="45720" bIns="27432" rtlCol="0" anchor="t">
            <a:noAutofit/>
          </a:bodyPr>
          <a:lstStyle/>
          <a:p>
            <a:pPr algn="r" rtl="1">
              <a:spcAft>
                <a:spcPts val="0"/>
              </a:spcAft>
              <a:buNone/>
            </a:pPr>
            <a:r>
              <a:rPr lang="he-IL" sz="1400" b="0" dirty="0">
                <a:solidFill>
                  <a:srgbClr val="1B242B"/>
                </a:solidFill>
                <a:latin typeface="Arial"/>
                <a:cs typeface="Arial"/>
              </a:rPr>
              <a:t>ה-</a:t>
            </a:r>
            <a:r>
              <a:rPr lang="en-US" sz="1400" b="0" dirty="0">
                <a:solidFill>
                  <a:srgbClr val="1B242B"/>
                </a:solidFill>
                <a:latin typeface="Arial"/>
                <a:cs typeface="Arial"/>
              </a:rPr>
              <a:t>PESQ</a:t>
            </a:r>
            <a:r>
              <a:rPr lang="he-IL" sz="1400" b="0" dirty="0">
                <a:solidFill>
                  <a:srgbClr val="1B242B"/>
                </a:solidFill>
                <a:latin typeface="Arial"/>
                <a:cs typeface="Arial"/>
              </a:rPr>
              <a:t>‎ עוד עלה ב-</a:t>
            </a:r>
            <a:r>
              <a:rPr lang="en-US" sz="1400" b="0" dirty="0">
                <a:solidFill>
                  <a:srgbClr val="1B242B"/>
                </a:solidFill>
                <a:latin typeface="Arial"/>
                <a:cs typeface="Arial"/>
              </a:rPr>
              <a:t>epochs 14–15</a:t>
            </a:r>
            <a:r>
              <a:rPr lang="he-IL" sz="1400" b="0" dirty="0">
                <a:solidFill>
                  <a:srgbClr val="1B242B"/>
                </a:solidFill>
                <a:latin typeface="Arial"/>
                <a:cs typeface="Arial"/>
              </a:rPr>
              <a:t>‎, אולי פשוט היה חסר זמן אימון</a:t>
            </a:r>
          </a:p>
        </p:txBody>
      </p:sp>
      <p:sp>
        <p:nvSpPr>
          <p:cNvPr id="13" name="Rounded Rectangle 12"/>
          <p:cNvSpPr/>
          <p:nvPr/>
        </p:nvSpPr>
        <p:spPr>
          <a:xfrm>
            <a:off x="7882127" y="2788920"/>
            <a:ext cx="3849624" cy="1783080"/>
          </a:xfrm>
          <a:prstGeom prst="roundRect">
            <a:avLst>
              <a:gd name="adj" fmla="val 8000"/>
            </a:avLst>
          </a:prstGeom>
          <a:solidFill>
            <a:srgbClr val="F7F9FB"/>
          </a:solidFill>
          <a:ln w="12700">
            <a:solidFill>
              <a:srgbClr val="D6DCE1"/>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14" name="TextBox 13"/>
          <p:cNvSpPr txBox="1"/>
          <p:nvPr/>
        </p:nvSpPr>
        <p:spPr>
          <a:xfrm>
            <a:off x="8019288" y="2834640"/>
            <a:ext cx="3611880" cy="365760"/>
          </a:xfrm>
          <a:prstGeom prst="rect">
            <a:avLst/>
          </a:prstGeom>
          <a:noFill/>
        </p:spPr>
        <p:txBody>
          <a:bodyPr wrap="square" lIns="45720" tIns="27432" rIns="45720" bIns="27432" rtlCol="0" anchor="ctr">
            <a:noAutofit/>
          </a:bodyPr>
          <a:lstStyle/>
          <a:p>
            <a:pPr algn="r" rtl="1">
              <a:spcAft>
                <a:spcPts val="0"/>
              </a:spcAft>
              <a:buNone/>
            </a:pPr>
            <a:r>
              <a:rPr lang="he-IL" sz="1600" b="1" dirty="0">
                <a:solidFill>
                  <a:srgbClr val="2E75B6"/>
                </a:solidFill>
                <a:latin typeface="Arial"/>
                <a:cs typeface="Arial"/>
              </a:rPr>
              <a:t>מה שינינו</a:t>
            </a:r>
          </a:p>
        </p:txBody>
      </p:sp>
      <p:sp>
        <p:nvSpPr>
          <p:cNvPr id="15" name="TextBox 14"/>
          <p:cNvSpPr txBox="1"/>
          <p:nvPr/>
        </p:nvSpPr>
        <p:spPr>
          <a:xfrm>
            <a:off x="8019288" y="3200400"/>
            <a:ext cx="3611880" cy="1325880"/>
          </a:xfrm>
          <a:prstGeom prst="rect">
            <a:avLst/>
          </a:prstGeom>
          <a:noFill/>
        </p:spPr>
        <p:txBody>
          <a:bodyPr wrap="square" lIns="45720" tIns="27432" rIns="45720" bIns="27432" rtlCol="0" anchor="t">
            <a:noAutofit/>
          </a:bodyPr>
          <a:lstStyle/>
          <a:p>
            <a:pPr marL="256032" indent="-256032" algn="r" rtl="1">
              <a:spcAft>
                <a:spcPts val="300"/>
              </a:spcAft>
              <a:buFont typeface="Arial"/>
              <a:buChar char="•"/>
            </a:pPr>
            <a:r>
              <a:rPr lang="he-IL" sz="1300" b="1" dirty="0">
                <a:solidFill>
                  <a:srgbClr val="1B242B"/>
                </a:solidFill>
                <a:latin typeface="Arial"/>
                <a:cs typeface="Arial"/>
              </a:rPr>
              <a:t>נתונים: </a:t>
            </a:r>
            <a:r>
              <a:rPr lang="he-IL" sz="1300" b="0" dirty="0">
                <a:solidFill>
                  <a:srgbClr val="1B242B"/>
                </a:solidFill>
                <a:latin typeface="Arial"/>
                <a:cs typeface="Arial"/>
              </a:rPr>
              <a:t>28 דוברים, אותם 10,225 זוגות</a:t>
            </a:r>
          </a:p>
          <a:p>
            <a:pPr marL="256032" indent="-256032" algn="r" rtl="1">
              <a:spcAft>
                <a:spcPts val="300"/>
              </a:spcAft>
              <a:buFont typeface="Arial"/>
              <a:buChar char="•"/>
            </a:pPr>
            <a:r>
              <a:rPr lang="he-IL" sz="1300" b="1" dirty="0">
                <a:solidFill>
                  <a:srgbClr val="1B242B"/>
                </a:solidFill>
                <a:latin typeface="Arial"/>
                <a:cs typeface="Arial"/>
              </a:rPr>
              <a:t>הפסד: </a:t>
            </a:r>
            <a:r>
              <a:rPr lang="en-US" sz="1300" b="0" dirty="0">
                <a:solidFill>
                  <a:srgbClr val="1B242B"/>
                </a:solidFill>
                <a:latin typeface="Arial"/>
                <a:cs typeface="Arial"/>
              </a:rPr>
              <a:t>MSE</a:t>
            </a:r>
            <a:r>
              <a:rPr lang="he-IL" sz="1300" b="0" dirty="0">
                <a:solidFill>
                  <a:srgbClr val="1B242B"/>
                </a:solidFill>
                <a:latin typeface="Arial"/>
                <a:cs typeface="Arial"/>
              </a:rPr>
              <a:t>‎, כמו ה-</a:t>
            </a:r>
            <a:r>
              <a:rPr lang="en-US" sz="1300" b="0" dirty="0">
                <a:solidFill>
                  <a:srgbClr val="1B242B"/>
                </a:solidFill>
                <a:latin typeface="Arial"/>
                <a:cs typeface="Arial"/>
              </a:rPr>
              <a:t>baseline</a:t>
            </a:r>
            <a:r>
              <a:rPr lang="he-IL" sz="1300" b="0" dirty="0">
                <a:solidFill>
                  <a:srgbClr val="1B242B"/>
                </a:solidFill>
                <a:latin typeface="Arial"/>
                <a:cs typeface="Arial"/>
              </a:rPr>
              <a:t>‎</a:t>
            </a:r>
          </a:p>
          <a:p>
            <a:pPr marL="256032" indent="-256032" algn="r" rtl="1">
              <a:spcAft>
                <a:spcPts val="300"/>
              </a:spcAft>
              <a:buFont typeface="Arial"/>
              <a:buChar char="•"/>
            </a:pPr>
            <a:r>
              <a:rPr lang="he-IL" sz="1300" b="1" dirty="0" err="1">
                <a:solidFill>
                  <a:srgbClr val="1B242B"/>
                </a:solidFill>
                <a:latin typeface="Arial"/>
                <a:cs typeface="Arial"/>
              </a:rPr>
              <a:t>‏</a:t>
            </a:r>
            <a:r>
              <a:rPr lang="en-US" sz="1300" b="1" dirty="0" err="1">
                <a:solidFill>
                  <a:srgbClr val="1B242B"/>
                </a:solidFill>
                <a:latin typeface="Arial"/>
                <a:cs typeface="Arial"/>
              </a:rPr>
              <a:t>epochs: </a:t>
            </a:r>
            <a:r>
              <a:rPr lang="en-US" sz="1300" b="0" dirty="0">
                <a:solidFill>
                  <a:srgbClr val="1B242B"/>
                </a:solidFill>
                <a:latin typeface="Arial"/>
                <a:cs typeface="Arial"/>
              </a:rPr>
              <a:t>17</a:t>
            </a:r>
            <a:r>
              <a:rPr lang="he-IL" sz="1300" b="0" dirty="0">
                <a:solidFill>
                  <a:srgbClr val="1B242B"/>
                </a:solidFill>
                <a:latin typeface="Arial"/>
                <a:cs typeface="Arial"/>
              </a:rPr>
              <a:t>‎ עד 24, כ-5.4 שעות על </a:t>
            </a:r>
            <a:r>
              <a:rPr lang="en-US" sz="1300" b="0" dirty="0">
                <a:solidFill>
                  <a:srgbClr val="1B242B"/>
                </a:solidFill>
                <a:latin typeface="Arial"/>
                <a:cs typeface="Arial"/>
              </a:rPr>
              <a:t>T4</a:t>
            </a:r>
            <a:r>
              <a:rPr lang="he-IL" sz="1300" b="0" dirty="0">
                <a:solidFill>
                  <a:srgbClr val="1B242B"/>
                </a:solidFill>
                <a:latin typeface="Arial"/>
                <a:cs typeface="Arial"/>
              </a:rPr>
              <a:t>‎</a:t>
            </a:r>
          </a:p>
          <a:p>
            <a:pPr marL="256032" indent="-256032" algn="r" rtl="1">
              <a:spcAft>
                <a:spcPts val="300"/>
              </a:spcAft>
              <a:buFont typeface="Arial"/>
              <a:buChar char="•"/>
            </a:pPr>
            <a:r>
              <a:rPr lang="he-IL" sz="1300" b="1" dirty="0">
                <a:solidFill>
                  <a:srgbClr val="1B242B"/>
                </a:solidFill>
                <a:latin typeface="Arial"/>
                <a:cs typeface="Arial"/>
              </a:rPr>
              <a:t>קצב למידה: </a:t>
            </a:r>
            <a:r>
              <a:rPr lang="he-IL" sz="1300" b="0" dirty="0">
                <a:solidFill>
                  <a:srgbClr val="1B242B"/>
                </a:solidFill>
                <a:latin typeface="Arial"/>
                <a:cs typeface="Arial"/>
              </a:rPr>
              <a:t>ירד פי 2 אחרי </a:t>
            </a:r>
            <a:r>
              <a:rPr lang="en-US" sz="1300" b="0" dirty="0">
                <a:solidFill>
                  <a:srgbClr val="1B242B"/>
                </a:solidFill>
                <a:latin typeface="Arial"/>
                <a:cs typeface="Arial"/>
              </a:rPr>
              <a:t>epoch 19</a:t>
            </a:r>
            <a:r>
              <a:rPr lang="he-IL" sz="1300" b="0" dirty="0">
                <a:solidFill>
                  <a:srgbClr val="1B242B"/>
                </a:solidFill>
                <a:latin typeface="Arial"/>
                <a:cs typeface="Arial"/>
              </a:rPr>
              <a:t>‎</a:t>
            </a:r>
          </a:p>
        </p:txBody>
      </p:sp>
      <p:sp>
        <p:nvSpPr>
          <p:cNvPr id="16" name="TextBox 15"/>
          <p:cNvSpPr txBox="1"/>
          <p:nvPr/>
        </p:nvSpPr>
        <p:spPr>
          <a:xfrm>
            <a:off x="457200" y="1280160"/>
            <a:ext cx="7223760" cy="365760"/>
          </a:xfrm>
          <a:prstGeom prst="rect">
            <a:avLst/>
          </a:prstGeom>
          <a:noFill/>
        </p:spPr>
        <p:txBody>
          <a:bodyPr wrap="square" lIns="45720" tIns="27432" rIns="45720" bIns="27432" rtlCol="0" anchor="ctr">
            <a:noAutofit/>
          </a:bodyPr>
          <a:lstStyle/>
          <a:p>
            <a:pPr algn="ctr" rtl="1">
              <a:spcAft>
                <a:spcPts val="0"/>
              </a:spcAft>
              <a:buNone/>
            </a:pPr>
            <a:r>
              <a:rPr lang="he-IL" sz="1500" b="1" dirty="0">
                <a:solidFill>
                  <a:srgbClr val="1B242B"/>
                </a:solidFill>
                <a:latin typeface="Arial"/>
                <a:cs typeface="Arial"/>
              </a:rPr>
              <a:t>‏</a:t>
            </a:r>
            <a:r>
              <a:rPr lang="en-US" sz="1500" b="1" dirty="0">
                <a:solidFill>
                  <a:srgbClr val="1B242B"/>
                </a:solidFill>
                <a:latin typeface="Arial"/>
                <a:cs typeface="Arial"/>
              </a:rPr>
              <a:t>PESQ</a:t>
            </a:r>
            <a:r>
              <a:rPr lang="he-IL" sz="1500" b="1" dirty="0">
                <a:solidFill>
                  <a:srgbClr val="1B242B"/>
                </a:solidFill>
                <a:latin typeface="Arial"/>
                <a:cs typeface="Arial"/>
              </a:rPr>
              <a:t>‎ על ה-</a:t>
            </a:r>
            <a:r>
              <a:rPr lang="en-US" sz="1500" b="1" dirty="0">
                <a:solidFill>
                  <a:srgbClr val="1B242B"/>
                </a:solidFill>
                <a:latin typeface="Arial"/>
                <a:cs typeface="Arial"/>
              </a:rPr>
              <a:t>validation</a:t>
            </a:r>
            <a:r>
              <a:rPr lang="he-IL" sz="1500" b="1" dirty="0">
                <a:solidFill>
                  <a:srgbClr val="1B242B"/>
                </a:solidFill>
                <a:latin typeface="Arial"/>
                <a:cs typeface="Arial"/>
              </a:rPr>
              <a:t>‎ לפי </a:t>
            </a:r>
            <a:r>
              <a:rPr lang="en-US" sz="1500" b="1" dirty="0">
                <a:solidFill>
                  <a:srgbClr val="1B242B"/>
                </a:solidFill>
                <a:latin typeface="Arial"/>
                <a:cs typeface="Arial"/>
              </a:rPr>
              <a:t>epoch</a:t>
            </a:r>
            <a:r>
              <a:rPr lang="he-IL" sz="1500" b="1" dirty="0">
                <a:solidFill>
                  <a:srgbClr val="1B242B"/>
                </a:solidFill>
                <a:latin typeface="Arial"/>
                <a:cs typeface="Arial"/>
              </a:rPr>
              <a:t>‎</a:t>
            </a:r>
          </a:p>
        </p:txBody>
      </p:sp>
      <p:graphicFrame>
        <p:nvGraphicFramePr>
          <p:cNvPr id="17" name="Chart 16"/>
          <p:cNvGraphicFramePr>
            <a:graphicFrameLocks noGrp="1"/>
          </p:cNvGraphicFramePr>
          <p:nvPr/>
        </p:nvGraphicFramePr>
        <p:xfrm>
          <a:off x="365760" y="1645920"/>
          <a:ext cx="7315200" cy="2697480"/>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Box 17"/>
          <p:cNvSpPr txBox="1"/>
          <p:nvPr/>
        </p:nvSpPr>
        <p:spPr>
          <a:xfrm>
            <a:off x="6364224" y="4315968"/>
            <a:ext cx="1225296" cy="310896"/>
          </a:xfrm>
          <a:prstGeom prst="rect">
            <a:avLst/>
          </a:prstGeom>
          <a:noFill/>
        </p:spPr>
        <p:txBody>
          <a:bodyPr wrap="square" lIns="45720" tIns="27432" rIns="45720" bIns="27432" rtlCol="0" anchor="ctr">
            <a:noAutofit/>
          </a:bodyPr>
          <a:lstStyle/>
          <a:p>
            <a:pPr algn="r" rtl="1">
              <a:spcAft>
                <a:spcPts val="0"/>
              </a:spcAft>
              <a:buNone/>
            </a:pPr>
            <a:r>
              <a:rPr lang="he-IL" sz="1300" b="0" dirty="0">
                <a:solidFill>
                  <a:srgbClr val="1B242B"/>
                </a:solidFill>
                <a:latin typeface="Arial"/>
                <a:cs typeface="Arial"/>
              </a:rPr>
              <a:t>baseline</a:t>
            </a:r>
          </a:p>
        </p:txBody>
      </p:sp>
      <p:sp>
        <p:nvSpPr>
          <p:cNvPr id="19" name="Oval 18"/>
          <p:cNvSpPr/>
          <p:nvPr/>
        </p:nvSpPr>
        <p:spPr>
          <a:xfrm>
            <a:off x="7607808" y="4407407"/>
            <a:ext cx="137160" cy="137160"/>
          </a:xfrm>
          <a:prstGeom prst="ellipse">
            <a:avLst/>
          </a:prstGeom>
          <a:solidFill>
            <a:srgbClr val="1B2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89704" y="4315968"/>
            <a:ext cx="1463040" cy="310896"/>
          </a:xfrm>
          <a:prstGeom prst="rect">
            <a:avLst/>
          </a:prstGeom>
          <a:noFill/>
        </p:spPr>
        <p:txBody>
          <a:bodyPr wrap="square" lIns="45720" tIns="27432" rIns="45720" bIns="27432" rtlCol="0" anchor="ctr">
            <a:noAutofit/>
          </a:bodyPr>
          <a:lstStyle/>
          <a:p>
            <a:pPr algn="r" rtl="1">
              <a:spcAft>
                <a:spcPts val="0"/>
              </a:spcAft>
              <a:buNone/>
            </a:pPr>
            <a:r>
              <a:rPr lang="he-IL" sz="1300" b="0" dirty="0">
                <a:solidFill>
                  <a:srgbClr val="1B242B"/>
                </a:solidFill>
                <a:latin typeface="Arial"/>
                <a:cs typeface="Arial"/>
              </a:rPr>
              <a:t>המשך אימון</a:t>
            </a:r>
          </a:p>
        </p:txBody>
      </p:sp>
      <p:sp>
        <p:nvSpPr>
          <p:cNvPr id="21" name="Oval 20"/>
          <p:cNvSpPr/>
          <p:nvPr/>
        </p:nvSpPr>
        <p:spPr>
          <a:xfrm>
            <a:off x="5971031" y="4407407"/>
            <a:ext cx="137160" cy="13716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4315968"/>
            <a:ext cx="2743200" cy="274320"/>
          </a:xfrm>
          <a:prstGeom prst="rect">
            <a:avLst/>
          </a:prstGeom>
          <a:noFill/>
        </p:spPr>
        <p:txBody>
          <a:bodyPr wrap="square" lIns="45720" tIns="27432" rIns="45720" bIns="27432" rtlCol="0" anchor="ctr">
            <a:noAutofit/>
          </a:bodyPr>
          <a:lstStyle/>
          <a:p>
            <a:pPr algn="r" rtl="1">
              <a:spcAft>
                <a:spcPts val="0"/>
              </a:spcAft>
              <a:buNone/>
            </a:pPr>
            <a:r>
              <a:rPr lang="he-IL" sz="1200" b="0" dirty="0">
                <a:solidFill>
                  <a:srgbClr val="5A636A"/>
                </a:solidFill>
                <a:latin typeface="Arial"/>
                <a:cs typeface="Arial"/>
              </a:rPr>
              <a:t>עיגול חלול = ה-</a:t>
            </a:r>
            <a:r>
              <a:rPr lang="en-US" sz="1200" b="0" dirty="0">
                <a:solidFill>
                  <a:srgbClr val="5A636A"/>
                </a:solidFill>
                <a:latin typeface="Arial"/>
                <a:cs typeface="Arial"/>
              </a:rPr>
              <a:t>epoch</a:t>
            </a:r>
            <a:r>
              <a:rPr lang="he-IL" sz="1200" b="0" dirty="0">
                <a:solidFill>
                  <a:srgbClr val="5A636A"/>
                </a:solidFill>
                <a:latin typeface="Arial"/>
                <a:cs typeface="Arial"/>
              </a:rPr>
              <a:t>‎ שנבחר</a:t>
            </a:r>
          </a:p>
        </p:txBody>
      </p:sp>
      <p:sp>
        <p:nvSpPr>
          <p:cNvPr id="23" name="Rounded Rectangle 22"/>
          <p:cNvSpPr/>
          <p:nvPr/>
        </p:nvSpPr>
        <p:spPr>
          <a:xfrm>
            <a:off x="7882127" y="4709160"/>
            <a:ext cx="3657600" cy="1024128"/>
          </a:xfrm>
          <a:prstGeom prst="roundRect">
            <a:avLst>
              <a:gd name="adj" fmla="val 8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24" name="TextBox 23"/>
          <p:cNvSpPr txBox="1"/>
          <p:nvPr/>
        </p:nvSpPr>
        <p:spPr>
          <a:xfrm>
            <a:off x="7973567" y="4727448"/>
            <a:ext cx="3474720" cy="987552"/>
          </a:xfrm>
          <a:prstGeom prst="rect">
            <a:avLst/>
          </a:prstGeom>
          <a:noFill/>
        </p:spPr>
        <p:txBody>
          <a:bodyPr wrap="square" lIns="45720" tIns="27432" rIns="45720" bIns="27432" rtlCol="0" anchor="ctr">
            <a:noAutofit/>
          </a:bodyPr>
          <a:lstStyle/>
          <a:p>
            <a:pPr algn="ctr" rtl="1">
              <a:spcAft>
                <a:spcPts val="100"/>
              </a:spcAft>
              <a:buNone/>
            </a:pPr>
            <a:r>
              <a:rPr lang="he-IL" sz="1300" b="1" dirty="0">
                <a:solidFill>
                  <a:srgbClr val="5A636A"/>
                </a:solidFill>
                <a:latin typeface="Arial"/>
                <a:cs typeface="Arial"/>
              </a:rPr>
              <a:t>נבחר</a:t>
            </a:r>
          </a:p>
          <a:p>
            <a:pPr algn="ctr" rtl="0">
              <a:spcAft>
                <a:spcPts val="100"/>
              </a:spcAft>
              <a:buNone/>
            </a:pPr>
            <a:r>
              <a:rPr lang="he-IL" sz="2000" b="1" dirty="0">
                <a:solidFill>
                  <a:srgbClr val="2E75B6"/>
                </a:solidFill>
                <a:latin typeface="Arial"/>
                <a:cs typeface="Arial"/>
              </a:rPr>
              <a:t>epoch 22</a:t>
            </a:r>
          </a:p>
          <a:p>
            <a:pPr algn="ctr" rtl="0">
              <a:spcAft>
                <a:spcPts val="0"/>
              </a:spcAft>
              <a:buNone/>
            </a:pPr>
            <a:r>
              <a:rPr lang="he-IL" sz="1200" b="0" dirty="0">
                <a:solidFill>
                  <a:srgbClr val="1B242B"/>
                </a:solidFill>
                <a:latin typeface="Arial"/>
                <a:cs typeface="Arial"/>
              </a:rPr>
              <a:t>validation PESQ 2.811 (baseline 2.800)</a:t>
            </a:r>
          </a:p>
        </p:txBody>
      </p:sp>
      <p:sp>
        <p:nvSpPr>
          <p:cNvPr id="25" name="Rounded Rectangle 24"/>
          <p:cNvSpPr/>
          <p:nvPr/>
        </p:nvSpPr>
        <p:spPr>
          <a:xfrm>
            <a:off x="4069079" y="4709160"/>
            <a:ext cx="3657600" cy="1024128"/>
          </a:xfrm>
          <a:prstGeom prst="roundRect">
            <a:avLst>
              <a:gd name="adj" fmla="val 8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26" name="TextBox 25"/>
          <p:cNvSpPr txBox="1"/>
          <p:nvPr/>
        </p:nvSpPr>
        <p:spPr>
          <a:xfrm>
            <a:off x="4160519" y="4727448"/>
            <a:ext cx="3474720" cy="987552"/>
          </a:xfrm>
          <a:prstGeom prst="rect">
            <a:avLst/>
          </a:prstGeom>
          <a:noFill/>
        </p:spPr>
        <p:txBody>
          <a:bodyPr wrap="square" lIns="45720" tIns="27432" rIns="45720" bIns="27432" rtlCol="0" anchor="ctr">
            <a:noAutofit/>
          </a:bodyPr>
          <a:lstStyle/>
          <a:p>
            <a:pPr algn="ctr" rtl="1">
              <a:spcAft>
                <a:spcPts val="100"/>
              </a:spcAft>
              <a:buNone/>
            </a:pPr>
            <a:r>
              <a:rPr lang="he-IL" sz="1300" b="1" dirty="0">
                <a:solidFill>
                  <a:srgbClr val="5A636A"/>
                </a:solidFill>
                <a:latin typeface="Arial"/>
                <a:cs typeface="Arial"/>
              </a:rPr>
              <a:t>על סט הבדיקה</a:t>
            </a:r>
          </a:p>
          <a:p>
            <a:pPr algn="ctr" rtl="0">
              <a:spcAft>
                <a:spcPts val="100"/>
              </a:spcAft>
              <a:buNone/>
            </a:pPr>
            <a:r>
              <a:rPr lang="he-IL" sz="2000" b="1" dirty="0">
                <a:solidFill>
                  <a:srgbClr val="1B242B"/>
                </a:solidFill>
                <a:latin typeface="Arial"/>
                <a:cs typeface="Arial"/>
              </a:rPr>
              <a:t>PESQ 3.133</a:t>
            </a:r>
          </a:p>
          <a:p>
            <a:pPr algn="ctr" rtl="0">
              <a:spcAft>
                <a:spcPts val="0"/>
              </a:spcAft>
              <a:buNone/>
            </a:pPr>
            <a:r>
              <a:rPr lang="he-IL" sz="1200" b="0" dirty="0">
                <a:solidFill>
                  <a:srgbClr val="1B242B"/>
                </a:solidFill>
                <a:latin typeface="Arial"/>
                <a:cs typeface="Arial"/>
              </a:rPr>
              <a:t>SI-SDR ‎18.71 [dB]‏ · STOI 0.950</a:t>
            </a:r>
          </a:p>
        </p:txBody>
      </p:sp>
      <p:sp>
        <p:nvSpPr>
          <p:cNvPr id="27" name="Rounded Rectangle 26"/>
          <p:cNvSpPr/>
          <p:nvPr/>
        </p:nvSpPr>
        <p:spPr>
          <a:xfrm>
            <a:off x="256031" y="4709160"/>
            <a:ext cx="3657600" cy="1024128"/>
          </a:xfrm>
          <a:prstGeom prst="roundRect">
            <a:avLst>
              <a:gd name="adj" fmla="val 8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28" name="TextBox 27"/>
          <p:cNvSpPr txBox="1"/>
          <p:nvPr/>
        </p:nvSpPr>
        <p:spPr>
          <a:xfrm>
            <a:off x="347471" y="4727448"/>
            <a:ext cx="3474720" cy="987552"/>
          </a:xfrm>
          <a:prstGeom prst="rect">
            <a:avLst/>
          </a:prstGeom>
          <a:noFill/>
        </p:spPr>
        <p:txBody>
          <a:bodyPr wrap="square" lIns="45720" tIns="27432" rIns="45720" bIns="27432" rtlCol="0" anchor="ctr">
            <a:noAutofit/>
          </a:bodyPr>
          <a:lstStyle/>
          <a:p>
            <a:pPr algn="ctr" rtl="1">
              <a:spcAft>
                <a:spcPts val="100"/>
              </a:spcAft>
              <a:buNone/>
            </a:pPr>
            <a:r>
              <a:rPr lang="he-IL" sz="1300" b="1" dirty="0">
                <a:solidFill>
                  <a:srgbClr val="5A636A"/>
                </a:solidFill>
                <a:latin typeface="Arial"/>
                <a:cs typeface="Arial"/>
              </a:rPr>
              <a:t>מול ה-</a:t>
            </a:r>
            <a:r>
              <a:rPr lang="en-US" sz="1300" b="1" dirty="0">
                <a:solidFill>
                  <a:srgbClr val="5A636A"/>
                </a:solidFill>
                <a:latin typeface="Arial"/>
                <a:cs typeface="Arial"/>
              </a:rPr>
              <a:t>baseline</a:t>
            </a:r>
            <a:r>
              <a:rPr lang="he-IL" sz="1300" b="1" dirty="0">
                <a:solidFill>
                  <a:srgbClr val="5A636A"/>
                </a:solidFill>
                <a:latin typeface="Arial"/>
                <a:cs typeface="Arial"/>
              </a:rPr>
              <a:t>‎</a:t>
            </a:r>
          </a:p>
          <a:p>
            <a:pPr algn="ctr" rtl="0">
              <a:spcAft>
                <a:spcPts val="100"/>
              </a:spcAft>
              <a:buNone/>
            </a:pPr>
            <a:r>
              <a:rPr lang="he-IL" sz="2000" b="1" dirty="0">
                <a:solidFill>
                  <a:srgbClr val="1B242B"/>
                </a:solidFill>
                <a:latin typeface="Arial"/>
                <a:cs typeface="Arial"/>
              </a:rPr>
              <a:t>PESQ −0.011</a:t>
            </a:r>
          </a:p>
          <a:p>
            <a:pPr algn="ctr" rtl="1">
              <a:spcAft>
                <a:spcPts val="0"/>
              </a:spcAft>
              <a:buNone/>
            </a:pPr>
            <a:r>
              <a:rPr lang="he-IL" sz="1200" b="0" dirty="0">
                <a:solidFill>
                  <a:srgbClr val="1B242B"/>
                </a:solidFill>
                <a:latin typeface="Arial"/>
                <a:cs typeface="Arial"/>
              </a:rPr>
              <a:t>‏</a:t>
            </a:r>
            <a:r>
              <a:rPr lang="en-US" sz="1200" b="0" dirty="0">
                <a:solidFill>
                  <a:srgbClr val="1B242B"/>
                </a:solidFill>
                <a:latin typeface="Arial"/>
                <a:cs typeface="Arial"/>
              </a:rPr>
              <a:t>SI-SDR</a:t>
            </a:r>
            <a:r>
              <a:rPr lang="he-IL" sz="1200" b="0" dirty="0">
                <a:solidFill>
                  <a:srgbClr val="1B242B"/>
                </a:solidFill>
                <a:latin typeface="Arial"/>
                <a:cs typeface="Arial"/>
              </a:rPr>
              <a:t>‎ עלה ב-‎0.10 </a:t>
            </a:r>
            <a:r>
              <a:rPr lang="en-US" sz="1200" b="0" dirty="0">
                <a:solidFill>
                  <a:srgbClr val="1B242B"/>
                </a:solidFill>
                <a:latin typeface="Arial"/>
                <a:cs typeface="Arial"/>
              </a:rPr>
              <a:t>dB]</a:t>
            </a:r>
            <a:r>
              <a:rPr lang="he-IL" sz="1200" b="0" dirty="0">
                <a:solidFill>
                  <a:srgbClr val="1B242B"/>
                </a:solidFill>
                <a:latin typeface="Arial"/>
                <a:cs typeface="Arial"/>
              </a:rPr>
              <a:t>‏</a:t>
            </a:r>
            <a:r>
              <a:rPr lang="en-US" sz="1200" b="0" dirty="0">
                <a:solidFill>
                  <a:srgbClr val="1B242B"/>
                </a:solidFill>
                <a:latin typeface="Arial"/>
                <a:cs typeface="Arial"/>
              </a:rPr>
              <a:t>[</a:t>
            </a:r>
            <a:r>
              <a:rPr lang="he-IL" sz="1200" b="0" dirty="0">
                <a:solidFill>
                  <a:srgbClr val="1B242B"/>
                </a:solidFill>
                <a:latin typeface="Arial"/>
                <a:cs typeface="Arial"/>
              </a:rPr>
              <a:t>, ב-76% מהקבצים</a:t>
            </a:r>
          </a:p>
        </p:txBody>
      </p:sp>
      <p:sp>
        <p:nvSpPr>
          <p:cNvPr id="29" name="Rounded Rectangle 28"/>
          <p:cNvSpPr/>
          <p:nvPr/>
        </p:nvSpPr>
        <p:spPr>
          <a:xfrm>
            <a:off x="411480" y="5833872"/>
            <a:ext cx="11320272" cy="457200"/>
          </a:xfrm>
          <a:prstGeom prst="roundRect">
            <a:avLst>
              <a:gd name="adj" fmla="val 8000"/>
            </a:avLst>
          </a:prstGeom>
          <a:solidFill>
            <a:srgbClr val="DCEBF7"/>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30" name="TextBox 29"/>
          <p:cNvSpPr txBox="1"/>
          <p:nvPr/>
        </p:nvSpPr>
        <p:spPr>
          <a:xfrm>
            <a:off x="502920" y="5833872"/>
            <a:ext cx="11137392" cy="457200"/>
          </a:xfrm>
          <a:prstGeom prst="rect">
            <a:avLst/>
          </a:prstGeom>
          <a:noFill/>
        </p:spPr>
        <p:txBody>
          <a:bodyPr wrap="square" lIns="45720" tIns="27432" rIns="45720" bIns="27432" rtlCol="0" anchor="ctr">
            <a:noAutofit/>
          </a:bodyPr>
          <a:lstStyle/>
          <a:p>
            <a:pPr algn="ctr" rtl="1">
              <a:spcAft>
                <a:spcPts val="0"/>
              </a:spcAft>
              <a:buNone/>
            </a:pPr>
            <a:r>
              <a:rPr lang="he-IL" sz="1500" b="1" dirty="0">
                <a:solidFill>
                  <a:srgbClr val="2E75B6"/>
                </a:solidFill>
                <a:latin typeface="Arial"/>
                <a:cs typeface="Arial"/>
              </a:rPr>
              <a:t>המסקנה: </a:t>
            </a:r>
            <a:r>
              <a:rPr lang="he-IL" sz="1500" b="0" dirty="0">
                <a:solidFill>
                  <a:srgbClr val="1B242B"/>
                </a:solidFill>
                <a:latin typeface="Arial"/>
                <a:cs typeface="Arial"/>
              </a:rPr>
              <a:t>טוב יותר על ה-</a:t>
            </a:r>
            <a:r>
              <a:rPr lang="en-US" sz="1500" b="0" dirty="0">
                <a:solidFill>
                  <a:srgbClr val="1B242B"/>
                </a:solidFill>
                <a:latin typeface="Arial"/>
                <a:cs typeface="Arial"/>
              </a:rPr>
              <a:t>validation</a:t>
            </a:r>
            <a:r>
              <a:rPr lang="he-IL" sz="1500" b="0" dirty="0">
                <a:solidFill>
                  <a:srgbClr val="1B242B"/>
                </a:solidFill>
                <a:latin typeface="Arial"/>
                <a:cs typeface="Arial"/>
              </a:rPr>
              <a:t>‎ אבל פחות טוב בבדיקה: הבדל של 0.01 ב-</a:t>
            </a:r>
            <a:r>
              <a:rPr lang="en-US" sz="1500" b="0" dirty="0">
                <a:solidFill>
                  <a:srgbClr val="1B242B"/>
                </a:solidFill>
                <a:latin typeface="Arial"/>
                <a:cs typeface="Arial"/>
              </a:rPr>
              <a:t>PESQ</a:t>
            </a:r>
            <a:r>
              <a:rPr lang="he-IL" sz="1500" b="0" dirty="0">
                <a:solidFill>
                  <a:srgbClr val="1B242B"/>
                </a:solidFill>
                <a:latin typeface="Arial"/>
                <a:cs typeface="Arial"/>
              </a:rPr>
              <a:t>‎ הוא רעש</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77295" cy="777240"/>
          </a:xfrm>
          <a:prstGeom prst="rect">
            <a:avLst/>
          </a:prstGeom>
          <a:noFill/>
        </p:spPr>
        <p:txBody>
          <a:bodyPr wrap="square" lIns="45720" rIns="45720" anchor="ctr">
            <a:spAutoFit/>
          </a:bodyPr>
          <a:lstStyle/>
          <a:p>
            <a:pPr algn="r" rtl="1">
              <a:spcAft>
                <a:spcPts val="800"/>
              </a:spcAft>
              <a:buNone/>
            </a:pPr>
            <a:r>
              <a:rPr lang="he-IL" sz="3200" b="1">
                <a:solidFill>
                  <a:srgbClr val="1F4E79"/>
                </a:solidFill>
                <a:latin typeface="Arial"/>
                <a:cs typeface="Arial"/>
              </a:rPr>
              <a:t>גרסה 2: נתונים נוספים</a:t>
            </a:r>
          </a:p>
        </p:txBody>
      </p:sp>
      <p:sp>
        <p:nvSpPr>
          <p:cNvPr id="4" name="Rectangle 3"/>
          <p:cNvSpPr/>
          <p:nvPr/>
        </p:nvSpPr>
        <p:spPr>
          <a:xfrm>
            <a:off x="10271455" y="1051560"/>
            <a:ext cx="1463040" cy="4572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774375" y="6400800"/>
            <a:ext cx="1051560" cy="310896"/>
          </a:xfrm>
          <a:prstGeom prst="roundRect">
            <a:avLst>
              <a:gd name="adj" fmla="val 50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74375" y="6400800"/>
            <a:ext cx="1051560" cy="310896"/>
          </a:xfrm>
          <a:prstGeom prst="rect">
            <a:avLst/>
          </a:prstGeom>
          <a:noFill/>
        </p:spPr>
        <p:txBody>
          <a:bodyPr wrap="square" lIns="45720" rIns="45720" anchor="ctr">
            <a:spAutoFit/>
          </a:bodyPr>
          <a:lstStyle/>
          <a:p>
            <a:pPr algn="ctr" rtl="1">
              <a:spcAft>
                <a:spcPts val="0"/>
              </a:spcAft>
              <a:buNone/>
            </a:pPr>
            <a:r>
              <a:rPr lang="he-IL" sz="1300" b="1">
                <a:solidFill>
                  <a:srgbClr val="FFFFFF"/>
                </a:solidFill>
                <a:latin typeface="Arial"/>
                <a:cs typeface="Arial"/>
              </a:rPr>
              <a:t>עידן</a:t>
            </a:r>
          </a:p>
        </p:txBody>
      </p:sp>
      <p:sp>
        <p:nvSpPr>
          <p:cNvPr id="7" name="TextBox 6"/>
          <p:cNvSpPr txBox="1"/>
          <p:nvPr/>
        </p:nvSpPr>
        <p:spPr>
          <a:xfrm>
            <a:off x="365760" y="6400800"/>
            <a:ext cx="914400" cy="310896"/>
          </a:xfrm>
          <a:prstGeom prst="rect">
            <a:avLst/>
          </a:prstGeom>
          <a:noFill/>
        </p:spPr>
        <p:txBody>
          <a:bodyPr wrap="square" lIns="45720" rIns="45720" anchor="ctr">
            <a:spAutoFit/>
          </a:bodyPr>
          <a:lstStyle/>
          <a:p>
            <a:pPr algn="l" rtl="0">
              <a:spcAft>
                <a:spcPts val="0"/>
              </a:spcAft>
              <a:buNone/>
            </a:pPr>
            <a:r>
              <a:rPr lang="he-IL" sz="1300" b="0">
                <a:solidFill>
                  <a:srgbClr val="5A636A"/>
                </a:solidFill>
                <a:latin typeface="Arial"/>
                <a:cs typeface="Arial"/>
              </a:rPr>
              <a:t>13</a:t>
            </a:r>
          </a:p>
        </p:txBody>
      </p:sp>
      <p:sp>
        <p:nvSpPr>
          <p:cNvPr id="8" name="Rounded Rectangle 7"/>
          <p:cNvSpPr/>
          <p:nvPr/>
        </p:nvSpPr>
        <p:spPr>
          <a:xfrm>
            <a:off x="7882127" y="1325880"/>
            <a:ext cx="3849624" cy="1325880"/>
          </a:xfrm>
          <a:prstGeom prst="roundRect">
            <a:avLst>
              <a:gd name="adj" fmla="val 8000"/>
            </a:avLst>
          </a:prstGeom>
          <a:solidFill>
            <a:srgbClr val="E2F0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9" name="Oval 8"/>
          <p:cNvSpPr/>
          <p:nvPr/>
        </p:nvSpPr>
        <p:spPr>
          <a:xfrm>
            <a:off x="11073383" y="1444751"/>
            <a:ext cx="512064" cy="512064"/>
          </a:xfrm>
          <a:prstGeom prst="ellipse">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data.png"/>
          <p:cNvPicPr>
            <a:picLocks noChangeAspect="1"/>
          </p:cNvPicPr>
          <p:nvPr/>
        </p:nvPicPr>
        <p:blipFill>
          <a:blip r:embed="rId3"/>
          <a:stretch>
            <a:fillRect/>
          </a:stretch>
        </p:blipFill>
        <p:spPr>
          <a:xfrm>
            <a:off x="11196279" y="1567647"/>
            <a:ext cx="266273" cy="266273"/>
          </a:xfrm>
          <a:prstGeom prst="rect">
            <a:avLst/>
          </a:prstGeom>
        </p:spPr>
      </p:pic>
      <p:sp>
        <p:nvSpPr>
          <p:cNvPr id="11" name="TextBox 10"/>
          <p:cNvSpPr txBox="1"/>
          <p:nvPr/>
        </p:nvSpPr>
        <p:spPr>
          <a:xfrm>
            <a:off x="8019288" y="1463039"/>
            <a:ext cx="2935224" cy="475488"/>
          </a:xfrm>
          <a:prstGeom prst="rect">
            <a:avLst/>
          </a:prstGeom>
          <a:noFill/>
        </p:spPr>
        <p:txBody>
          <a:bodyPr wrap="square" lIns="45720" tIns="27432" rIns="45720" bIns="27432" rtlCol="0" anchor="ctr">
            <a:noAutofit/>
          </a:bodyPr>
          <a:lstStyle/>
          <a:p>
            <a:pPr algn="r" rtl="1">
              <a:spcAft>
                <a:spcPts val="0"/>
              </a:spcAft>
              <a:buNone/>
            </a:pPr>
            <a:r>
              <a:rPr lang="he-IL" sz="1800" b="1" dirty="0">
                <a:solidFill>
                  <a:srgbClr val="548235"/>
                </a:solidFill>
                <a:latin typeface="Arial"/>
                <a:cs typeface="Arial"/>
              </a:rPr>
              <a:t>למה</a:t>
            </a:r>
          </a:p>
        </p:txBody>
      </p:sp>
      <p:sp>
        <p:nvSpPr>
          <p:cNvPr id="12" name="TextBox 11"/>
          <p:cNvSpPr txBox="1"/>
          <p:nvPr/>
        </p:nvSpPr>
        <p:spPr>
          <a:xfrm>
            <a:off x="8019288" y="1874519"/>
            <a:ext cx="3611880" cy="731520"/>
          </a:xfrm>
          <a:prstGeom prst="rect">
            <a:avLst/>
          </a:prstGeom>
          <a:noFill/>
        </p:spPr>
        <p:txBody>
          <a:bodyPr wrap="square" lIns="45720" tIns="27432" rIns="45720" bIns="27432" rtlCol="0" anchor="t">
            <a:noAutofit/>
          </a:bodyPr>
          <a:lstStyle/>
          <a:p>
            <a:pPr algn="r" rtl="1">
              <a:spcAft>
                <a:spcPts val="0"/>
              </a:spcAft>
              <a:buNone/>
            </a:pPr>
            <a:r>
              <a:rPr lang="he-IL" sz="1400" b="0" dirty="0">
                <a:solidFill>
                  <a:srgbClr val="1B242B"/>
                </a:solidFill>
                <a:latin typeface="Arial"/>
                <a:cs typeface="Arial"/>
              </a:rPr>
              <a:t>אולי המודל ראה מעט מדי קולות ומשפטים, וגיוון נוסף יעזור לו להכליל</a:t>
            </a:r>
          </a:p>
        </p:txBody>
      </p:sp>
      <p:sp>
        <p:nvSpPr>
          <p:cNvPr id="13" name="Rounded Rectangle 12"/>
          <p:cNvSpPr/>
          <p:nvPr/>
        </p:nvSpPr>
        <p:spPr>
          <a:xfrm>
            <a:off x="7882127" y="2788920"/>
            <a:ext cx="3849624" cy="1783080"/>
          </a:xfrm>
          <a:prstGeom prst="roundRect">
            <a:avLst>
              <a:gd name="adj" fmla="val 8000"/>
            </a:avLst>
          </a:prstGeom>
          <a:solidFill>
            <a:srgbClr val="F7F9FB"/>
          </a:solidFill>
          <a:ln w="12700">
            <a:solidFill>
              <a:srgbClr val="D6DCE1"/>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14" name="TextBox 13"/>
          <p:cNvSpPr txBox="1"/>
          <p:nvPr/>
        </p:nvSpPr>
        <p:spPr>
          <a:xfrm>
            <a:off x="8019288" y="2834640"/>
            <a:ext cx="3611880" cy="365760"/>
          </a:xfrm>
          <a:prstGeom prst="rect">
            <a:avLst/>
          </a:prstGeom>
          <a:noFill/>
        </p:spPr>
        <p:txBody>
          <a:bodyPr wrap="square" lIns="45720" tIns="27432" rIns="45720" bIns="27432" rtlCol="0" anchor="ctr">
            <a:noAutofit/>
          </a:bodyPr>
          <a:lstStyle/>
          <a:p>
            <a:pPr algn="r" rtl="1">
              <a:spcAft>
                <a:spcPts val="0"/>
              </a:spcAft>
              <a:buNone/>
            </a:pPr>
            <a:r>
              <a:rPr lang="he-IL" sz="1600" b="1" dirty="0">
                <a:solidFill>
                  <a:srgbClr val="548235"/>
                </a:solidFill>
                <a:latin typeface="Arial"/>
                <a:cs typeface="Arial"/>
              </a:rPr>
              <a:t>מה שינינו</a:t>
            </a:r>
          </a:p>
        </p:txBody>
      </p:sp>
      <p:sp>
        <p:nvSpPr>
          <p:cNvPr id="15" name="TextBox 14"/>
          <p:cNvSpPr txBox="1"/>
          <p:nvPr/>
        </p:nvSpPr>
        <p:spPr>
          <a:xfrm>
            <a:off x="8019288" y="3200400"/>
            <a:ext cx="3611880" cy="1325880"/>
          </a:xfrm>
          <a:prstGeom prst="rect">
            <a:avLst/>
          </a:prstGeom>
          <a:noFill/>
        </p:spPr>
        <p:txBody>
          <a:bodyPr wrap="square" lIns="45720" tIns="27432" rIns="45720" bIns="27432" rtlCol="0" anchor="t">
            <a:noAutofit/>
          </a:bodyPr>
          <a:lstStyle/>
          <a:p>
            <a:pPr marL="256032" indent="-256032" algn="r" rtl="1">
              <a:spcAft>
                <a:spcPts val="300"/>
              </a:spcAft>
              <a:buFont typeface="Arial"/>
              <a:buChar char="•"/>
            </a:pPr>
            <a:r>
              <a:rPr lang="he-IL" sz="1300" b="1" dirty="0">
                <a:solidFill>
                  <a:srgbClr val="1B242B"/>
                </a:solidFill>
                <a:latin typeface="Arial"/>
                <a:cs typeface="Arial"/>
              </a:rPr>
              <a:t>נתונים: </a:t>
            </a:r>
            <a:r>
              <a:rPr lang="he-IL" sz="1300" b="0" dirty="0">
                <a:solidFill>
                  <a:srgbClr val="1B242B"/>
                </a:solidFill>
                <a:latin typeface="Arial"/>
                <a:cs typeface="Arial"/>
              </a:rPr>
              <a:t>+ גרסת 56 הדוברים, 33,300 זוגות</a:t>
            </a:r>
          </a:p>
          <a:p>
            <a:pPr marL="256032" indent="-256032" algn="r" rtl="1">
              <a:spcAft>
                <a:spcPts val="300"/>
              </a:spcAft>
              <a:buFont typeface="Arial"/>
              <a:buChar char="•"/>
            </a:pPr>
            <a:r>
              <a:rPr lang="he-IL" sz="1300" b="1" dirty="0">
                <a:solidFill>
                  <a:srgbClr val="1B242B"/>
                </a:solidFill>
                <a:latin typeface="Arial"/>
                <a:cs typeface="Arial"/>
              </a:rPr>
              <a:t>בכל </a:t>
            </a:r>
            <a:r>
              <a:rPr lang="en-US" sz="1300" b="1" dirty="0">
                <a:solidFill>
                  <a:srgbClr val="1B242B"/>
                </a:solidFill>
                <a:latin typeface="Arial"/>
                <a:cs typeface="Arial"/>
              </a:rPr>
              <a:t>epoch</a:t>
            </a:r>
            <a:r>
              <a:rPr lang="he-IL" sz="1300" b="1" dirty="0">
                <a:solidFill>
                  <a:srgbClr val="1B242B"/>
                </a:solidFill>
                <a:latin typeface="Arial"/>
                <a:cs typeface="Arial"/>
              </a:rPr>
              <a:t>‎: </a:t>
            </a:r>
            <a:r>
              <a:rPr lang="he-IL" sz="1300" b="0" dirty="0">
                <a:solidFill>
                  <a:srgbClr val="1B242B"/>
                </a:solidFill>
                <a:latin typeface="Arial"/>
                <a:cs typeface="Arial"/>
              </a:rPr>
              <a:t>מגרילים 10,225, כך שהחישוב זהה</a:t>
            </a:r>
          </a:p>
          <a:p>
            <a:pPr marL="256032" indent="-256032" algn="r" rtl="1">
              <a:spcAft>
                <a:spcPts val="300"/>
              </a:spcAft>
              <a:buFont typeface="Arial"/>
              <a:buChar char="•"/>
            </a:pPr>
            <a:r>
              <a:rPr lang="he-IL" sz="1300" b="1" dirty="0">
                <a:solidFill>
                  <a:srgbClr val="1B242B"/>
                </a:solidFill>
                <a:latin typeface="Arial"/>
                <a:cs typeface="Arial"/>
              </a:rPr>
              <a:t>הפסד: </a:t>
            </a:r>
            <a:r>
              <a:rPr lang="en-US" sz="1300" b="0" dirty="0">
                <a:solidFill>
                  <a:srgbClr val="1B242B"/>
                </a:solidFill>
                <a:latin typeface="Arial"/>
                <a:cs typeface="Arial"/>
              </a:rPr>
              <a:t>MSE</a:t>
            </a:r>
            <a:r>
              <a:rPr lang="he-IL" sz="1300" b="0" dirty="0">
                <a:solidFill>
                  <a:srgbClr val="1B242B"/>
                </a:solidFill>
                <a:latin typeface="Arial"/>
                <a:cs typeface="Arial"/>
              </a:rPr>
              <a:t>‎, כמו בגרסה 1</a:t>
            </a:r>
          </a:p>
          <a:p>
            <a:pPr marL="256032" indent="-256032" algn="r" rtl="1">
              <a:spcAft>
                <a:spcPts val="300"/>
              </a:spcAft>
              <a:buFont typeface="Arial"/>
              <a:buChar char="•"/>
            </a:pPr>
            <a:r>
              <a:rPr lang="he-IL" sz="1300" b="1" dirty="0">
                <a:solidFill>
                  <a:srgbClr val="1B242B"/>
                </a:solidFill>
                <a:latin typeface="Arial"/>
                <a:cs typeface="Arial"/>
              </a:rPr>
              <a:t>‏</a:t>
            </a:r>
            <a:r>
              <a:rPr lang="en-US" sz="1300" b="1" dirty="0">
                <a:solidFill>
                  <a:srgbClr val="1B242B"/>
                </a:solidFill>
                <a:latin typeface="Arial"/>
                <a:cs typeface="Arial"/>
              </a:rPr>
              <a:t>epochs: </a:t>
            </a:r>
            <a:r>
              <a:rPr lang="en-US" sz="1300" b="0" dirty="0">
                <a:solidFill>
                  <a:srgbClr val="1B242B"/>
                </a:solidFill>
                <a:latin typeface="Arial"/>
                <a:cs typeface="Arial"/>
              </a:rPr>
              <a:t>17</a:t>
            </a:r>
            <a:r>
              <a:rPr lang="he-IL" sz="1300" b="0" dirty="0">
                <a:solidFill>
                  <a:srgbClr val="1B242B"/>
                </a:solidFill>
                <a:latin typeface="Arial"/>
                <a:cs typeface="Arial"/>
              </a:rPr>
              <a:t>‎ עד 24, כ-5.3 שעות על </a:t>
            </a:r>
            <a:r>
              <a:rPr lang="en-US" sz="1300" b="0" dirty="0">
                <a:solidFill>
                  <a:srgbClr val="1B242B"/>
                </a:solidFill>
                <a:latin typeface="Arial"/>
                <a:cs typeface="Arial"/>
              </a:rPr>
              <a:t>T4</a:t>
            </a:r>
            <a:r>
              <a:rPr lang="he-IL" sz="1300" b="0" dirty="0">
                <a:solidFill>
                  <a:srgbClr val="1B242B"/>
                </a:solidFill>
                <a:latin typeface="Arial"/>
                <a:cs typeface="Arial"/>
              </a:rPr>
              <a:t>‎</a:t>
            </a:r>
          </a:p>
        </p:txBody>
      </p:sp>
      <p:sp>
        <p:nvSpPr>
          <p:cNvPr id="16" name="TextBox 15"/>
          <p:cNvSpPr txBox="1"/>
          <p:nvPr/>
        </p:nvSpPr>
        <p:spPr>
          <a:xfrm>
            <a:off x="457200" y="1280160"/>
            <a:ext cx="7223760" cy="365760"/>
          </a:xfrm>
          <a:prstGeom prst="rect">
            <a:avLst/>
          </a:prstGeom>
          <a:noFill/>
        </p:spPr>
        <p:txBody>
          <a:bodyPr wrap="square" lIns="45720" tIns="27432" rIns="45720" bIns="27432" rtlCol="0" anchor="ctr">
            <a:noAutofit/>
          </a:bodyPr>
          <a:lstStyle/>
          <a:p>
            <a:pPr algn="ctr" rtl="1">
              <a:spcAft>
                <a:spcPts val="0"/>
              </a:spcAft>
              <a:buNone/>
            </a:pPr>
            <a:r>
              <a:rPr lang="he-IL" sz="1500" b="1" dirty="0">
                <a:solidFill>
                  <a:srgbClr val="1B242B"/>
                </a:solidFill>
                <a:latin typeface="Arial"/>
                <a:cs typeface="Arial"/>
              </a:rPr>
              <a:t>‏</a:t>
            </a:r>
            <a:r>
              <a:rPr lang="en-US" sz="1500" b="1" dirty="0">
                <a:solidFill>
                  <a:srgbClr val="1B242B"/>
                </a:solidFill>
                <a:latin typeface="Arial"/>
                <a:cs typeface="Arial"/>
              </a:rPr>
              <a:t>PESQ</a:t>
            </a:r>
            <a:r>
              <a:rPr lang="he-IL" sz="1500" b="1" dirty="0">
                <a:solidFill>
                  <a:srgbClr val="1B242B"/>
                </a:solidFill>
                <a:latin typeface="Arial"/>
                <a:cs typeface="Arial"/>
              </a:rPr>
              <a:t>‎ על ה-</a:t>
            </a:r>
            <a:r>
              <a:rPr lang="en-US" sz="1500" b="1" dirty="0">
                <a:solidFill>
                  <a:srgbClr val="1B242B"/>
                </a:solidFill>
                <a:latin typeface="Arial"/>
                <a:cs typeface="Arial"/>
              </a:rPr>
              <a:t>validation</a:t>
            </a:r>
            <a:r>
              <a:rPr lang="he-IL" sz="1500" b="1" dirty="0">
                <a:solidFill>
                  <a:srgbClr val="1B242B"/>
                </a:solidFill>
                <a:latin typeface="Arial"/>
                <a:cs typeface="Arial"/>
              </a:rPr>
              <a:t>‎: נתונים נוספים מול המשך אימון</a:t>
            </a:r>
          </a:p>
        </p:txBody>
      </p:sp>
      <p:graphicFrame>
        <p:nvGraphicFramePr>
          <p:cNvPr id="17" name="Chart 16"/>
          <p:cNvGraphicFramePr>
            <a:graphicFrameLocks noGrp="1"/>
          </p:cNvGraphicFramePr>
          <p:nvPr/>
        </p:nvGraphicFramePr>
        <p:xfrm>
          <a:off x="365760" y="1645920"/>
          <a:ext cx="7315200" cy="2697480"/>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Box 17"/>
          <p:cNvSpPr txBox="1"/>
          <p:nvPr/>
        </p:nvSpPr>
        <p:spPr>
          <a:xfrm>
            <a:off x="6126480" y="4315968"/>
            <a:ext cx="1463040" cy="310896"/>
          </a:xfrm>
          <a:prstGeom prst="rect">
            <a:avLst/>
          </a:prstGeom>
          <a:noFill/>
        </p:spPr>
        <p:txBody>
          <a:bodyPr wrap="square" lIns="45720" tIns="27432" rIns="45720" bIns="27432" rtlCol="0" anchor="ctr">
            <a:noAutofit/>
          </a:bodyPr>
          <a:lstStyle/>
          <a:p>
            <a:pPr algn="r" rtl="1">
              <a:spcAft>
                <a:spcPts val="0"/>
              </a:spcAft>
              <a:buNone/>
            </a:pPr>
            <a:r>
              <a:rPr lang="he-IL" sz="1300" b="0" dirty="0">
                <a:solidFill>
                  <a:srgbClr val="1B242B"/>
                </a:solidFill>
                <a:latin typeface="Arial"/>
                <a:cs typeface="Arial"/>
              </a:rPr>
              <a:t>המשך אימון</a:t>
            </a:r>
          </a:p>
        </p:txBody>
      </p:sp>
      <p:sp>
        <p:nvSpPr>
          <p:cNvPr id="19" name="Oval 18"/>
          <p:cNvSpPr/>
          <p:nvPr/>
        </p:nvSpPr>
        <p:spPr>
          <a:xfrm>
            <a:off x="7607808" y="4407407"/>
            <a:ext cx="137160" cy="137160"/>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95344" y="4315968"/>
            <a:ext cx="1819656" cy="310896"/>
          </a:xfrm>
          <a:prstGeom prst="rect">
            <a:avLst/>
          </a:prstGeom>
          <a:noFill/>
        </p:spPr>
        <p:txBody>
          <a:bodyPr wrap="square" lIns="45720" tIns="27432" rIns="45720" bIns="27432" rtlCol="0" anchor="ctr">
            <a:noAutofit/>
          </a:bodyPr>
          <a:lstStyle/>
          <a:p>
            <a:pPr algn="r" rtl="1">
              <a:spcAft>
                <a:spcPts val="0"/>
              </a:spcAft>
              <a:buNone/>
            </a:pPr>
            <a:r>
              <a:rPr lang="he-IL" sz="1300" b="0" dirty="0">
                <a:solidFill>
                  <a:srgbClr val="1B242B"/>
                </a:solidFill>
                <a:latin typeface="Arial"/>
                <a:cs typeface="Arial"/>
              </a:rPr>
              <a:t>נתונים נוספים</a:t>
            </a:r>
          </a:p>
        </p:txBody>
      </p:sp>
      <p:sp>
        <p:nvSpPr>
          <p:cNvPr id="21" name="Oval 20"/>
          <p:cNvSpPr/>
          <p:nvPr/>
        </p:nvSpPr>
        <p:spPr>
          <a:xfrm>
            <a:off x="5733288" y="4407407"/>
            <a:ext cx="137160" cy="137160"/>
          </a:xfrm>
          <a:prstGeom prst="ellipse">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4315968"/>
            <a:ext cx="2743200" cy="274320"/>
          </a:xfrm>
          <a:prstGeom prst="rect">
            <a:avLst/>
          </a:prstGeom>
          <a:noFill/>
        </p:spPr>
        <p:txBody>
          <a:bodyPr wrap="square" lIns="45720" tIns="27432" rIns="45720" bIns="27432" rtlCol="0" anchor="ctr">
            <a:noAutofit/>
          </a:bodyPr>
          <a:lstStyle/>
          <a:p>
            <a:pPr algn="r" rtl="1">
              <a:spcAft>
                <a:spcPts val="0"/>
              </a:spcAft>
              <a:buNone/>
            </a:pPr>
            <a:r>
              <a:rPr lang="he-IL" sz="1200" b="0" dirty="0">
                <a:solidFill>
                  <a:srgbClr val="5A636A"/>
                </a:solidFill>
                <a:latin typeface="Arial"/>
                <a:cs typeface="Arial"/>
              </a:rPr>
              <a:t>עיגול חלול = ה-</a:t>
            </a:r>
            <a:r>
              <a:rPr lang="en-US" sz="1200" b="0" dirty="0">
                <a:solidFill>
                  <a:srgbClr val="5A636A"/>
                </a:solidFill>
                <a:latin typeface="Arial"/>
                <a:cs typeface="Arial"/>
              </a:rPr>
              <a:t>epoch</a:t>
            </a:r>
            <a:r>
              <a:rPr lang="he-IL" sz="1200" b="0" dirty="0">
                <a:solidFill>
                  <a:srgbClr val="5A636A"/>
                </a:solidFill>
                <a:latin typeface="Arial"/>
                <a:cs typeface="Arial"/>
              </a:rPr>
              <a:t>‎ שנבחר</a:t>
            </a:r>
          </a:p>
        </p:txBody>
      </p:sp>
      <p:sp>
        <p:nvSpPr>
          <p:cNvPr id="23" name="Rounded Rectangle 22"/>
          <p:cNvSpPr/>
          <p:nvPr/>
        </p:nvSpPr>
        <p:spPr>
          <a:xfrm>
            <a:off x="7882127" y="4709160"/>
            <a:ext cx="3657600" cy="1024128"/>
          </a:xfrm>
          <a:prstGeom prst="roundRect">
            <a:avLst>
              <a:gd name="adj" fmla="val 8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24" name="TextBox 23"/>
          <p:cNvSpPr txBox="1"/>
          <p:nvPr/>
        </p:nvSpPr>
        <p:spPr>
          <a:xfrm>
            <a:off x="7973567" y="4727448"/>
            <a:ext cx="3474720" cy="987552"/>
          </a:xfrm>
          <a:prstGeom prst="rect">
            <a:avLst/>
          </a:prstGeom>
          <a:noFill/>
        </p:spPr>
        <p:txBody>
          <a:bodyPr wrap="square" lIns="45720" tIns="27432" rIns="45720" bIns="27432" rtlCol="0" anchor="ctr">
            <a:noAutofit/>
          </a:bodyPr>
          <a:lstStyle/>
          <a:p>
            <a:pPr algn="ctr" rtl="1">
              <a:spcAft>
                <a:spcPts val="100"/>
              </a:spcAft>
              <a:buNone/>
            </a:pPr>
            <a:r>
              <a:rPr lang="he-IL" sz="1300" b="1" dirty="0">
                <a:solidFill>
                  <a:srgbClr val="5A636A"/>
                </a:solidFill>
                <a:latin typeface="Arial"/>
                <a:cs typeface="Arial"/>
              </a:rPr>
              <a:t>נבחר</a:t>
            </a:r>
          </a:p>
          <a:p>
            <a:pPr algn="ctr" rtl="0">
              <a:spcAft>
                <a:spcPts val="100"/>
              </a:spcAft>
              <a:buNone/>
            </a:pPr>
            <a:r>
              <a:rPr lang="he-IL" sz="2000" b="1" dirty="0">
                <a:solidFill>
                  <a:srgbClr val="548235"/>
                </a:solidFill>
                <a:latin typeface="Arial"/>
                <a:cs typeface="Arial"/>
              </a:rPr>
              <a:t>epoch 19</a:t>
            </a:r>
          </a:p>
          <a:p>
            <a:pPr algn="ctr" rtl="0">
              <a:spcAft>
                <a:spcPts val="0"/>
              </a:spcAft>
              <a:buNone/>
            </a:pPr>
            <a:r>
              <a:rPr lang="he-IL" sz="1200" b="0" dirty="0">
                <a:solidFill>
                  <a:srgbClr val="1B242B"/>
                </a:solidFill>
                <a:latin typeface="Arial"/>
                <a:cs typeface="Arial"/>
              </a:rPr>
              <a:t>validation PESQ 2.826</a:t>
            </a:r>
          </a:p>
        </p:txBody>
      </p:sp>
      <p:sp>
        <p:nvSpPr>
          <p:cNvPr id="25" name="Rounded Rectangle 24"/>
          <p:cNvSpPr/>
          <p:nvPr/>
        </p:nvSpPr>
        <p:spPr>
          <a:xfrm>
            <a:off x="4069079" y="4709160"/>
            <a:ext cx="3657600" cy="1024128"/>
          </a:xfrm>
          <a:prstGeom prst="roundRect">
            <a:avLst>
              <a:gd name="adj" fmla="val 8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26" name="TextBox 25"/>
          <p:cNvSpPr txBox="1"/>
          <p:nvPr/>
        </p:nvSpPr>
        <p:spPr>
          <a:xfrm>
            <a:off x="4160519" y="4727448"/>
            <a:ext cx="3474720" cy="987552"/>
          </a:xfrm>
          <a:prstGeom prst="rect">
            <a:avLst/>
          </a:prstGeom>
          <a:noFill/>
        </p:spPr>
        <p:txBody>
          <a:bodyPr wrap="square" lIns="45720" tIns="27432" rIns="45720" bIns="27432" rtlCol="0" anchor="ctr">
            <a:noAutofit/>
          </a:bodyPr>
          <a:lstStyle/>
          <a:p>
            <a:pPr algn="ctr" rtl="1">
              <a:spcAft>
                <a:spcPts val="100"/>
              </a:spcAft>
              <a:buNone/>
            </a:pPr>
            <a:r>
              <a:rPr lang="he-IL" sz="1300" b="1" dirty="0">
                <a:solidFill>
                  <a:srgbClr val="5A636A"/>
                </a:solidFill>
                <a:latin typeface="Arial"/>
                <a:cs typeface="Arial"/>
              </a:rPr>
              <a:t>על סט הבדיקה</a:t>
            </a:r>
          </a:p>
          <a:p>
            <a:pPr algn="ctr" rtl="0">
              <a:spcAft>
                <a:spcPts val="100"/>
              </a:spcAft>
              <a:buNone/>
            </a:pPr>
            <a:r>
              <a:rPr lang="he-IL" sz="2000" b="1" dirty="0">
                <a:solidFill>
                  <a:srgbClr val="1B242B"/>
                </a:solidFill>
                <a:latin typeface="Arial"/>
                <a:cs typeface="Arial"/>
              </a:rPr>
              <a:t>PESQ 3.149</a:t>
            </a:r>
          </a:p>
          <a:p>
            <a:pPr algn="ctr" rtl="0">
              <a:spcAft>
                <a:spcPts val="0"/>
              </a:spcAft>
              <a:buNone/>
            </a:pPr>
            <a:r>
              <a:rPr lang="he-IL" sz="1200" b="0" dirty="0">
                <a:solidFill>
                  <a:srgbClr val="1B242B"/>
                </a:solidFill>
                <a:latin typeface="Arial"/>
                <a:cs typeface="Arial"/>
              </a:rPr>
              <a:t>SI-SDR ‎18.64 [dB]‏ · STOI 0.953</a:t>
            </a:r>
          </a:p>
        </p:txBody>
      </p:sp>
      <p:sp>
        <p:nvSpPr>
          <p:cNvPr id="27" name="Rounded Rectangle 26"/>
          <p:cNvSpPr/>
          <p:nvPr/>
        </p:nvSpPr>
        <p:spPr>
          <a:xfrm>
            <a:off x="256031" y="4709160"/>
            <a:ext cx="3657600" cy="1024128"/>
          </a:xfrm>
          <a:prstGeom prst="roundRect">
            <a:avLst>
              <a:gd name="adj" fmla="val 8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28" name="TextBox 27"/>
          <p:cNvSpPr txBox="1"/>
          <p:nvPr/>
        </p:nvSpPr>
        <p:spPr>
          <a:xfrm>
            <a:off x="347471" y="4727448"/>
            <a:ext cx="3474720" cy="987552"/>
          </a:xfrm>
          <a:prstGeom prst="rect">
            <a:avLst/>
          </a:prstGeom>
          <a:noFill/>
        </p:spPr>
        <p:txBody>
          <a:bodyPr wrap="square" lIns="45720" tIns="27432" rIns="45720" bIns="27432" rtlCol="0" anchor="ctr">
            <a:noAutofit/>
          </a:bodyPr>
          <a:lstStyle/>
          <a:p>
            <a:pPr algn="ctr" rtl="1">
              <a:spcAft>
                <a:spcPts val="100"/>
              </a:spcAft>
              <a:buNone/>
            </a:pPr>
            <a:r>
              <a:rPr lang="he-IL" sz="1300" b="1" dirty="0">
                <a:solidFill>
                  <a:srgbClr val="5A636A"/>
                </a:solidFill>
                <a:latin typeface="Arial"/>
                <a:cs typeface="Arial"/>
              </a:rPr>
              <a:t>מול ה-</a:t>
            </a:r>
            <a:r>
              <a:rPr lang="en-US" sz="1300" b="1" dirty="0">
                <a:solidFill>
                  <a:srgbClr val="5A636A"/>
                </a:solidFill>
                <a:latin typeface="Arial"/>
                <a:cs typeface="Arial"/>
              </a:rPr>
              <a:t>baseline</a:t>
            </a:r>
            <a:r>
              <a:rPr lang="he-IL" sz="1300" b="1" dirty="0">
                <a:solidFill>
                  <a:srgbClr val="5A636A"/>
                </a:solidFill>
                <a:latin typeface="Arial"/>
                <a:cs typeface="Arial"/>
              </a:rPr>
              <a:t>‎</a:t>
            </a:r>
          </a:p>
          <a:p>
            <a:pPr algn="ctr" rtl="0">
              <a:spcAft>
                <a:spcPts val="100"/>
              </a:spcAft>
              <a:buNone/>
            </a:pPr>
            <a:r>
              <a:rPr lang="he-IL" sz="2000" b="1" dirty="0">
                <a:solidFill>
                  <a:srgbClr val="1B242B"/>
                </a:solidFill>
                <a:latin typeface="Arial"/>
                <a:cs typeface="Arial"/>
              </a:rPr>
              <a:t>PESQ +0.005</a:t>
            </a:r>
          </a:p>
          <a:p>
            <a:pPr algn="ctr" rtl="1">
              <a:spcAft>
                <a:spcPts val="0"/>
              </a:spcAft>
              <a:buNone/>
            </a:pPr>
            <a:r>
              <a:rPr lang="he-IL" sz="1200" b="0" dirty="0">
                <a:solidFill>
                  <a:srgbClr val="1B242B"/>
                </a:solidFill>
                <a:latin typeface="Arial"/>
                <a:cs typeface="Arial"/>
              </a:rPr>
              <a:t>‏</a:t>
            </a:r>
            <a:r>
              <a:rPr lang="en-US" sz="1200" b="0" dirty="0">
                <a:solidFill>
                  <a:srgbClr val="1B242B"/>
                </a:solidFill>
                <a:latin typeface="Arial"/>
                <a:cs typeface="Arial"/>
              </a:rPr>
              <a:t>SI-SDR</a:t>
            </a:r>
            <a:r>
              <a:rPr lang="he-IL" sz="1200" b="0" dirty="0">
                <a:solidFill>
                  <a:srgbClr val="1B242B"/>
                </a:solidFill>
                <a:latin typeface="Arial"/>
                <a:cs typeface="Arial"/>
              </a:rPr>
              <a:t>‎ עלה ב-‎0.03 [</a:t>
            </a:r>
            <a:r>
              <a:rPr lang="en-US" sz="1200" b="0" dirty="0">
                <a:solidFill>
                  <a:srgbClr val="1B242B"/>
                </a:solidFill>
                <a:latin typeface="Arial"/>
                <a:cs typeface="Arial"/>
              </a:rPr>
              <a:t>dB]</a:t>
            </a:r>
            <a:r>
              <a:rPr lang="he-IL" sz="1200" b="0" dirty="0">
                <a:solidFill>
                  <a:srgbClr val="1B242B"/>
                </a:solidFill>
                <a:latin typeface="Arial"/>
                <a:cs typeface="Arial"/>
              </a:rPr>
              <a:t>‏ בלבד</a:t>
            </a:r>
          </a:p>
        </p:txBody>
      </p:sp>
      <p:sp>
        <p:nvSpPr>
          <p:cNvPr id="29" name="Rounded Rectangle 28"/>
          <p:cNvSpPr/>
          <p:nvPr/>
        </p:nvSpPr>
        <p:spPr>
          <a:xfrm>
            <a:off x="411480" y="5833872"/>
            <a:ext cx="11320272" cy="457200"/>
          </a:xfrm>
          <a:prstGeom prst="roundRect">
            <a:avLst>
              <a:gd name="adj" fmla="val 8000"/>
            </a:avLst>
          </a:prstGeom>
          <a:solidFill>
            <a:srgbClr val="E2F0D9"/>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30" name="TextBox 29"/>
          <p:cNvSpPr txBox="1"/>
          <p:nvPr/>
        </p:nvSpPr>
        <p:spPr>
          <a:xfrm>
            <a:off x="502920" y="5833872"/>
            <a:ext cx="11137392" cy="457200"/>
          </a:xfrm>
          <a:prstGeom prst="rect">
            <a:avLst/>
          </a:prstGeom>
          <a:noFill/>
        </p:spPr>
        <p:txBody>
          <a:bodyPr wrap="square" lIns="45720" tIns="27432" rIns="45720" bIns="27432" rtlCol="0" anchor="ctr">
            <a:noAutofit/>
          </a:bodyPr>
          <a:lstStyle/>
          <a:p>
            <a:pPr algn="ctr" rtl="1">
              <a:spcAft>
                <a:spcPts val="0"/>
              </a:spcAft>
              <a:buNone/>
            </a:pPr>
            <a:r>
              <a:rPr lang="he-IL" sz="1500" b="1" dirty="0">
                <a:solidFill>
                  <a:srgbClr val="548235"/>
                </a:solidFill>
                <a:latin typeface="Arial"/>
                <a:cs typeface="Arial"/>
              </a:rPr>
              <a:t>המסקנה: </a:t>
            </a:r>
            <a:r>
              <a:rPr lang="he-IL" sz="1500" b="0" dirty="0">
                <a:solidFill>
                  <a:srgbClr val="1B242B"/>
                </a:solidFill>
                <a:latin typeface="Arial"/>
                <a:cs typeface="Arial"/>
              </a:rPr>
              <a:t>פי 3 גיוון כמעט לא שינה את </a:t>
            </a:r>
            <a:r>
              <a:rPr lang="en-US" sz="1500" b="0" dirty="0">
                <a:solidFill>
                  <a:srgbClr val="1B242B"/>
                </a:solidFill>
                <a:latin typeface="Arial"/>
                <a:cs typeface="Arial"/>
              </a:rPr>
              <a:t>PESQ</a:t>
            </a:r>
            <a:r>
              <a:rPr lang="he-IL" sz="1500" b="0" dirty="0">
                <a:solidFill>
                  <a:srgbClr val="1B242B"/>
                </a:solidFill>
                <a:latin typeface="Arial"/>
                <a:cs typeface="Arial"/>
              </a:rPr>
              <a:t>‎ ולא את </a:t>
            </a:r>
            <a:r>
              <a:rPr lang="en-US" sz="1500" b="0" dirty="0">
                <a:solidFill>
                  <a:srgbClr val="1B242B"/>
                </a:solidFill>
                <a:latin typeface="Arial"/>
                <a:cs typeface="Arial"/>
              </a:rPr>
              <a:t>SI-SDR</a:t>
            </a:r>
            <a:r>
              <a:rPr lang="he-IL" sz="1500" b="0" dirty="0">
                <a:solidFill>
                  <a:srgbClr val="1B242B"/>
                </a:solidFill>
                <a:latin typeface="Arial"/>
                <a:cs typeface="Arial"/>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70552"/>
            <a:ext cx="11277295" cy="584775"/>
          </a:xfrm>
          <a:prstGeom prst="rect">
            <a:avLst/>
          </a:prstGeom>
          <a:noFill/>
        </p:spPr>
        <p:txBody>
          <a:bodyPr wrap="square" lIns="45720" rIns="45720" anchor="ctr">
            <a:spAutoFit/>
          </a:bodyPr>
          <a:lstStyle/>
          <a:p>
            <a:pPr algn="r" rtl="1">
              <a:spcAft>
                <a:spcPts val="800"/>
              </a:spcAft>
              <a:buNone/>
            </a:pPr>
            <a:r>
              <a:rPr lang="he-IL" sz="3200" b="1" dirty="0">
                <a:solidFill>
                  <a:srgbClr val="1F4E79"/>
                </a:solidFill>
                <a:latin typeface="Arial"/>
                <a:cs typeface="Arial"/>
              </a:rPr>
              <a:t>גרסה 3: נתונים נוספים ו-</a:t>
            </a:r>
            <a:r>
              <a:rPr lang="en-US" sz="3200" b="1" dirty="0">
                <a:solidFill>
                  <a:srgbClr val="1F4E79"/>
                </a:solidFill>
                <a:latin typeface="Arial"/>
                <a:cs typeface="Arial"/>
              </a:rPr>
              <a:t>L1</a:t>
            </a:r>
            <a:r>
              <a:rPr lang="he-IL" sz="3200" b="1" dirty="0">
                <a:solidFill>
                  <a:srgbClr val="1F4E79"/>
                </a:solidFill>
                <a:latin typeface="Arial"/>
                <a:cs typeface="Arial"/>
              </a:rPr>
              <a:t>‎</a:t>
            </a:r>
          </a:p>
        </p:txBody>
      </p:sp>
      <p:sp>
        <p:nvSpPr>
          <p:cNvPr id="4" name="Rectangle 3"/>
          <p:cNvSpPr/>
          <p:nvPr/>
        </p:nvSpPr>
        <p:spPr>
          <a:xfrm>
            <a:off x="10271455" y="1051560"/>
            <a:ext cx="1463040" cy="4572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774375" y="6400800"/>
            <a:ext cx="1051560" cy="310896"/>
          </a:xfrm>
          <a:prstGeom prst="roundRect">
            <a:avLst>
              <a:gd name="adj" fmla="val 50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74375" y="6400800"/>
            <a:ext cx="1051560" cy="310896"/>
          </a:xfrm>
          <a:prstGeom prst="rect">
            <a:avLst/>
          </a:prstGeom>
          <a:noFill/>
        </p:spPr>
        <p:txBody>
          <a:bodyPr wrap="square" lIns="45720" rIns="45720" anchor="ctr">
            <a:spAutoFit/>
          </a:bodyPr>
          <a:lstStyle/>
          <a:p>
            <a:pPr algn="ctr" rtl="1">
              <a:spcAft>
                <a:spcPts val="0"/>
              </a:spcAft>
              <a:buNone/>
            </a:pPr>
            <a:r>
              <a:rPr lang="he-IL" sz="1300" b="1">
                <a:solidFill>
                  <a:srgbClr val="FFFFFF"/>
                </a:solidFill>
                <a:latin typeface="Arial"/>
                <a:cs typeface="Arial"/>
              </a:rPr>
              <a:t>עידן</a:t>
            </a:r>
          </a:p>
        </p:txBody>
      </p:sp>
      <p:sp>
        <p:nvSpPr>
          <p:cNvPr id="7" name="TextBox 6"/>
          <p:cNvSpPr txBox="1"/>
          <p:nvPr/>
        </p:nvSpPr>
        <p:spPr>
          <a:xfrm>
            <a:off x="365760" y="6400800"/>
            <a:ext cx="914400" cy="310896"/>
          </a:xfrm>
          <a:prstGeom prst="rect">
            <a:avLst/>
          </a:prstGeom>
          <a:noFill/>
        </p:spPr>
        <p:txBody>
          <a:bodyPr wrap="square" lIns="45720" rIns="45720" anchor="ctr">
            <a:spAutoFit/>
          </a:bodyPr>
          <a:lstStyle/>
          <a:p>
            <a:pPr algn="l" rtl="0">
              <a:spcAft>
                <a:spcPts val="0"/>
              </a:spcAft>
              <a:buNone/>
            </a:pPr>
            <a:r>
              <a:rPr lang="he-IL" sz="1300" b="0">
                <a:solidFill>
                  <a:srgbClr val="5A636A"/>
                </a:solidFill>
                <a:latin typeface="Arial"/>
                <a:cs typeface="Arial"/>
              </a:rPr>
              <a:t>14</a:t>
            </a:r>
          </a:p>
        </p:txBody>
      </p:sp>
      <p:sp>
        <p:nvSpPr>
          <p:cNvPr id="8" name="Rounded Rectangle 7"/>
          <p:cNvSpPr/>
          <p:nvPr/>
        </p:nvSpPr>
        <p:spPr>
          <a:xfrm>
            <a:off x="7882127" y="1325880"/>
            <a:ext cx="3849624" cy="1325880"/>
          </a:xfrm>
          <a:prstGeom prst="roundRect">
            <a:avLst>
              <a:gd name="adj" fmla="val 8000"/>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9" name="Oval 8"/>
          <p:cNvSpPr/>
          <p:nvPr/>
        </p:nvSpPr>
        <p:spPr>
          <a:xfrm>
            <a:off x="11073383" y="1444751"/>
            <a:ext cx="512064" cy="512064"/>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target.png"/>
          <p:cNvPicPr>
            <a:picLocks noChangeAspect="1"/>
          </p:cNvPicPr>
          <p:nvPr/>
        </p:nvPicPr>
        <p:blipFill>
          <a:blip r:embed="rId3"/>
          <a:stretch>
            <a:fillRect/>
          </a:stretch>
        </p:blipFill>
        <p:spPr>
          <a:xfrm>
            <a:off x="11196279" y="1567647"/>
            <a:ext cx="266273" cy="266273"/>
          </a:xfrm>
          <a:prstGeom prst="rect">
            <a:avLst/>
          </a:prstGeom>
        </p:spPr>
      </p:pic>
      <p:sp>
        <p:nvSpPr>
          <p:cNvPr id="11" name="TextBox 10"/>
          <p:cNvSpPr txBox="1"/>
          <p:nvPr/>
        </p:nvSpPr>
        <p:spPr>
          <a:xfrm>
            <a:off x="8019288" y="1463039"/>
            <a:ext cx="2935224" cy="475488"/>
          </a:xfrm>
          <a:prstGeom prst="rect">
            <a:avLst/>
          </a:prstGeom>
          <a:noFill/>
        </p:spPr>
        <p:txBody>
          <a:bodyPr wrap="square" lIns="45720" tIns="27432" rIns="45720" bIns="27432" rtlCol="0" anchor="ctr">
            <a:noAutofit/>
          </a:bodyPr>
          <a:lstStyle/>
          <a:p>
            <a:pPr algn="r" rtl="1">
              <a:spcAft>
                <a:spcPts val="0"/>
              </a:spcAft>
              <a:buNone/>
            </a:pPr>
            <a:r>
              <a:rPr lang="he-IL" sz="1800" b="1" dirty="0">
                <a:solidFill>
                  <a:srgbClr val="C55A11"/>
                </a:solidFill>
                <a:latin typeface="Arial"/>
                <a:cs typeface="Arial"/>
              </a:rPr>
              <a:t>למה</a:t>
            </a:r>
          </a:p>
        </p:txBody>
      </p:sp>
      <p:sp>
        <p:nvSpPr>
          <p:cNvPr id="12" name="TextBox 11"/>
          <p:cNvSpPr txBox="1"/>
          <p:nvPr/>
        </p:nvSpPr>
        <p:spPr>
          <a:xfrm>
            <a:off x="8019288" y="1874519"/>
            <a:ext cx="3611880" cy="731520"/>
          </a:xfrm>
          <a:prstGeom prst="rect">
            <a:avLst/>
          </a:prstGeom>
          <a:noFill/>
        </p:spPr>
        <p:txBody>
          <a:bodyPr wrap="square" lIns="45720" tIns="27432" rIns="45720" bIns="27432" rtlCol="0" anchor="t">
            <a:noAutofit/>
          </a:bodyPr>
          <a:lstStyle/>
          <a:p>
            <a:pPr algn="r" rtl="1">
              <a:spcAft>
                <a:spcPts val="0"/>
              </a:spcAft>
              <a:buNone/>
            </a:pPr>
            <a:r>
              <a:rPr lang="he-IL" sz="1400" b="0" dirty="0">
                <a:solidFill>
                  <a:srgbClr val="1B242B"/>
                </a:solidFill>
                <a:latin typeface="Arial"/>
                <a:cs typeface="Arial"/>
              </a:rPr>
              <a:t>MSE‎ מתפשר כשהוא לא בטוח, L1‎ ממשיך לדחוף גם כשהשגיאה קטנה, אולי כך המסכה תחליט בצורה חדה יותר</a:t>
            </a:r>
          </a:p>
        </p:txBody>
      </p:sp>
      <p:sp>
        <p:nvSpPr>
          <p:cNvPr id="13" name="Rounded Rectangle 12"/>
          <p:cNvSpPr/>
          <p:nvPr/>
        </p:nvSpPr>
        <p:spPr>
          <a:xfrm>
            <a:off x="7882127" y="2788920"/>
            <a:ext cx="3849624" cy="1783080"/>
          </a:xfrm>
          <a:prstGeom prst="roundRect">
            <a:avLst>
              <a:gd name="adj" fmla="val 8000"/>
            </a:avLst>
          </a:prstGeom>
          <a:solidFill>
            <a:srgbClr val="F7F9FB"/>
          </a:solidFill>
          <a:ln w="12700">
            <a:solidFill>
              <a:srgbClr val="D6DCE1"/>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14" name="TextBox 13"/>
          <p:cNvSpPr txBox="1"/>
          <p:nvPr/>
        </p:nvSpPr>
        <p:spPr>
          <a:xfrm>
            <a:off x="8019288" y="2834640"/>
            <a:ext cx="3611880" cy="365760"/>
          </a:xfrm>
          <a:prstGeom prst="rect">
            <a:avLst/>
          </a:prstGeom>
          <a:noFill/>
        </p:spPr>
        <p:txBody>
          <a:bodyPr wrap="square" lIns="45720" tIns="27432" rIns="45720" bIns="27432" rtlCol="0" anchor="ctr">
            <a:noAutofit/>
          </a:bodyPr>
          <a:lstStyle/>
          <a:p>
            <a:pPr algn="r" rtl="1">
              <a:spcAft>
                <a:spcPts val="0"/>
              </a:spcAft>
              <a:buNone/>
            </a:pPr>
            <a:r>
              <a:rPr lang="he-IL" sz="1600" b="1" dirty="0">
                <a:solidFill>
                  <a:srgbClr val="C55A11"/>
                </a:solidFill>
                <a:latin typeface="Arial"/>
                <a:cs typeface="Arial"/>
              </a:rPr>
              <a:t>מה שינינו</a:t>
            </a:r>
          </a:p>
        </p:txBody>
      </p:sp>
      <p:sp>
        <p:nvSpPr>
          <p:cNvPr id="15" name="TextBox 14"/>
          <p:cNvSpPr txBox="1"/>
          <p:nvPr/>
        </p:nvSpPr>
        <p:spPr>
          <a:xfrm>
            <a:off x="8019288" y="3200400"/>
            <a:ext cx="3611880" cy="1325880"/>
          </a:xfrm>
          <a:prstGeom prst="rect">
            <a:avLst/>
          </a:prstGeom>
          <a:noFill/>
        </p:spPr>
        <p:txBody>
          <a:bodyPr wrap="square" lIns="45720" tIns="27432" rIns="45720" bIns="27432" rtlCol="0" anchor="t">
            <a:noAutofit/>
          </a:bodyPr>
          <a:lstStyle/>
          <a:p>
            <a:pPr marL="256032" indent="-256032" algn="r" rtl="1">
              <a:spcAft>
                <a:spcPts val="300"/>
              </a:spcAft>
              <a:buFont typeface="Arial"/>
              <a:buChar char="•"/>
            </a:pPr>
            <a:r>
              <a:rPr lang="he-IL" sz="1300" b="1" dirty="0">
                <a:solidFill>
                  <a:srgbClr val="1B242B"/>
                </a:solidFill>
                <a:latin typeface="Arial"/>
                <a:cs typeface="Arial"/>
              </a:rPr>
              <a:t>נתונים: </a:t>
            </a:r>
            <a:r>
              <a:rPr lang="he-IL" sz="1300" b="0" dirty="0">
                <a:solidFill>
                  <a:srgbClr val="1B242B"/>
                </a:solidFill>
                <a:latin typeface="Arial"/>
                <a:cs typeface="Arial"/>
              </a:rPr>
              <a:t>כמו בגרסה 2</a:t>
            </a:r>
          </a:p>
          <a:p>
            <a:pPr marL="256032" indent="-256032" algn="r" rtl="1">
              <a:spcAft>
                <a:spcPts val="300"/>
              </a:spcAft>
              <a:buFont typeface="Arial"/>
              <a:buChar char="•"/>
            </a:pPr>
            <a:r>
              <a:rPr lang="he-IL" sz="1300" b="1" dirty="0">
                <a:solidFill>
                  <a:srgbClr val="1B242B"/>
                </a:solidFill>
                <a:latin typeface="Arial"/>
                <a:cs typeface="Arial"/>
              </a:rPr>
              <a:t>הפסד: </a:t>
            </a:r>
            <a:r>
              <a:rPr lang="en-US" sz="1300" b="0" dirty="0">
                <a:solidFill>
                  <a:srgbClr val="1B242B"/>
                </a:solidFill>
                <a:latin typeface="Arial"/>
                <a:cs typeface="Arial"/>
              </a:rPr>
              <a:t>L1</a:t>
            </a:r>
            <a:r>
              <a:rPr lang="he-IL" sz="1300" b="0" dirty="0">
                <a:solidFill>
                  <a:srgbClr val="1B242B"/>
                </a:solidFill>
                <a:latin typeface="Arial"/>
                <a:cs typeface="Arial"/>
              </a:rPr>
              <a:t>‎, ערך מוחלט במקום ריבוע, בשני האיברים</a:t>
            </a:r>
          </a:p>
          <a:p>
            <a:pPr marL="256032" indent="-256032" algn="r" rtl="1">
              <a:spcAft>
                <a:spcPts val="300"/>
              </a:spcAft>
              <a:buFont typeface="Arial"/>
              <a:buChar char="•"/>
            </a:pPr>
            <a:r>
              <a:rPr lang="he-IL" sz="1300" b="1" dirty="0" err="1">
                <a:solidFill>
                  <a:srgbClr val="1B242B"/>
                </a:solidFill>
                <a:latin typeface="Arial"/>
                <a:cs typeface="Arial"/>
              </a:rPr>
              <a:t>‏</a:t>
            </a:r>
            <a:r>
              <a:rPr lang="en-US" sz="1300" b="1" dirty="0" err="1">
                <a:solidFill>
                  <a:srgbClr val="1B242B"/>
                </a:solidFill>
                <a:latin typeface="Arial"/>
                <a:cs typeface="Arial"/>
              </a:rPr>
              <a:t>epochs: </a:t>
            </a:r>
            <a:r>
              <a:rPr lang="en-US" sz="1300" b="0" dirty="0">
                <a:solidFill>
                  <a:srgbClr val="1B242B"/>
                </a:solidFill>
                <a:latin typeface="Arial"/>
                <a:cs typeface="Arial"/>
              </a:rPr>
              <a:t>17</a:t>
            </a:r>
            <a:r>
              <a:rPr lang="he-IL" sz="1300" b="0" dirty="0">
                <a:solidFill>
                  <a:srgbClr val="1B242B"/>
                </a:solidFill>
                <a:latin typeface="Arial"/>
                <a:cs typeface="Arial"/>
              </a:rPr>
              <a:t>‎ עד 24, כ-5.8 שעות על </a:t>
            </a:r>
            <a:r>
              <a:rPr lang="en-US" sz="1300" b="0" dirty="0">
                <a:solidFill>
                  <a:srgbClr val="1B242B"/>
                </a:solidFill>
                <a:latin typeface="Arial"/>
                <a:cs typeface="Arial"/>
              </a:rPr>
              <a:t>T4</a:t>
            </a:r>
            <a:r>
              <a:rPr lang="he-IL" sz="1300" b="0" dirty="0">
                <a:solidFill>
                  <a:srgbClr val="1B242B"/>
                </a:solidFill>
                <a:latin typeface="Arial"/>
                <a:cs typeface="Arial"/>
              </a:rPr>
              <a:t>‎</a:t>
            </a:r>
          </a:p>
        </p:txBody>
      </p:sp>
      <p:sp>
        <p:nvSpPr>
          <p:cNvPr id="16" name="TextBox 15"/>
          <p:cNvSpPr txBox="1"/>
          <p:nvPr/>
        </p:nvSpPr>
        <p:spPr>
          <a:xfrm>
            <a:off x="457200" y="1280160"/>
            <a:ext cx="7223760" cy="365760"/>
          </a:xfrm>
          <a:prstGeom prst="rect">
            <a:avLst/>
          </a:prstGeom>
          <a:noFill/>
        </p:spPr>
        <p:txBody>
          <a:bodyPr wrap="square" lIns="45720" tIns="27432" rIns="45720" bIns="27432" rtlCol="0" anchor="ctr">
            <a:noAutofit/>
          </a:bodyPr>
          <a:lstStyle/>
          <a:p>
            <a:pPr algn="ctr" rtl="1">
              <a:spcAft>
                <a:spcPts val="0"/>
              </a:spcAft>
              <a:buNone/>
            </a:pPr>
            <a:r>
              <a:rPr lang="he-IL" sz="1500" b="1" dirty="0">
                <a:solidFill>
                  <a:srgbClr val="1B242B"/>
                </a:solidFill>
                <a:latin typeface="Arial"/>
                <a:cs typeface="Arial"/>
              </a:rPr>
              <a:t>‏</a:t>
            </a:r>
            <a:r>
              <a:rPr lang="en-US" sz="1500" b="1" dirty="0">
                <a:solidFill>
                  <a:srgbClr val="1B242B"/>
                </a:solidFill>
                <a:latin typeface="Arial"/>
                <a:cs typeface="Arial"/>
              </a:rPr>
              <a:t>PESQ</a:t>
            </a:r>
            <a:r>
              <a:rPr lang="he-IL" sz="1500" b="1" dirty="0">
                <a:solidFill>
                  <a:srgbClr val="1B242B"/>
                </a:solidFill>
                <a:latin typeface="Arial"/>
                <a:cs typeface="Arial"/>
              </a:rPr>
              <a:t>‎ על ה-</a:t>
            </a:r>
            <a:r>
              <a:rPr lang="en-US" sz="1500" b="1" dirty="0">
                <a:solidFill>
                  <a:srgbClr val="1B242B"/>
                </a:solidFill>
                <a:latin typeface="Arial"/>
                <a:cs typeface="Arial"/>
              </a:rPr>
              <a:t>validation: L1</a:t>
            </a:r>
            <a:r>
              <a:rPr lang="he-IL" sz="1500" b="1" dirty="0">
                <a:solidFill>
                  <a:srgbClr val="1B242B"/>
                </a:solidFill>
                <a:latin typeface="Arial"/>
                <a:cs typeface="Arial"/>
              </a:rPr>
              <a:t>‎ מול </a:t>
            </a:r>
            <a:r>
              <a:rPr lang="en-US" sz="1500" b="1" dirty="0">
                <a:solidFill>
                  <a:srgbClr val="1B242B"/>
                </a:solidFill>
                <a:latin typeface="Arial"/>
                <a:cs typeface="Arial"/>
              </a:rPr>
              <a:t>MSE</a:t>
            </a:r>
            <a:r>
              <a:rPr lang="he-IL" sz="1500" b="1" dirty="0">
                <a:solidFill>
                  <a:srgbClr val="1B242B"/>
                </a:solidFill>
                <a:latin typeface="Arial"/>
                <a:cs typeface="Arial"/>
              </a:rPr>
              <a:t>‎ על אותם נתונים</a:t>
            </a:r>
          </a:p>
        </p:txBody>
      </p:sp>
      <p:graphicFrame>
        <p:nvGraphicFramePr>
          <p:cNvPr id="17" name="Chart 16"/>
          <p:cNvGraphicFramePr>
            <a:graphicFrameLocks noGrp="1"/>
          </p:cNvGraphicFramePr>
          <p:nvPr/>
        </p:nvGraphicFramePr>
        <p:xfrm>
          <a:off x="365760" y="1645920"/>
          <a:ext cx="7315200" cy="2697480"/>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Box 17"/>
          <p:cNvSpPr txBox="1"/>
          <p:nvPr/>
        </p:nvSpPr>
        <p:spPr>
          <a:xfrm>
            <a:off x="6007608" y="4315968"/>
            <a:ext cx="1581912" cy="310896"/>
          </a:xfrm>
          <a:prstGeom prst="rect">
            <a:avLst/>
          </a:prstGeom>
          <a:noFill/>
        </p:spPr>
        <p:txBody>
          <a:bodyPr wrap="square" lIns="45720" tIns="27432" rIns="45720" bIns="27432" rtlCol="0" anchor="ctr">
            <a:noAutofit/>
          </a:bodyPr>
          <a:lstStyle/>
          <a:p>
            <a:pPr algn="r" rtl="1">
              <a:spcAft>
                <a:spcPts val="0"/>
              </a:spcAft>
              <a:buNone/>
            </a:pPr>
            <a:r>
              <a:rPr lang="he-IL" sz="1300" b="0" dirty="0">
                <a:solidFill>
                  <a:srgbClr val="1B242B"/>
                </a:solidFill>
                <a:latin typeface="Arial"/>
                <a:cs typeface="Arial"/>
              </a:rPr>
              <a:t>‏</a:t>
            </a:r>
            <a:r>
              <a:rPr lang="en-US" sz="1300" b="0" dirty="0">
                <a:solidFill>
                  <a:srgbClr val="1B242B"/>
                </a:solidFill>
                <a:latin typeface="Arial"/>
                <a:cs typeface="Arial"/>
              </a:rPr>
              <a:t>MSE</a:t>
            </a:r>
            <a:r>
              <a:rPr lang="he-IL" sz="1300" b="0" dirty="0">
                <a:solidFill>
                  <a:srgbClr val="1B242B"/>
                </a:solidFill>
                <a:latin typeface="Arial"/>
                <a:cs typeface="Arial"/>
              </a:rPr>
              <a:t>‎, גרסה 2</a:t>
            </a:r>
          </a:p>
        </p:txBody>
      </p:sp>
      <p:sp>
        <p:nvSpPr>
          <p:cNvPr id="19" name="Oval 18"/>
          <p:cNvSpPr/>
          <p:nvPr/>
        </p:nvSpPr>
        <p:spPr>
          <a:xfrm>
            <a:off x="7607808" y="4407407"/>
            <a:ext cx="137160" cy="137160"/>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33087" y="4315968"/>
            <a:ext cx="1463040" cy="310896"/>
          </a:xfrm>
          <a:prstGeom prst="rect">
            <a:avLst/>
          </a:prstGeom>
          <a:noFill/>
        </p:spPr>
        <p:txBody>
          <a:bodyPr wrap="square" lIns="45720" tIns="27432" rIns="45720" bIns="27432" rtlCol="0" anchor="ctr">
            <a:noAutofit/>
          </a:bodyPr>
          <a:lstStyle/>
          <a:p>
            <a:pPr algn="r" rtl="1">
              <a:spcAft>
                <a:spcPts val="0"/>
              </a:spcAft>
              <a:buNone/>
            </a:pPr>
            <a:r>
              <a:rPr lang="he-IL" sz="1300" b="0" dirty="0">
                <a:solidFill>
                  <a:srgbClr val="1B242B"/>
                </a:solidFill>
                <a:latin typeface="Arial"/>
                <a:cs typeface="Arial"/>
              </a:rPr>
              <a:t>‏</a:t>
            </a:r>
            <a:r>
              <a:rPr lang="en-US" sz="1300" b="0" dirty="0">
                <a:solidFill>
                  <a:srgbClr val="1B242B"/>
                </a:solidFill>
                <a:latin typeface="Arial"/>
                <a:cs typeface="Arial"/>
              </a:rPr>
              <a:t>L1</a:t>
            </a:r>
            <a:r>
              <a:rPr lang="he-IL" sz="1300" b="0" dirty="0">
                <a:solidFill>
                  <a:srgbClr val="1B242B"/>
                </a:solidFill>
                <a:latin typeface="Arial"/>
                <a:cs typeface="Arial"/>
              </a:rPr>
              <a:t>‎, גרסה 3</a:t>
            </a:r>
          </a:p>
        </p:txBody>
      </p:sp>
      <p:sp>
        <p:nvSpPr>
          <p:cNvPr id="21" name="Oval 20"/>
          <p:cNvSpPr/>
          <p:nvPr/>
        </p:nvSpPr>
        <p:spPr>
          <a:xfrm>
            <a:off x="5614415" y="4407407"/>
            <a:ext cx="137160" cy="13716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4315968"/>
            <a:ext cx="2743200" cy="274320"/>
          </a:xfrm>
          <a:prstGeom prst="rect">
            <a:avLst/>
          </a:prstGeom>
          <a:noFill/>
        </p:spPr>
        <p:txBody>
          <a:bodyPr wrap="square" lIns="45720" tIns="27432" rIns="45720" bIns="27432" rtlCol="0" anchor="ctr">
            <a:noAutofit/>
          </a:bodyPr>
          <a:lstStyle/>
          <a:p>
            <a:pPr algn="r" rtl="1">
              <a:spcAft>
                <a:spcPts val="0"/>
              </a:spcAft>
              <a:buNone/>
            </a:pPr>
            <a:r>
              <a:rPr lang="he-IL" sz="1200" b="0" dirty="0">
                <a:solidFill>
                  <a:srgbClr val="5A636A"/>
                </a:solidFill>
                <a:latin typeface="Arial"/>
                <a:cs typeface="Arial"/>
              </a:rPr>
              <a:t>עיגול חלול = ה-</a:t>
            </a:r>
            <a:r>
              <a:rPr lang="en-US" sz="1200" b="0" dirty="0">
                <a:solidFill>
                  <a:srgbClr val="5A636A"/>
                </a:solidFill>
                <a:latin typeface="Arial"/>
                <a:cs typeface="Arial"/>
              </a:rPr>
              <a:t>epoch</a:t>
            </a:r>
            <a:r>
              <a:rPr lang="he-IL" sz="1200" b="0" dirty="0">
                <a:solidFill>
                  <a:srgbClr val="5A636A"/>
                </a:solidFill>
                <a:latin typeface="Arial"/>
                <a:cs typeface="Arial"/>
              </a:rPr>
              <a:t>‎ שנבחר</a:t>
            </a:r>
          </a:p>
        </p:txBody>
      </p:sp>
      <p:sp>
        <p:nvSpPr>
          <p:cNvPr id="23" name="Rounded Rectangle 22"/>
          <p:cNvSpPr/>
          <p:nvPr/>
        </p:nvSpPr>
        <p:spPr>
          <a:xfrm>
            <a:off x="7882127" y="4709160"/>
            <a:ext cx="3657600" cy="1024128"/>
          </a:xfrm>
          <a:prstGeom prst="roundRect">
            <a:avLst>
              <a:gd name="adj" fmla="val 8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24" name="TextBox 23"/>
          <p:cNvSpPr txBox="1"/>
          <p:nvPr/>
        </p:nvSpPr>
        <p:spPr>
          <a:xfrm>
            <a:off x="7973567" y="4727448"/>
            <a:ext cx="3474720" cy="987552"/>
          </a:xfrm>
          <a:prstGeom prst="rect">
            <a:avLst/>
          </a:prstGeom>
          <a:noFill/>
        </p:spPr>
        <p:txBody>
          <a:bodyPr wrap="square" lIns="45720" tIns="27432" rIns="45720" bIns="27432" rtlCol="0" anchor="ctr">
            <a:noAutofit/>
          </a:bodyPr>
          <a:lstStyle/>
          <a:p>
            <a:pPr algn="ctr" rtl="1">
              <a:spcAft>
                <a:spcPts val="100"/>
              </a:spcAft>
              <a:buNone/>
            </a:pPr>
            <a:r>
              <a:rPr lang="he-IL" sz="1300" b="1" dirty="0">
                <a:solidFill>
                  <a:srgbClr val="5A636A"/>
                </a:solidFill>
                <a:latin typeface="Arial"/>
                <a:cs typeface="Arial"/>
              </a:rPr>
              <a:t>נבחר</a:t>
            </a:r>
          </a:p>
          <a:p>
            <a:pPr algn="ctr" rtl="0">
              <a:spcAft>
                <a:spcPts val="100"/>
              </a:spcAft>
              <a:buNone/>
            </a:pPr>
            <a:r>
              <a:rPr lang="he-IL" sz="2000" b="1" dirty="0">
                <a:solidFill>
                  <a:srgbClr val="C55A11"/>
                </a:solidFill>
                <a:latin typeface="Arial"/>
                <a:cs typeface="Arial"/>
              </a:rPr>
              <a:t>epoch 19</a:t>
            </a:r>
          </a:p>
          <a:p>
            <a:pPr algn="ctr" rtl="0">
              <a:spcAft>
                <a:spcPts val="0"/>
              </a:spcAft>
              <a:buNone/>
            </a:pPr>
            <a:r>
              <a:rPr lang="he-IL" sz="1200" b="0" dirty="0">
                <a:solidFill>
                  <a:srgbClr val="1B242B"/>
                </a:solidFill>
                <a:latin typeface="Arial"/>
                <a:cs typeface="Arial"/>
              </a:rPr>
              <a:t>validation PESQ 2.829</a:t>
            </a:r>
          </a:p>
        </p:txBody>
      </p:sp>
      <p:sp>
        <p:nvSpPr>
          <p:cNvPr id="25" name="Rounded Rectangle 24"/>
          <p:cNvSpPr/>
          <p:nvPr/>
        </p:nvSpPr>
        <p:spPr>
          <a:xfrm>
            <a:off x="4069079" y="4709160"/>
            <a:ext cx="3657600" cy="1024128"/>
          </a:xfrm>
          <a:prstGeom prst="roundRect">
            <a:avLst>
              <a:gd name="adj" fmla="val 8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26" name="TextBox 25"/>
          <p:cNvSpPr txBox="1"/>
          <p:nvPr/>
        </p:nvSpPr>
        <p:spPr>
          <a:xfrm>
            <a:off x="4160519" y="4727448"/>
            <a:ext cx="3474720" cy="987552"/>
          </a:xfrm>
          <a:prstGeom prst="rect">
            <a:avLst/>
          </a:prstGeom>
          <a:noFill/>
        </p:spPr>
        <p:txBody>
          <a:bodyPr wrap="square" lIns="45720" tIns="27432" rIns="45720" bIns="27432" rtlCol="0" anchor="ctr">
            <a:noAutofit/>
          </a:bodyPr>
          <a:lstStyle/>
          <a:p>
            <a:pPr algn="ctr" rtl="1">
              <a:spcAft>
                <a:spcPts val="100"/>
              </a:spcAft>
              <a:buNone/>
            </a:pPr>
            <a:r>
              <a:rPr lang="he-IL" sz="1300" b="1" dirty="0">
                <a:solidFill>
                  <a:srgbClr val="5A636A"/>
                </a:solidFill>
                <a:latin typeface="Arial"/>
                <a:cs typeface="Arial"/>
              </a:rPr>
              <a:t>על סט הבדיקה</a:t>
            </a:r>
          </a:p>
          <a:p>
            <a:pPr algn="ctr" rtl="0">
              <a:spcAft>
                <a:spcPts val="100"/>
              </a:spcAft>
              <a:buNone/>
            </a:pPr>
            <a:r>
              <a:rPr lang="he-IL" sz="2000" b="1" dirty="0">
                <a:solidFill>
                  <a:srgbClr val="1B242B"/>
                </a:solidFill>
                <a:latin typeface="Arial"/>
                <a:cs typeface="Arial"/>
              </a:rPr>
              <a:t>PESQ 3.146</a:t>
            </a:r>
          </a:p>
          <a:p>
            <a:pPr algn="ctr" rtl="0">
              <a:spcAft>
                <a:spcPts val="0"/>
              </a:spcAft>
              <a:buNone/>
            </a:pPr>
            <a:r>
              <a:rPr lang="he-IL" sz="1200" b="0" dirty="0">
                <a:solidFill>
                  <a:srgbClr val="1B242B"/>
                </a:solidFill>
                <a:latin typeface="Arial"/>
                <a:cs typeface="Arial"/>
              </a:rPr>
              <a:t>SI-SDR ‎18.85 [dB]‏ · STOI 0.951</a:t>
            </a:r>
          </a:p>
        </p:txBody>
      </p:sp>
      <p:sp>
        <p:nvSpPr>
          <p:cNvPr id="27" name="Rounded Rectangle 26"/>
          <p:cNvSpPr/>
          <p:nvPr/>
        </p:nvSpPr>
        <p:spPr>
          <a:xfrm>
            <a:off x="256031" y="4709160"/>
            <a:ext cx="3657600" cy="1024128"/>
          </a:xfrm>
          <a:prstGeom prst="roundRect">
            <a:avLst>
              <a:gd name="adj" fmla="val 8000"/>
            </a:avLst>
          </a:prstGeom>
          <a:solidFill>
            <a:srgbClr val="F7F9F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28" name="TextBox 27"/>
          <p:cNvSpPr txBox="1"/>
          <p:nvPr/>
        </p:nvSpPr>
        <p:spPr>
          <a:xfrm>
            <a:off x="347471" y="4727448"/>
            <a:ext cx="3474720" cy="987552"/>
          </a:xfrm>
          <a:prstGeom prst="rect">
            <a:avLst/>
          </a:prstGeom>
          <a:noFill/>
        </p:spPr>
        <p:txBody>
          <a:bodyPr wrap="square" lIns="45720" tIns="27432" rIns="45720" bIns="27432" rtlCol="0" anchor="ctr">
            <a:noAutofit/>
          </a:bodyPr>
          <a:lstStyle/>
          <a:p>
            <a:pPr algn="ctr" rtl="1">
              <a:spcAft>
                <a:spcPts val="100"/>
              </a:spcAft>
              <a:buNone/>
            </a:pPr>
            <a:r>
              <a:rPr lang="he-IL" sz="1300" b="1" dirty="0">
                <a:solidFill>
                  <a:srgbClr val="5A636A"/>
                </a:solidFill>
                <a:latin typeface="Arial"/>
                <a:cs typeface="Arial"/>
              </a:rPr>
              <a:t>מול ה-</a:t>
            </a:r>
            <a:r>
              <a:rPr lang="en-US" sz="1300" b="1" dirty="0">
                <a:solidFill>
                  <a:srgbClr val="5A636A"/>
                </a:solidFill>
                <a:latin typeface="Arial"/>
                <a:cs typeface="Arial"/>
              </a:rPr>
              <a:t>baseline</a:t>
            </a:r>
            <a:r>
              <a:rPr lang="he-IL" sz="1300" b="1" dirty="0">
                <a:solidFill>
                  <a:srgbClr val="5A636A"/>
                </a:solidFill>
                <a:latin typeface="Arial"/>
                <a:cs typeface="Arial"/>
              </a:rPr>
              <a:t>‎</a:t>
            </a:r>
          </a:p>
          <a:p>
            <a:pPr algn="ctr" rtl="0">
              <a:spcAft>
                <a:spcPts val="100"/>
              </a:spcAft>
              <a:buNone/>
            </a:pPr>
            <a:r>
              <a:rPr lang="he-IL" sz="2000" b="1" dirty="0">
                <a:solidFill>
                  <a:srgbClr val="1B242B"/>
                </a:solidFill>
                <a:latin typeface="Arial"/>
                <a:cs typeface="Arial"/>
              </a:rPr>
              <a:t>PESQ +0.002</a:t>
            </a:r>
          </a:p>
          <a:p>
            <a:pPr algn="ctr" rtl="1">
              <a:spcAft>
                <a:spcPts val="0"/>
              </a:spcAft>
              <a:buNone/>
            </a:pPr>
            <a:r>
              <a:rPr lang="he-IL" sz="1200" b="0" dirty="0">
                <a:solidFill>
                  <a:srgbClr val="1B242B"/>
                </a:solidFill>
                <a:latin typeface="Arial"/>
                <a:cs typeface="Arial"/>
              </a:rPr>
              <a:t>‏</a:t>
            </a:r>
            <a:r>
              <a:rPr lang="en-US" sz="1200" b="0" dirty="0">
                <a:solidFill>
                  <a:srgbClr val="1B242B"/>
                </a:solidFill>
                <a:latin typeface="Arial"/>
                <a:cs typeface="Arial"/>
              </a:rPr>
              <a:t>SI-SDR</a:t>
            </a:r>
            <a:r>
              <a:rPr lang="he-IL" sz="1200" b="0" dirty="0">
                <a:solidFill>
                  <a:srgbClr val="1B242B"/>
                </a:solidFill>
                <a:latin typeface="Arial"/>
                <a:cs typeface="Arial"/>
              </a:rPr>
              <a:t>‎ עלה ב-‎0.23 [</a:t>
            </a:r>
            <a:r>
              <a:rPr lang="en-US" sz="1200" b="0" dirty="0">
                <a:solidFill>
                  <a:srgbClr val="1B242B"/>
                </a:solidFill>
                <a:latin typeface="Arial"/>
                <a:cs typeface="Arial"/>
              </a:rPr>
              <a:t>dB]</a:t>
            </a:r>
            <a:r>
              <a:rPr lang="he-IL" sz="1200" b="0" dirty="0">
                <a:solidFill>
                  <a:srgbClr val="1B242B"/>
                </a:solidFill>
                <a:latin typeface="Arial"/>
                <a:cs typeface="Arial"/>
              </a:rPr>
              <a:t>‏, ב-82% מהקבצים</a:t>
            </a:r>
          </a:p>
        </p:txBody>
      </p:sp>
      <p:sp>
        <p:nvSpPr>
          <p:cNvPr id="29" name="Rounded Rectangle 28"/>
          <p:cNvSpPr/>
          <p:nvPr/>
        </p:nvSpPr>
        <p:spPr>
          <a:xfrm>
            <a:off x="411480" y="5833872"/>
            <a:ext cx="11320272" cy="457200"/>
          </a:xfrm>
          <a:prstGeom prst="roundRect">
            <a:avLst>
              <a:gd name="adj" fmla="val 8000"/>
            </a:avLst>
          </a:prstGeom>
          <a:solidFill>
            <a:srgbClr val="FBE5D6"/>
          </a:solidFill>
          <a:ln w="1587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t">
            <a:noAutofit/>
          </a:bodyPr>
          <a:lstStyle/>
          <a:p>
            <a:pPr algn="r" rtl="1">
              <a:spcAft>
                <a:spcPts val="0"/>
              </a:spcAft>
              <a:buNone/>
            </a:pPr>
            <a:endParaRPr/>
          </a:p>
        </p:txBody>
      </p:sp>
      <p:sp>
        <p:nvSpPr>
          <p:cNvPr id="30" name="TextBox 29"/>
          <p:cNvSpPr txBox="1"/>
          <p:nvPr/>
        </p:nvSpPr>
        <p:spPr>
          <a:xfrm>
            <a:off x="502920" y="5833872"/>
            <a:ext cx="11137392" cy="457200"/>
          </a:xfrm>
          <a:prstGeom prst="rect">
            <a:avLst/>
          </a:prstGeom>
          <a:noFill/>
        </p:spPr>
        <p:txBody>
          <a:bodyPr wrap="square" lIns="45720" tIns="27432" rIns="45720" bIns="27432" rtlCol="0" anchor="ctr">
            <a:noAutofit/>
          </a:bodyPr>
          <a:lstStyle/>
          <a:p>
            <a:pPr algn="ctr" rtl="1">
              <a:spcAft>
                <a:spcPts val="0"/>
              </a:spcAft>
              <a:buNone/>
            </a:pPr>
            <a:r>
              <a:rPr lang="he-IL" sz="1500" b="1" dirty="0">
                <a:solidFill>
                  <a:srgbClr val="C55A11"/>
                </a:solidFill>
                <a:latin typeface="Arial"/>
                <a:cs typeface="Arial"/>
              </a:rPr>
              <a:t>המסקנה: </a:t>
            </a:r>
            <a:r>
              <a:rPr lang="en-US" sz="1500" b="0" dirty="0">
                <a:solidFill>
                  <a:srgbClr val="1B242B"/>
                </a:solidFill>
                <a:latin typeface="Arial"/>
                <a:cs typeface="Arial"/>
              </a:rPr>
              <a:t>L1</a:t>
            </a:r>
            <a:r>
              <a:rPr lang="he-IL" sz="1500" b="0" dirty="0">
                <a:solidFill>
                  <a:srgbClr val="1B242B"/>
                </a:solidFill>
                <a:latin typeface="Arial"/>
                <a:cs typeface="Arial"/>
              </a:rPr>
              <a:t>‎ מביא את השיפור ב-</a:t>
            </a:r>
            <a:r>
              <a:rPr lang="en-US" sz="1500" b="0" dirty="0">
                <a:solidFill>
                  <a:srgbClr val="1B242B"/>
                </a:solidFill>
                <a:latin typeface="Arial"/>
                <a:cs typeface="Arial"/>
              </a:rPr>
              <a:t>SI-SDR</a:t>
            </a:r>
            <a:r>
              <a:rPr lang="he-IL" sz="1500" b="0" dirty="0">
                <a:solidFill>
                  <a:srgbClr val="1B242B"/>
                </a:solidFill>
                <a:latin typeface="Arial"/>
                <a:cs typeface="Arial"/>
              </a:rPr>
              <a:t>‎, וה-</a:t>
            </a:r>
            <a:r>
              <a:rPr lang="en-US" sz="1500" b="0" dirty="0">
                <a:solidFill>
                  <a:srgbClr val="1B242B"/>
                </a:solidFill>
                <a:latin typeface="Arial"/>
                <a:cs typeface="Arial"/>
              </a:rPr>
              <a:t>PESQ</a:t>
            </a:r>
            <a:r>
              <a:rPr lang="he-IL" sz="1500" b="0" dirty="0">
                <a:solidFill>
                  <a:srgbClr val="1B242B"/>
                </a:solidFill>
                <a:latin typeface="Arial"/>
                <a:cs typeface="Arial"/>
              </a:rPr>
              <a:t>‎ כמעט לא זז</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70552"/>
            <a:ext cx="11277295" cy="584775"/>
          </a:xfrm>
          <a:prstGeom prst="rect">
            <a:avLst/>
          </a:prstGeom>
          <a:noFill/>
        </p:spPr>
        <p:txBody>
          <a:bodyPr wrap="square" lIns="45720" rIns="45720" anchor="ctr">
            <a:spAutoFit/>
          </a:bodyPr>
          <a:lstStyle/>
          <a:p>
            <a:pPr algn="r" rtl="1">
              <a:spcAft>
                <a:spcPts val="800"/>
              </a:spcAft>
              <a:buNone/>
            </a:pPr>
            <a:r>
              <a:rPr lang="he-IL" sz="3200" b="1" dirty="0">
                <a:solidFill>
                  <a:srgbClr val="1F4E79"/>
                </a:solidFill>
                <a:latin typeface="Arial"/>
                <a:cs typeface="Arial"/>
              </a:rPr>
              <a:t>איך כל הפסד משנה את המסכה, </a:t>
            </a:r>
            <a:r>
              <a:rPr lang="en-US" sz="3200" b="1" dirty="0">
                <a:solidFill>
                  <a:srgbClr val="1F4E79"/>
                </a:solidFill>
                <a:latin typeface="Arial"/>
                <a:cs typeface="Arial"/>
              </a:rPr>
              <a:t>MSE</a:t>
            </a:r>
            <a:r>
              <a:rPr lang="he-IL" sz="3200" b="1" dirty="0">
                <a:solidFill>
                  <a:srgbClr val="1F4E79"/>
                </a:solidFill>
                <a:latin typeface="Arial"/>
                <a:cs typeface="Arial"/>
              </a:rPr>
              <a:t>‎ מול </a:t>
            </a:r>
            <a:r>
              <a:rPr lang="en-US" sz="3200" b="1" dirty="0">
                <a:solidFill>
                  <a:srgbClr val="1F4E79"/>
                </a:solidFill>
                <a:latin typeface="Arial"/>
                <a:cs typeface="Arial"/>
              </a:rPr>
              <a:t>L1</a:t>
            </a:r>
            <a:r>
              <a:rPr lang="he-IL" sz="3200" b="1" dirty="0">
                <a:solidFill>
                  <a:srgbClr val="1F4E79"/>
                </a:solidFill>
                <a:latin typeface="Arial"/>
                <a:cs typeface="Arial"/>
              </a:rPr>
              <a:t>‎</a:t>
            </a:r>
          </a:p>
        </p:txBody>
      </p:sp>
      <p:sp>
        <p:nvSpPr>
          <p:cNvPr id="4" name="Rectangle 3"/>
          <p:cNvSpPr/>
          <p:nvPr/>
        </p:nvSpPr>
        <p:spPr>
          <a:xfrm>
            <a:off x="10271455" y="1051560"/>
            <a:ext cx="1463040" cy="4572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774375" y="6400800"/>
            <a:ext cx="1051560" cy="310896"/>
          </a:xfrm>
          <a:prstGeom prst="roundRect">
            <a:avLst>
              <a:gd name="adj" fmla="val 50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74375" y="6400800"/>
            <a:ext cx="1051560" cy="310896"/>
          </a:xfrm>
          <a:prstGeom prst="rect">
            <a:avLst/>
          </a:prstGeom>
          <a:noFill/>
        </p:spPr>
        <p:txBody>
          <a:bodyPr wrap="square" lIns="45720" rIns="45720" anchor="ctr">
            <a:spAutoFit/>
          </a:bodyPr>
          <a:lstStyle/>
          <a:p>
            <a:pPr algn="ctr" rtl="1">
              <a:spcAft>
                <a:spcPts val="0"/>
              </a:spcAft>
              <a:buNone/>
            </a:pPr>
            <a:r>
              <a:rPr lang="he-IL" sz="1300" b="1">
                <a:solidFill>
                  <a:srgbClr val="FFFFFF"/>
                </a:solidFill>
                <a:latin typeface="Arial"/>
                <a:cs typeface="Arial"/>
              </a:rPr>
              <a:t>עידן</a:t>
            </a:r>
          </a:p>
        </p:txBody>
      </p:sp>
      <p:sp>
        <p:nvSpPr>
          <p:cNvPr id="7" name="TextBox 6"/>
          <p:cNvSpPr txBox="1"/>
          <p:nvPr/>
        </p:nvSpPr>
        <p:spPr>
          <a:xfrm>
            <a:off x="365760" y="6400800"/>
            <a:ext cx="914400" cy="310896"/>
          </a:xfrm>
          <a:prstGeom prst="rect">
            <a:avLst/>
          </a:prstGeom>
          <a:noFill/>
        </p:spPr>
        <p:txBody>
          <a:bodyPr wrap="square" lIns="45720" rIns="45720" anchor="ctr">
            <a:spAutoFit/>
          </a:bodyPr>
          <a:lstStyle/>
          <a:p>
            <a:pPr algn="l" rtl="0">
              <a:spcAft>
                <a:spcPts val="0"/>
              </a:spcAft>
              <a:buNone/>
            </a:pPr>
            <a:r>
              <a:rPr lang="he-IL" sz="1300" b="0">
                <a:solidFill>
                  <a:srgbClr val="5A636A"/>
                </a:solidFill>
                <a:latin typeface="Arial"/>
                <a:cs typeface="Arial"/>
              </a:rPr>
              <a:t>15</a:t>
            </a:r>
          </a:p>
        </p:txBody>
      </p:sp>
      <p:sp>
        <p:nvSpPr>
          <p:cNvPr id="8" name="Rounded Rectangle 7"/>
          <p:cNvSpPr/>
          <p:nvPr/>
        </p:nvSpPr>
        <p:spPr>
          <a:xfrm>
            <a:off x="411480" y="1280160"/>
            <a:ext cx="6629400" cy="4389120"/>
          </a:xfrm>
          <a:prstGeom prst="roundRect">
            <a:avLst>
              <a:gd name="adj" fmla="val 6000"/>
            </a:avLst>
          </a:prstGeom>
          <a:solidFill>
            <a:srgbClr val="FFFFFF"/>
          </a:solidFill>
          <a:ln w="12700">
            <a:solidFill>
              <a:srgbClr val="D6DC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hist.png"/>
          <p:cNvPicPr>
            <a:picLocks noChangeAspect="1"/>
          </p:cNvPicPr>
          <p:nvPr/>
        </p:nvPicPr>
        <p:blipFill>
          <a:blip r:embed="rId3"/>
          <a:stretch>
            <a:fillRect/>
          </a:stretch>
        </p:blipFill>
        <p:spPr>
          <a:xfrm>
            <a:off x="566928" y="1371600"/>
            <a:ext cx="6278397" cy="4206240"/>
          </a:xfrm>
          <a:prstGeom prst="rect">
            <a:avLst/>
          </a:prstGeom>
        </p:spPr>
      </p:pic>
      <p:sp>
        <p:nvSpPr>
          <p:cNvPr id="10" name="Rounded Rectangle 9"/>
          <p:cNvSpPr/>
          <p:nvPr/>
        </p:nvSpPr>
        <p:spPr>
          <a:xfrm>
            <a:off x="7269480" y="1280160"/>
            <a:ext cx="4462272" cy="1600200"/>
          </a:xfrm>
          <a:prstGeom prst="roundRect">
            <a:avLst>
              <a:gd name="adj" fmla="val 6000"/>
            </a:avLst>
          </a:prstGeom>
          <a:solidFill>
            <a:srgbClr val="F7F9FB"/>
          </a:solidFill>
          <a:ln w="12700">
            <a:solidFill>
              <a:srgbClr val="D6DC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406640" y="1344168"/>
            <a:ext cx="4187952" cy="1481328"/>
          </a:xfrm>
          <a:prstGeom prst="rect">
            <a:avLst/>
          </a:prstGeom>
          <a:noFill/>
        </p:spPr>
        <p:txBody>
          <a:bodyPr wrap="square" lIns="45720" tIns="27432" rIns="45720" bIns="27432" rtlCol="0" anchor="ctr">
            <a:spAutoFit/>
          </a:bodyPr>
          <a:lstStyle/>
          <a:p>
            <a:pPr algn="r" rtl="1">
              <a:spcAft>
                <a:spcPts val="400"/>
              </a:spcAft>
            </a:pPr>
            <a:r>
              <a:rPr lang="he-IL" sz="1700" b="1">
                <a:solidFill>
                  <a:srgbClr val="1F4E79"/>
                </a:solidFill>
                <a:latin typeface="Arial"/>
                <a:cs typeface="Arial"/>
              </a:rPr>
              <a:t>איך קוראים את הגרף</a:t>
            </a:r>
          </a:p>
          <a:p>
            <a:pPr algn="r" rtl="1">
              <a:spcAft>
                <a:spcPts val="0"/>
              </a:spcAft>
            </a:pPr>
            <a:r>
              <a:rPr lang="he-IL" sz="1400" b="0">
                <a:solidFill>
                  <a:srgbClr val="1B242B"/>
                </a:solidFill>
                <a:latin typeface="Arial"/>
                <a:cs typeface="Arial"/>
              </a:rPr>
              <a:t>לכל נקודה בספקטרוגרמה, פי כמה המסכה הכפילה אותה. משמאל, הגבר קרוב ל-0: הנקודה נמחקה. סביב 1: היא נשארה כמעט כמו שהיא.</a:t>
            </a:r>
          </a:p>
        </p:txBody>
      </p:sp>
      <p:sp>
        <p:nvSpPr>
          <p:cNvPr id="12" name="Rounded Rectangle 11"/>
          <p:cNvSpPr/>
          <p:nvPr/>
        </p:nvSpPr>
        <p:spPr>
          <a:xfrm>
            <a:off x="7269480" y="3017520"/>
            <a:ext cx="4462272" cy="1252728"/>
          </a:xfrm>
          <a:prstGeom prst="roundRect">
            <a:avLst>
              <a:gd name="adj" fmla="val 6000"/>
            </a:avLst>
          </a:prstGeom>
          <a:solidFill>
            <a:srgbClr val="FBE5D6"/>
          </a:solidFill>
          <a:ln w="1587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406640" y="3072384"/>
            <a:ext cx="4187952" cy="1143000"/>
          </a:xfrm>
          <a:prstGeom prst="rect">
            <a:avLst/>
          </a:prstGeom>
          <a:noFill/>
        </p:spPr>
        <p:txBody>
          <a:bodyPr wrap="square" lIns="45720" tIns="27432" rIns="45720" bIns="27432" rtlCol="0" anchor="ctr">
            <a:spAutoFit/>
          </a:bodyPr>
          <a:lstStyle/>
          <a:p>
            <a:pPr algn="r" rtl="1">
              <a:spcAft>
                <a:spcPts val="400"/>
              </a:spcAft>
            </a:pPr>
            <a:r>
              <a:rPr lang="he-IL" sz="1800" b="1">
                <a:solidFill>
                  <a:srgbClr val="C55A11"/>
                </a:solidFill>
                <a:latin typeface="Arial"/>
                <a:cs typeface="Arial"/>
              </a:rPr>
              <a:t>‏</a:t>
            </a:r>
            <a:r>
              <a:rPr lang="en-US" sz="1800" b="1">
                <a:solidFill>
                  <a:srgbClr val="C55A11"/>
                </a:solidFill>
                <a:latin typeface="Arial"/>
                <a:cs typeface="Arial"/>
              </a:rPr>
              <a:t>L1</a:t>
            </a:r>
            <a:r>
              <a:rPr lang="he-IL" sz="1800" b="1">
                <a:solidFill>
                  <a:srgbClr val="C55A11"/>
                </a:solidFill>
                <a:latin typeface="Arial"/>
                <a:cs typeface="Arial"/>
              </a:rPr>
              <a:t>‎: החלטי</a:t>
            </a:r>
          </a:p>
          <a:p>
            <a:pPr algn="r" rtl="1">
              <a:spcAft>
                <a:spcPts val="0"/>
              </a:spcAft>
            </a:pPr>
            <a:r>
              <a:rPr lang="he-IL" sz="1500" b="0">
                <a:solidFill>
                  <a:srgbClr val="1B242B"/>
                </a:solidFill>
                <a:latin typeface="Arial"/>
                <a:cs typeface="Arial"/>
              </a:rPr>
              <a:t>מוחק או משאיר, פחות באמצע</a:t>
            </a:r>
          </a:p>
        </p:txBody>
      </p:sp>
      <p:sp>
        <p:nvSpPr>
          <p:cNvPr id="14" name="Rounded Rectangle 13"/>
          <p:cNvSpPr/>
          <p:nvPr/>
        </p:nvSpPr>
        <p:spPr>
          <a:xfrm>
            <a:off x="7269480" y="4416552"/>
            <a:ext cx="4462272" cy="1252728"/>
          </a:xfrm>
          <a:prstGeom prst="roundRect">
            <a:avLst>
              <a:gd name="adj" fmla="val 6000"/>
            </a:avLst>
          </a:prstGeom>
          <a:solidFill>
            <a:srgbClr val="EDEDED"/>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406640" y="4471416"/>
            <a:ext cx="4187952" cy="1143000"/>
          </a:xfrm>
          <a:prstGeom prst="rect">
            <a:avLst/>
          </a:prstGeom>
          <a:noFill/>
        </p:spPr>
        <p:txBody>
          <a:bodyPr wrap="square" lIns="45720" tIns="27432" rIns="45720" bIns="27432" rtlCol="0" anchor="ctr">
            <a:spAutoFit/>
          </a:bodyPr>
          <a:lstStyle/>
          <a:p>
            <a:pPr algn="r" rtl="1">
              <a:spcAft>
                <a:spcPts val="400"/>
              </a:spcAft>
            </a:pPr>
            <a:r>
              <a:rPr lang="he-IL" sz="1800" b="1">
                <a:solidFill>
                  <a:srgbClr val="595959"/>
                </a:solidFill>
                <a:latin typeface="Arial"/>
                <a:cs typeface="Arial"/>
              </a:rPr>
              <a:t>‏</a:t>
            </a:r>
            <a:r>
              <a:rPr lang="en-US" sz="1800" b="1">
                <a:solidFill>
                  <a:srgbClr val="595959"/>
                </a:solidFill>
                <a:latin typeface="Arial"/>
                <a:cs typeface="Arial"/>
              </a:rPr>
              <a:t>MSE</a:t>
            </a:r>
            <a:r>
              <a:rPr lang="he-IL" sz="1800" b="1">
                <a:solidFill>
                  <a:srgbClr val="595959"/>
                </a:solidFill>
                <a:latin typeface="Arial"/>
                <a:cs typeface="Arial"/>
              </a:rPr>
              <a:t>‎: זהיר</a:t>
            </a:r>
          </a:p>
          <a:p>
            <a:pPr algn="r" rtl="1">
              <a:spcAft>
                <a:spcPts val="0"/>
              </a:spcAft>
            </a:pPr>
            <a:r>
              <a:rPr lang="he-IL" sz="1500" b="0">
                <a:solidFill>
                  <a:srgbClr val="1B242B"/>
                </a:solidFill>
                <a:latin typeface="Arial"/>
                <a:cs typeface="Arial"/>
              </a:rPr>
              <a:t>מעניש שגיאה גדולה בריבוע, ולכן מעדיף הנחתה זהירה</a:t>
            </a:r>
          </a:p>
        </p:txBody>
      </p:sp>
      <p:sp>
        <p:nvSpPr>
          <p:cNvPr id="16" name="Rounded Rectangle 15"/>
          <p:cNvSpPr/>
          <p:nvPr/>
        </p:nvSpPr>
        <p:spPr>
          <a:xfrm>
            <a:off x="411480" y="5833872"/>
            <a:ext cx="11320272" cy="457200"/>
          </a:xfrm>
          <a:prstGeom prst="roundRect">
            <a:avLst>
              <a:gd name="adj" fmla="val 8000"/>
            </a:avLst>
          </a:prstGeom>
          <a:solidFill>
            <a:srgbClr val="DEEAF6"/>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02920" y="5833872"/>
            <a:ext cx="11137392" cy="457200"/>
          </a:xfrm>
          <a:prstGeom prst="rect">
            <a:avLst/>
          </a:prstGeom>
          <a:noFill/>
        </p:spPr>
        <p:txBody>
          <a:bodyPr wrap="square" lIns="45720" tIns="27432" rIns="45720" bIns="27432" rtlCol="0" anchor="ctr">
            <a:spAutoFit/>
          </a:bodyPr>
          <a:lstStyle/>
          <a:p>
            <a:pPr algn="ctr" rtl="1">
              <a:spcAft>
                <a:spcPts val="0"/>
              </a:spcAft>
            </a:pPr>
            <a:r>
              <a:rPr lang="he-IL" sz="1500" b="1">
                <a:solidFill>
                  <a:srgbClr val="1F4E79"/>
                </a:solidFill>
                <a:latin typeface="Arial"/>
                <a:cs typeface="Arial"/>
              </a:rPr>
              <a:t>המסקנה: </a:t>
            </a:r>
            <a:r>
              <a:rPr lang="he-IL" sz="1500" b="0">
                <a:solidFill>
                  <a:srgbClr val="1B242B"/>
                </a:solidFill>
                <a:latin typeface="Arial"/>
                <a:cs typeface="Arial"/>
              </a:rPr>
              <a:t>עם </a:t>
            </a:r>
            <a:r>
              <a:rPr lang="en-US" sz="1500" b="0">
                <a:solidFill>
                  <a:srgbClr val="1B242B"/>
                </a:solidFill>
                <a:latin typeface="Arial"/>
                <a:cs typeface="Arial"/>
              </a:rPr>
              <a:t>L1</a:t>
            </a:r>
            <a:r>
              <a:rPr lang="he-IL" sz="1500" b="0">
                <a:solidFill>
                  <a:srgbClr val="1B242B"/>
                </a:solidFill>
                <a:latin typeface="Arial"/>
                <a:cs typeface="Arial"/>
              </a:rPr>
              <a:t>‎ המסכה מכריעה, מוחקת רעש או משאירה דיבור, ולכן האות יוצא קרוב יותר לנקי</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77295" cy="777240"/>
          </a:xfrm>
          <a:prstGeom prst="rect">
            <a:avLst/>
          </a:prstGeom>
          <a:noFill/>
        </p:spPr>
        <p:txBody>
          <a:bodyPr wrap="square" lIns="45720" rIns="45720" anchor="ctr">
            <a:spAutoFit/>
          </a:bodyPr>
          <a:lstStyle/>
          <a:p>
            <a:pPr algn="r" rtl="1">
              <a:spcAft>
                <a:spcPts val="800"/>
              </a:spcAft>
              <a:buNone/>
            </a:pPr>
            <a:r>
              <a:rPr lang="he-IL" sz="3200" b="1" dirty="0">
                <a:solidFill>
                  <a:srgbClr val="1F4E79"/>
                </a:solidFill>
                <a:latin typeface="Arial"/>
                <a:cs typeface="Arial"/>
              </a:rPr>
              <a:t>תוצאות על סט הבדיקה</a:t>
            </a:r>
          </a:p>
        </p:txBody>
      </p:sp>
      <p:sp>
        <p:nvSpPr>
          <p:cNvPr id="4" name="Rectangle 3"/>
          <p:cNvSpPr/>
          <p:nvPr/>
        </p:nvSpPr>
        <p:spPr>
          <a:xfrm>
            <a:off x="10271455" y="1051560"/>
            <a:ext cx="1463040" cy="4572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774375" y="6400800"/>
            <a:ext cx="1051560" cy="310896"/>
          </a:xfrm>
          <a:prstGeom prst="roundRect">
            <a:avLst>
              <a:gd name="adj" fmla="val 50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74375" y="6400800"/>
            <a:ext cx="1051560" cy="310896"/>
          </a:xfrm>
          <a:prstGeom prst="rect">
            <a:avLst/>
          </a:prstGeom>
          <a:noFill/>
        </p:spPr>
        <p:txBody>
          <a:bodyPr wrap="square" lIns="45720" rIns="45720" anchor="ctr">
            <a:spAutoFit/>
          </a:bodyPr>
          <a:lstStyle/>
          <a:p>
            <a:pPr algn="ctr" rtl="1">
              <a:spcAft>
                <a:spcPts val="0"/>
              </a:spcAft>
              <a:buNone/>
            </a:pPr>
            <a:r>
              <a:rPr lang="he-IL" sz="1300" b="1">
                <a:solidFill>
                  <a:srgbClr val="FFFFFF"/>
                </a:solidFill>
                <a:latin typeface="Arial"/>
                <a:cs typeface="Arial"/>
              </a:rPr>
              <a:t>עידן</a:t>
            </a:r>
          </a:p>
        </p:txBody>
      </p:sp>
      <p:sp>
        <p:nvSpPr>
          <p:cNvPr id="7" name="TextBox 6"/>
          <p:cNvSpPr txBox="1"/>
          <p:nvPr/>
        </p:nvSpPr>
        <p:spPr>
          <a:xfrm>
            <a:off x="365760" y="6400800"/>
            <a:ext cx="914400" cy="310896"/>
          </a:xfrm>
          <a:prstGeom prst="rect">
            <a:avLst/>
          </a:prstGeom>
          <a:noFill/>
        </p:spPr>
        <p:txBody>
          <a:bodyPr wrap="square" lIns="45720" rIns="45720" anchor="ctr">
            <a:spAutoFit/>
          </a:bodyPr>
          <a:lstStyle/>
          <a:p>
            <a:pPr algn="l" rtl="0">
              <a:spcAft>
                <a:spcPts val="0"/>
              </a:spcAft>
              <a:buNone/>
            </a:pPr>
            <a:r>
              <a:rPr lang="he-IL" sz="1300" b="0">
                <a:solidFill>
                  <a:srgbClr val="5A636A"/>
                </a:solidFill>
                <a:latin typeface="Arial"/>
                <a:cs typeface="Arial"/>
              </a:rPr>
              <a:t>16</a:t>
            </a:r>
          </a:p>
        </p:txBody>
      </p:sp>
      <p:sp>
        <p:nvSpPr>
          <p:cNvPr id="8" name="Rounded Rectangle 7"/>
          <p:cNvSpPr/>
          <p:nvPr/>
        </p:nvSpPr>
        <p:spPr>
          <a:xfrm>
            <a:off x="8074152" y="1280160"/>
            <a:ext cx="3657600" cy="3200400"/>
          </a:xfrm>
          <a:prstGeom prst="roundRect">
            <a:avLst>
              <a:gd name="adj" fmla="val 6000"/>
            </a:avLst>
          </a:prstGeom>
          <a:solidFill>
            <a:srgbClr val="FFFFFF"/>
          </a:solidFill>
          <a:ln w="12700">
            <a:solidFill>
              <a:srgbClr val="D6DC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res_pesq.png"/>
          <p:cNvPicPr>
            <a:picLocks noChangeAspect="1"/>
          </p:cNvPicPr>
          <p:nvPr/>
        </p:nvPicPr>
        <p:blipFill>
          <a:blip r:embed="rId3"/>
          <a:stretch>
            <a:fillRect/>
          </a:stretch>
        </p:blipFill>
        <p:spPr>
          <a:xfrm>
            <a:off x="8176274" y="1353312"/>
            <a:ext cx="3453354" cy="2395728"/>
          </a:xfrm>
          <a:prstGeom prst="rect">
            <a:avLst/>
          </a:prstGeom>
        </p:spPr>
      </p:pic>
      <p:sp>
        <p:nvSpPr>
          <p:cNvPr id="10" name="TextBox 9"/>
          <p:cNvSpPr txBox="1"/>
          <p:nvPr/>
        </p:nvSpPr>
        <p:spPr>
          <a:xfrm>
            <a:off x="8183879" y="3794760"/>
            <a:ext cx="3438144" cy="640080"/>
          </a:xfrm>
          <a:prstGeom prst="rect">
            <a:avLst/>
          </a:prstGeom>
          <a:noFill/>
        </p:spPr>
        <p:txBody>
          <a:bodyPr wrap="square" lIns="45720" tIns="27432" rIns="45720" bIns="27432" rtlCol="0" anchor="ctr">
            <a:spAutoFit/>
          </a:bodyPr>
          <a:lstStyle/>
          <a:p>
            <a:pPr algn="ctr" rtl="1">
              <a:spcAft>
                <a:spcPts val="0"/>
              </a:spcAft>
            </a:pPr>
            <a:r>
              <a:rPr lang="he-IL" sz="1300" b="1">
                <a:solidFill>
                  <a:srgbClr val="1F4E79"/>
                </a:solidFill>
                <a:latin typeface="Arial"/>
                <a:cs typeface="Arial"/>
              </a:rPr>
              <a:t>איכות: </a:t>
            </a:r>
            <a:r>
              <a:rPr lang="en-US" sz="1300" b="0">
                <a:solidFill>
                  <a:srgbClr val="1B242B"/>
                </a:solidFill>
                <a:latin typeface="Arial"/>
                <a:cs typeface="Arial"/>
              </a:rPr>
              <a:t>PESQ 3.15</a:t>
            </a:r>
            <a:r>
              <a:rPr lang="he-IL" sz="1300" b="0">
                <a:solidFill>
                  <a:srgbClr val="1B242B"/>
                </a:solidFill>
                <a:latin typeface="Arial"/>
                <a:cs typeface="Arial"/>
              </a:rPr>
              <a:t>‎, מעל </a:t>
            </a:r>
            <a:r>
              <a:rPr lang="en-US" sz="1300" b="0">
                <a:solidFill>
                  <a:srgbClr val="1B242B"/>
                </a:solidFill>
                <a:latin typeface="Arial"/>
                <a:cs typeface="Arial"/>
              </a:rPr>
              <a:t>TSTNN (2.96)</a:t>
            </a:r>
            <a:r>
              <a:rPr lang="he-IL" sz="1300" b="0">
                <a:solidFill>
                  <a:srgbClr val="1B242B"/>
                </a:solidFill>
                <a:latin typeface="Arial"/>
                <a:cs typeface="Arial"/>
              </a:rPr>
              <a:t>‎ והרבה מעל המסננים הקלאסיים</a:t>
            </a:r>
          </a:p>
        </p:txBody>
      </p:sp>
      <p:sp>
        <p:nvSpPr>
          <p:cNvPr id="11" name="Rounded Rectangle 10"/>
          <p:cNvSpPr/>
          <p:nvPr/>
        </p:nvSpPr>
        <p:spPr>
          <a:xfrm>
            <a:off x="4242816" y="1280160"/>
            <a:ext cx="3657600" cy="3200400"/>
          </a:xfrm>
          <a:prstGeom prst="roundRect">
            <a:avLst>
              <a:gd name="adj" fmla="val 6000"/>
            </a:avLst>
          </a:prstGeom>
          <a:solidFill>
            <a:srgbClr val="FFFFFF"/>
          </a:solidFill>
          <a:ln w="12700">
            <a:solidFill>
              <a:srgbClr val="D6DC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res_sisdr.png"/>
          <p:cNvPicPr>
            <a:picLocks noChangeAspect="1"/>
          </p:cNvPicPr>
          <p:nvPr/>
        </p:nvPicPr>
        <p:blipFill>
          <a:blip r:embed="rId4"/>
          <a:stretch>
            <a:fillRect/>
          </a:stretch>
        </p:blipFill>
        <p:spPr>
          <a:xfrm>
            <a:off x="4334256" y="1361998"/>
            <a:ext cx="3474720" cy="2378356"/>
          </a:xfrm>
          <a:prstGeom prst="rect">
            <a:avLst/>
          </a:prstGeom>
        </p:spPr>
      </p:pic>
      <p:sp>
        <p:nvSpPr>
          <p:cNvPr id="13" name="TextBox 12"/>
          <p:cNvSpPr txBox="1"/>
          <p:nvPr/>
        </p:nvSpPr>
        <p:spPr>
          <a:xfrm>
            <a:off x="4352544" y="3887045"/>
            <a:ext cx="3438144" cy="455509"/>
          </a:xfrm>
          <a:prstGeom prst="rect">
            <a:avLst/>
          </a:prstGeom>
          <a:noFill/>
        </p:spPr>
        <p:txBody>
          <a:bodyPr wrap="square" lIns="45720" tIns="27432" rIns="45720" bIns="27432" rtlCol="0" anchor="ctr">
            <a:spAutoFit/>
          </a:bodyPr>
          <a:lstStyle/>
          <a:p>
            <a:pPr algn="ctr" rtl="1">
              <a:spcAft>
                <a:spcPts val="0"/>
              </a:spcAft>
            </a:pPr>
            <a:r>
              <a:rPr lang="he-IL" sz="1300" b="1" dirty="0">
                <a:solidFill>
                  <a:srgbClr val="1F4E79"/>
                </a:solidFill>
                <a:latin typeface="Arial"/>
                <a:cs typeface="Arial"/>
              </a:rPr>
              <a:t>עיוות: </a:t>
            </a:r>
            <a:r>
              <a:rPr lang="he-IL" sz="1300" b="0" dirty="0">
                <a:solidFill>
                  <a:srgbClr val="1B242B"/>
                </a:solidFill>
                <a:latin typeface="Arial"/>
                <a:cs typeface="Arial"/>
              </a:rPr>
              <a:t>עלייה של ‎10.4 [</a:t>
            </a:r>
            <a:r>
              <a:rPr lang="en-US" sz="1300" b="0" dirty="0">
                <a:solidFill>
                  <a:srgbClr val="1B242B"/>
                </a:solidFill>
                <a:latin typeface="Arial"/>
                <a:cs typeface="Arial"/>
              </a:rPr>
              <a:t>dB</a:t>
            </a:r>
            <a:r>
              <a:rPr lang="he-IL" sz="1300" b="0" dirty="0">
                <a:solidFill>
                  <a:srgbClr val="1B242B"/>
                </a:solidFill>
                <a:latin typeface="Arial"/>
                <a:cs typeface="Arial"/>
              </a:rPr>
              <a:t>‏</a:t>
            </a:r>
            <a:r>
              <a:rPr lang="en-US" sz="1300" b="0" dirty="0">
                <a:solidFill>
                  <a:srgbClr val="1B242B"/>
                </a:solidFill>
                <a:latin typeface="Arial"/>
                <a:cs typeface="Arial"/>
              </a:rPr>
              <a:t>[</a:t>
            </a:r>
            <a:r>
              <a:rPr lang="he-IL" sz="1300" b="0" dirty="0">
                <a:solidFill>
                  <a:srgbClr val="1B242B"/>
                </a:solidFill>
                <a:latin typeface="Arial"/>
                <a:cs typeface="Arial"/>
              </a:rPr>
              <a:t>, רק ‎1.2 </a:t>
            </a:r>
            <a:r>
              <a:rPr lang="en-US" sz="1300" b="0" dirty="0">
                <a:solidFill>
                  <a:srgbClr val="1B242B"/>
                </a:solidFill>
                <a:latin typeface="Arial"/>
                <a:cs typeface="Arial"/>
              </a:rPr>
              <a:t>dB]</a:t>
            </a:r>
            <a:r>
              <a:rPr lang="he-IL" sz="1300" b="0" dirty="0">
                <a:solidFill>
                  <a:srgbClr val="1B242B"/>
                </a:solidFill>
                <a:latin typeface="Arial"/>
                <a:cs typeface="Arial"/>
              </a:rPr>
              <a:t>‏</a:t>
            </a:r>
            <a:r>
              <a:rPr lang="en-US" sz="1300" b="0" dirty="0">
                <a:solidFill>
                  <a:srgbClr val="1B242B"/>
                </a:solidFill>
                <a:latin typeface="Arial"/>
                <a:cs typeface="Arial"/>
              </a:rPr>
              <a:t>[</a:t>
            </a:r>
            <a:r>
              <a:rPr lang="he-IL" sz="1300" b="0" dirty="0">
                <a:solidFill>
                  <a:srgbClr val="1B242B"/>
                </a:solidFill>
                <a:latin typeface="Arial"/>
                <a:cs typeface="Arial"/>
              </a:rPr>
              <a:t> מתחת לתקרה</a:t>
            </a:r>
          </a:p>
        </p:txBody>
      </p:sp>
      <p:sp>
        <p:nvSpPr>
          <p:cNvPr id="14" name="Rounded Rectangle 13"/>
          <p:cNvSpPr/>
          <p:nvPr/>
        </p:nvSpPr>
        <p:spPr>
          <a:xfrm>
            <a:off x="411480" y="1280160"/>
            <a:ext cx="3657600" cy="3200400"/>
          </a:xfrm>
          <a:prstGeom prst="roundRect">
            <a:avLst>
              <a:gd name="adj" fmla="val 6000"/>
            </a:avLst>
          </a:prstGeom>
          <a:solidFill>
            <a:srgbClr val="FFFFFF"/>
          </a:solidFill>
          <a:ln w="12700">
            <a:solidFill>
              <a:srgbClr val="D6DC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gap.png"/>
          <p:cNvPicPr>
            <a:picLocks noChangeAspect="1"/>
          </p:cNvPicPr>
          <p:nvPr/>
        </p:nvPicPr>
        <p:blipFill>
          <a:blip r:embed="rId5"/>
          <a:stretch>
            <a:fillRect/>
          </a:stretch>
        </p:blipFill>
        <p:spPr>
          <a:xfrm>
            <a:off x="502920" y="1551920"/>
            <a:ext cx="3474720" cy="1998511"/>
          </a:xfrm>
          <a:prstGeom prst="rect">
            <a:avLst/>
          </a:prstGeom>
        </p:spPr>
      </p:pic>
      <p:sp>
        <p:nvSpPr>
          <p:cNvPr id="16" name="TextBox 15"/>
          <p:cNvSpPr txBox="1"/>
          <p:nvPr/>
        </p:nvSpPr>
        <p:spPr>
          <a:xfrm>
            <a:off x="521208" y="3794760"/>
            <a:ext cx="3438144" cy="640080"/>
          </a:xfrm>
          <a:prstGeom prst="rect">
            <a:avLst/>
          </a:prstGeom>
          <a:noFill/>
        </p:spPr>
        <p:txBody>
          <a:bodyPr wrap="square" lIns="45720" tIns="27432" rIns="45720" bIns="27432" rtlCol="0" anchor="ctr">
            <a:spAutoFit/>
          </a:bodyPr>
          <a:lstStyle/>
          <a:p>
            <a:pPr algn="ctr" rtl="1">
              <a:spcAft>
                <a:spcPts val="0"/>
              </a:spcAft>
            </a:pPr>
            <a:r>
              <a:rPr lang="he-IL" sz="1300" b="1">
                <a:solidFill>
                  <a:srgbClr val="1F4E79"/>
                </a:solidFill>
                <a:latin typeface="Arial"/>
                <a:cs typeface="Arial"/>
              </a:rPr>
              <a:t>הפער לתקרה: </a:t>
            </a:r>
            <a:r>
              <a:rPr lang="he-IL" sz="1300" b="0">
                <a:solidFill>
                  <a:srgbClr val="1B242B"/>
                </a:solidFill>
                <a:latin typeface="Arial"/>
                <a:cs typeface="Arial"/>
              </a:rPr>
              <a:t>ב-</a:t>
            </a:r>
            <a:r>
              <a:rPr lang="en-US" sz="1300" b="0">
                <a:solidFill>
                  <a:srgbClr val="1B242B"/>
                </a:solidFill>
                <a:latin typeface="Arial"/>
                <a:cs typeface="Arial"/>
              </a:rPr>
              <a:t>SI-SDR</a:t>
            </a:r>
            <a:r>
              <a:rPr lang="he-IL" sz="1300" b="0">
                <a:solidFill>
                  <a:srgbClr val="1B242B"/>
                </a:solidFill>
                <a:latin typeface="Arial"/>
                <a:cs typeface="Arial"/>
              </a:rPr>
              <a:t>‎ סגרנו 89% ממנו, ב-</a:t>
            </a:r>
            <a:r>
              <a:rPr lang="en-US" sz="1300" b="0">
                <a:solidFill>
                  <a:srgbClr val="1B242B"/>
                </a:solidFill>
                <a:latin typeface="Arial"/>
                <a:cs typeface="Arial"/>
              </a:rPr>
              <a:t>PESQ</a:t>
            </a:r>
            <a:r>
              <a:rPr lang="he-IL" sz="1300" b="0">
                <a:solidFill>
                  <a:srgbClr val="1B242B"/>
                </a:solidFill>
                <a:latin typeface="Arial"/>
                <a:cs typeface="Arial"/>
              </a:rPr>
              <a:t>‎ רק 59%</a:t>
            </a:r>
          </a:p>
        </p:txBody>
      </p:sp>
      <p:sp>
        <p:nvSpPr>
          <p:cNvPr id="17" name="Rounded Rectangle 16"/>
          <p:cNvSpPr/>
          <p:nvPr/>
        </p:nvSpPr>
        <p:spPr>
          <a:xfrm>
            <a:off x="8074152" y="4599432"/>
            <a:ext cx="3657600" cy="841248"/>
          </a:xfrm>
          <a:prstGeom prst="roundRect">
            <a:avLst>
              <a:gd name="adj" fmla="val 6000"/>
            </a:avLst>
          </a:prstGeom>
          <a:solidFill>
            <a:srgbClr val="EDE4F5"/>
          </a:solidFill>
          <a:ln w="19050">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165592" y="4617720"/>
            <a:ext cx="3474720" cy="804672"/>
          </a:xfrm>
          <a:prstGeom prst="rect">
            <a:avLst/>
          </a:prstGeom>
          <a:noFill/>
        </p:spPr>
        <p:txBody>
          <a:bodyPr wrap="square" lIns="45720" tIns="27432" rIns="45720" bIns="27432" rtlCol="0" anchor="ctr">
            <a:spAutoFit/>
          </a:bodyPr>
          <a:lstStyle/>
          <a:p>
            <a:pPr algn="ctr" rtl="1">
              <a:spcAft>
                <a:spcPts val="0"/>
              </a:spcAft>
            </a:pPr>
            <a:r>
              <a:rPr lang="he-IL" sz="2200" b="1">
                <a:solidFill>
                  <a:srgbClr val="7030A0"/>
                </a:solidFill>
                <a:latin typeface="Arial"/>
                <a:cs typeface="Arial"/>
              </a:rPr>
              <a:t>מ-1.97 ל-3.15</a:t>
            </a:r>
          </a:p>
          <a:p>
            <a:pPr algn="ctr" rtl="0">
              <a:spcAft>
                <a:spcPts val="0"/>
              </a:spcAft>
            </a:pPr>
            <a:r>
              <a:rPr lang="he-IL" sz="1200" b="0">
                <a:solidFill>
                  <a:srgbClr val="1B242B"/>
                </a:solidFill>
                <a:latin typeface="Arial"/>
                <a:cs typeface="Arial"/>
              </a:rPr>
              <a:t>PESQ</a:t>
            </a:r>
          </a:p>
        </p:txBody>
      </p:sp>
      <p:sp>
        <p:nvSpPr>
          <p:cNvPr id="19" name="Rounded Rectangle 18"/>
          <p:cNvSpPr/>
          <p:nvPr/>
        </p:nvSpPr>
        <p:spPr>
          <a:xfrm>
            <a:off x="4242816" y="4599432"/>
            <a:ext cx="3657600" cy="841248"/>
          </a:xfrm>
          <a:prstGeom prst="roundRect">
            <a:avLst>
              <a:gd name="adj" fmla="val 6000"/>
            </a:avLst>
          </a:prstGeom>
          <a:solidFill>
            <a:srgbClr val="DEEBF7"/>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334255" y="4617720"/>
            <a:ext cx="3474720" cy="804672"/>
          </a:xfrm>
          <a:prstGeom prst="rect">
            <a:avLst/>
          </a:prstGeom>
          <a:noFill/>
        </p:spPr>
        <p:txBody>
          <a:bodyPr wrap="square" lIns="45720" tIns="27432" rIns="45720" bIns="27432" rtlCol="0" anchor="ctr">
            <a:spAutoFit/>
          </a:bodyPr>
          <a:lstStyle/>
          <a:p>
            <a:pPr algn="ctr" rtl="0">
              <a:spcAft>
                <a:spcPts val="0"/>
              </a:spcAft>
            </a:pPr>
            <a:r>
              <a:rPr lang="he-IL" sz="2200" b="1">
                <a:solidFill>
                  <a:srgbClr val="2E75B6"/>
                </a:solidFill>
                <a:latin typeface="Arial"/>
                <a:cs typeface="Arial"/>
              </a:rPr>
              <a:t>‎+10.4 [dB]‏</a:t>
            </a:r>
          </a:p>
          <a:p>
            <a:pPr algn="ctr" rtl="0">
              <a:spcAft>
                <a:spcPts val="0"/>
              </a:spcAft>
            </a:pPr>
            <a:r>
              <a:rPr lang="he-IL" sz="1200" b="0">
                <a:solidFill>
                  <a:srgbClr val="1B242B"/>
                </a:solidFill>
                <a:latin typeface="Arial"/>
                <a:cs typeface="Arial"/>
              </a:rPr>
              <a:t>SI-SDR</a:t>
            </a:r>
          </a:p>
        </p:txBody>
      </p:sp>
      <p:sp>
        <p:nvSpPr>
          <p:cNvPr id="21" name="Rounded Rectangle 20"/>
          <p:cNvSpPr/>
          <p:nvPr/>
        </p:nvSpPr>
        <p:spPr>
          <a:xfrm>
            <a:off x="411480" y="4599432"/>
            <a:ext cx="3657600" cy="841248"/>
          </a:xfrm>
          <a:prstGeom prst="roundRect">
            <a:avLst>
              <a:gd name="adj" fmla="val 6000"/>
            </a:avLst>
          </a:prstGeom>
          <a:solidFill>
            <a:srgbClr val="FBE5D6"/>
          </a:solidFill>
          <a:ln w="1905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02920" y="4617720"/>
            <a:ext cx="3474720" cy="804672"/>
          </a:xfrm>
          <a:prstGeom prst="rect">
            <a:avLst/>
          </a:prstGeom>
          <a:noFill/>
        </p:spPr>
        <p:txBody>
          <a:bodyPr wrap="square" lIns="45720" tIns="27432" rIns="45720" bIns="27432" rtlCol="0" anchor="ctr">
            <a:spAutoFit/>
          </a:bodyPr>
          <a:lstStyle/>
          <a:p>
            <a:pPr algn="ctr" rtl="0">
              <a:spcAft>
                <a:spcPts val="0"/>
              </a:spcAft>
            </a:pPr>
            <a:r>
              <a:rPr lang="he-IL" sz="2200" b="1">
                <a:solidFill>
                  <a:srgbClr val="C55A11"/>
                </a:solidFill>
                <a:latin typeface="Arial"/>
                <a:cs typeface="Arial"/>
              </a:rPr>
              <a:t>2.96</a:t>
            </a:r>
          </a:p>
          <a:p>
            <a:pPr algn="ctr" rtl="1">
              <a:spcAft>
                <a:spcPts val="0"/>
              </a:spcAft>
            </a:pPr>
            <a:r>
              <a:rPr lang="he-IL" sz="1200" b="0">
                <a:solidFill>
                  <a:srgbClr val="1B242B"/>
                </a:solidFill>
                <a:latin typeface="Arial"/>
                <a:cs typeface="Arial"/>
              </a:rPr>
              <a:t>‏</a:t>
            </a:r>
            <a:r>
              <a:rPr lang="en-US" sz="1200" b="0">
                <a:solidFill>
                  <a:srgbClr val="1B242B"/>
                </a:solidFill>
                <a:latin typeface="Arial"/>
                <a:cs typeface="Arial"/>
              </a:rPr>
              <a:t>TSTNN</a:t>
            </a:r>
            <a:r>
              <a:rPr lang="he-IL" sz="1200" b="0">
                <a:solidFill>
                  <a:srgbClr val="1B242B"/>
                </a:solidFill>
                <a:latin typeface="Arial"/>
                <a:cs typeface="Arial"/>
              </a:rPr>
              <a:t>‎ מהמאמר, </a:t>
            </a:r>
            <a:r>
              <a:rPr lang="en-US" sz="1200" b="0">
                <a:solidFill>
                  <a:srgbClr val="1B242B"/>
                </a:solidFill>
                <a:latin typeface="Arial"/>
                <a:cs typeface="Arial"/>
              </a:rPr>
              <a:t>PESQ</a:t>
            </a:r>
            <a:r>
              <a:rPr lang="he-IL" sz="1200" b="0">
                <a:solidFill>
                  <a:srgbClr val="1B242B"/>
                </a:solidFill>
                <a:latin typeface="Arial"/>
                <a:cs typeface="Arial"/>
              </a:rPr>
              <a:t>‎</a:t>
            </a:r>
          </a:p>
        </p:txBody>
      </p:sp>
      <p:sp>
        <p:nvSpPr>
          <p:cNvPr id="23" name="TextBox 22"/>
          <p:cNvSpPr txBox="1"/>
          <p:nvPr/>
        </p:nvSpPr>
        <p:spPr>
          <a:xfrm>
            <a:off x="411480" y="5468112"/>
            <a:ext cx="11320272" cy="310896"/>
          </a:xfrm>
          <a:prstGeom prst="rect">
            <a:avLst/>
          </a:prstGeom>
          <a:noFill/>
        </p:spPr>
        <p:txBody>
          <a:bodyPr wrap="square" lIns="45720" tIns="27432" rIns="45720" bIns="27432" rtlCol="0" anchor="ctr">
            <a:spAutoFit/>
          </a:bodyPr>
          <a:lstStyle/>
          <a:p>
            <a:pPr algn="ctr" rtl="1">
              <a:spcAft>
                <a:spcPts val="0"/>
              </a:spcAft>
            </a:pPr>
            <a:r>
              <a:rPr lang="he-IL" sz="1100" b="0">
                <a:solidFill>
                  <a:srgbClr val="5A636A"/>
                </a:solidFill>
                <a:latin typeface="Arial"/>
                <a:cs typeface="Arial"/>
              </a:rPr>
              <a:t>תקרה = ה-</a:t>
            </a:r>
            <a:r>
              <a:rPr lang="en-US" sz="1100" b="0">
                <a:solidFill>
                  <a:srgbClr val="5A636A"/>
                </a:solidFill>
                <a:latin typeface="Arial"/>
                <a:cs typeface="Arial"/>
              </a:rPr>
              <a:t>magnitude</a:t>
            </a:r>
            <a:r>
              <a:rPr lang="he-IL" sz="1100" b="0">
                <a:solidFill>
                  <a:srgbClr val="5A636A"/>
                </a:solidFill>
                <a:latin typeface="Arial"/>
                <a:cs typeface="Arial"/>
              </a:rPr>
              <a:t>‎ הנקי עם הפאזה הרועשת, הטוב ביותר שמסכה על </a:t>
            </a:r>
            <a:r>
              <a:rPr lang="en-US" sz="1100" b="0">
                <a:solidFill>
                  <a:srgbClr val="5A636A"/>
                </a:solidFill>
                <a:latin typeface="Arial"/>
                <a:cs typeface="Arial"/>
              </a:rPr>
              <a:t>magnitude</a:t>
            </a:r>
            <a:r>
              <a:rPr lang="he-IL" sz="1100" b="0">
                <a:solidFill>
                  <a:srgbClr val="5A636A"/>
                </a:solidFill>
                <a:latin typeface="Arial"/>
                <a:cs typeface="Arial"/>
              </a:rPr>
              <a:t>‎ יכולה להשיג</a:t>
            </a:r>
          </a:p>
        </p:txBody>
      </p:sp>
      <p:sp>
        <p:nvSpPr>
          <p:cNvPr id="24" name="Rounded Rectangle 23"/>
          <p:cNvSpPr/>
          <p:nvPr/>
        </p:nvSpPr>
        <p:spPr>
          <a:xfrm>
            <a:off x="411480" y="5833872"/>
            <a:ext cx="11320272" cy="457200"/>
          </a:xfrm>
          <a:prstGeom prst="roundRect">
            <a:avLst>
              <a:gd name="adj" fmla="val 8000"/>
            </a:avLst>
          </a:prstGeom>
          <a:solidFill>
            <a:srgbClr val="DEEAF6"/>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02920" y="5833872"/>
            <a:ext cx="11137392" cy="457200"/>
          </a:xfrm>
          <a:prstGeom prst="rect">
            <a:avLst/>
          </a:prstGeom>
          <a:noFill/>
        </p:spPr>
        <p:txBody>
          <a:bodyPr wrap="square" lIns="45720" tIns="27432" rIns="45720" bIns="27432" rtlCol="0" anchor="ctr">
            <a:spAutoFit/>
          </a:bodyPr>
          <a:lstStyle/>
          <a:p>
            <a:pPr algn="ctr" rtl="1">
              <a:spcAft>
                <a:spcPts val="0"/>
              </a:spcAft>
            </a:pPr>
            <a:r>
              <a:rPr lang="he-IL" sz="1500" b="1">
                <a:solidFill>
                  <a:srgbClr val="1F4E79"/>
                </a:solidFill>
                <a:latin typeface="Arial"/>
                <a:cs typeface="Arial"/>
              </a:rPr>
              <a:t>המסקנה: </a:t>
            </a:r>
            <a:r>
              <a:rPr lang="he-IL" sz="1500" b="0">
                <a:solidFill>
                  <a:srgbClr val="1B242B"/>
                </a:solidFill>
                <a:latin typeface="Arial"/>
                <a:cs typeface="Arial"/>
              </a:rPr>
              <a:t>המודל עוקף את </a:t>
            </a:r>
            <a:r>
              <a:rPr lang="en-US" sz="1500" b="0">
                <a:solidFill>
                  <a:srgbClr val="1B242B"/>
                </a:solidFill>
                <a:latin typeface="Arial"/>
                <a:cs typeface="Arial"/>
              </a:rPr>
              <a:t>TSTNN</a:t>
            </a:r>
            <a:r>
              <a:rPr lang="he-IL" sz="1500" b="0">
                <a:solidFill>
                  <a:srgbClr val="1B242B"/>
                </a:solidFill>
                <a:latin typeface="Arial"/>
                <a:cs typeface="Arial"/>
              </a:rPr>
              <a:t>‎ ואת השיטות הקלאסיות, והפער שנשאר לתקרה הוא בעיקר באיכות הנשמעת</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77295" cy="777240"/>
          </a:xfrm>
          <a:prstGeom prst="rect">
            <a:avLst/>
          </a:prstGeom>
          <a:noFill/>
        </p:spPr>
        <p:txBody>
          <a:bodyPr wrap="square" lIns="45720" rIns="45720" anchor="ctr">
            <a:spAutoFit/>
          </a:bodyPr>
          <a:lstStyle/>
          <a:p>
            <a:pPr algn="r" rtl="1">
              <a:spcAft>
                <a:spcPts val="800"/>
              </a:spcAft>
              <a:buNone/>
            </a:pPr>
            <a:r>
              <a:rPr lang="he-IL" sz="3200" b="1">
                <a:solidFill>
                  <a:srgbClr val="1F4E79"/>
                </a:solidFill>
                <a:latin typeface="Arial"/>
                <a:cs typeface="Arial"/>
              </a:rPr>
              <a:t>התוצאות לפי ה-</a:t>
            </a:r>
            <a:r>
              <a:rPr lang="en-US" sz="3200" b="1">
                <a:solidFill>
                  <a:srgbClr val="1F4E79"/>
                </a:solidFill>
                <a:latin typeface="Arial"/>
                <a:cs typeface="Arial"/>
              </a:rPr>
              <a:t>SNR</a:t>
            </a:r>
            <a:r>
              <a:rPr lang="he-IL" sz="3200" b="1">
                <a:solidFill>
                  <a:srgbClr val="1F4E79"/>
                </a:solidFill>
                <a:latin typeface="Arial"/>
                <a:cs typeface="Arial"/>
              </a:rPr>
              <a:t>‎ של הקלט</a:t>
            </a:r>
          </a:p>
        </p:txBody>
      </p:sp>
      <p:sp>
        <p:nvSpPr>
          <p:cNvPr id="4" name="Rectangle 3"/>
          <p:cNvSpPr/>
          <p:nvPr/>
        </p:nvSpPr>
        <p:spPr>
          <a:xfrm>
            <a:off x="10271455" y="1051560"/>
            <a:ext cx="1463040" cy="4572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774375" y="6400800"/>
            <a:ext cx="1051560" cy="310896"/>
          </a:xfrm>
          <a:prstGeom prst="roundRect">
            <a:avLst>
              <a:gd name="adj" fmla="val 50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74375" y="6400800"/>
            <a:ext cx="1051560" cy="310896"/>
          </a:xfrm>
          <a:prstGeom prst="rect">
            <a:avLst/>
          </a:prstGeom>
          <a:noFill/>
        </p:spPr>
        <p:txBody>
          <a:bodyPr wrap="square" lIns="45720" rIns="45720" anchor="ctr">
            <a:spAutoFit/>
          </a:bodyPr>
          <a:lstStyle/>
          <a:p>
            <a:pPr algn="ctr" rtl="1">
              <a:spcAft>
                <a:spcPts val="0"/>
              </a:spcAft>
              <a:buNone/>
            </a:pPr>
            <a:r>
              <a:rPr lang="he-IL" sz="1300" b="1">
                <a:solidFill>
                  <a:srgbClr val="FFFFFF"/>
                </a:solidFill>
                <a:latin typeface="Arial"/>
                <a:cs typeface="Arial"/>
              </a:rPr>
              <a:t>עידן</a:t>
            </a:r>
          </a:p>
        </p:txBody>
      </p:sp>
      <p:sp>
        <p:nvSpPr>
          <p:cNvPr id="7" name="TextBox 6"/>
          <p:cNvSpPr txBox="1"/>
          <p:nvPr/>
        </p:nvSpPr>
        <p:spPr>
          <a:xfrm>
            <a:off x="365760" y="6400800"/>
            <a:ext cx="914400" cy="310896"/>
          </a:xfrm>
          <a:prstGeom prst="rect">
            <a:avLst/>
          </a:prstGeom>
          <a:noFill/>
        </p:spPr>
        <p:txBody>
          <a:bodyPr wrap="square" lIns="45720" rIns="45720" anchor="ctr">
            <a:spAutoFit/>
          </a:bodyPr>
          <a:lstStyle/>
          <a:p>
            <a:pPr algn="l" rtl="0">
              <a:spcAft>
                <a:spcPts val="0"/>
              </a:spcAft>
              <a:buNone/>
            </a:pPr>
            <a:r>
              <a:rPr lang="he-IL" sz="1300" b="0">
                <a:solidFill>
                  <a:srgbClr val="5A636A"/>
                </a:solidFill>
                <a:latin typeface="Arial"/>
                <a:cs typeface="Arial"/>
              </a:rPr>
              <a:t>17</a:t>
            </a:r>
          </a:p>
        </p:txBody>
      </p:sp>
      <p:sp>
        <p:nvSpPr>
          <p:cNvPr id="8" name="Rounded Rectangle 7"/>
          <p:cNvSpPr/>
          <p:nvPr/>
        </p:nvSpPr>
        <p:spPr>
          <a:xfrm>
            <a:off x="6153912" y="1280160"/>
            <a:ext cx="5577840" cy="4389120"/>
          </a:xfrm>
          <a:prstGeom prst="roundRect">
            <a:avLst>
              <a:gd name="adj" fmla="val 6000"/>
            </a:avLst>
          </a:prstGeom>
          <a:solidFill>
            <a:srgbClr val="FFFFFF"/>
          </a:solidFill>
          <a:ln w="12700">
            <a:solidFill>
              <a:srgbClr val="D6DC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snr_estoi.png"/>
          <p:cNvPicPr>
            <a:picLocks noChangeAspect="1"/>
          </p:cNvPicPr>
          <p:nvPr/>
        </p:nvPicPr>
        <p:blipFill>
          <a:blip r:embed="rId3"/>
          <a:stretch>
            <a:fillRect/>
          </a:stretch>
        </p:blipFill>
        <p:spPr>
          <a:xfrm>
            <a:off x="6185385" y="1353312"/>
            <a:ext cx="5514892" cy="3520440"/>
          </a:xfrm>
          <a:prstGeom prst="rect">
            <a:avLst/>
          </a:prstGeom>
        </p:spPr>
      </p:pic>
      <p:sp>
        <p:nvSpPr>
          <p:cNvPr id="10" name="TextBox 9"/>
          <p:cNvSpPr txBox="1"/>
          <p:nvPr/>
        </p:nvSpPr>
        <p:spPr>
          <a:xfrm>
            <a:off x="6291072" y="4937760"/>
            <a:ext cx="5303520" cy="685800"/>
          </a:xfrm>
          <a:prstGeom prst="rect">
            <a:avLst/>
          </a:prstGeom>
          <a:noFill/>
        </p:spPr>
        <p:txBody>
          <a:bodyPr wrap="square" lIns="45720" tIns="27432" rIns="45720" bIns="27432" rtlCol="0" anchor="ctr">
            <a:spAutoFit/>
          </a:bodyPr>
          <a:lstStyle/>
          <a:p>
            <a:pPr algn="ctr" rtl="1">
              <a:spcAft>
                <a:spcPts val="0"/>
              </a:spcAft>
            </a:pPr>
            <a:r>
              <a:rPr lang="he-IL" sz="1400" b="1">
                <a:solidFill>
                  <a:srgbClr val="1F4E79"/>
                </a:solidFill>
                <a:latin typeface="Arial"/>
                <a:cs typeface="Arial"/>
              </a:rPr>
              <a:t>מובנות: </a:t>
            </a:r>
            <a:r>
              <a:rPr lang="he-IL" sz="1400" b="0">
                <a:solidFill>
                  <a:srgbClr val="1B242B"/>
                </a:solidFill>
                <a:latin typeface="Arial"/>
                <a:cs typeface="Arial"/>
              </a:rPr>
              <a:t>מתחת ל-‎2.5 [</a:t>
            </a:r>
            <a:r>
              <a:rPr lang="en-US" sz="1400" b="0">
                <a:solidFill>
                  <a:srgbClr val="1B242B"/>
                </a:solidFill>
                <a:latin typeface="Arial"/>
                <a:cs typeface="Arial"/>
              </a:rPr>
              <a:t>dB]</a:t>
            </a:r>
            <a:r>
              <a:rPr lang="he-IL" sz="1400" b="0">
                <a:solidFill>
                  <a:srgbClr val="1B242B"/>
                </a:solidFill>
                <a:latin typeface="Arial"/>
                <a:cs typeface="Arial"/>
              </a:rPr>
              <a:t>‏ ה-</a:t>
            </a:r>
            <a:r>
              <a:rPr lang="en-US" sz="1400" b="0">
                <a:solidFill>
                  <a:srgbClr val="1B242B"/>
                </a:solidFill>
                <a:latin typeface="Arial"/>
                <a:cs typeface="Arial"/>
              </a:rPr>
              <a:t>ESTOI</a:t>
            </a:r>
            <a:r>
              <a:rPr lang="he-IL" sz="1400" b="0">
                <a:solidFill>
                  <a:srgbClr val="1B242B"/>
                </a:solidFill>
                <a:latin typeface="Arial"/>
                <a:cs typeface="Arial"/>
              </a:rPr>
              <a:t>‎ עולה ב-0.14, ומעל ‎12.5 [</a:t>
            </a:r>
            <a:r>
              <a:rPr lang="en-US" sz="1400" b="0">
                <a:solidFill>
                  <a:srgbClr val="1B242B"/>
                </a:solidFill>
                <a:latin typeface="Arial"/>
                <a:cs typeface="Arial"/>
              </a:rPr>
              <a:t>dB]</a:t>
            </a:r>
            <a:r>
              <a:rPr lang="he-IL" sz="1400" b="0">
                <a:solidFill>
                  <a:srgbClr val="1B242B"/>
                </a:solidFill>
                <a:latin typeface="Arial"/>
                <a:cs typeface="Arial"/>
              </a:rPr>
              <a:t>‏ רק ב-0.04</a:t>
            </a:r>
          </a:p>
        </p:txBody>
      </p:sp>
      <p:sp>
        <p:nvSpPr>
          <p:cNvPr id="11" name="Rounded Rectangle 10"/>
          <p:cNvSpPr/>
          <p:nvPr/>
        </p:nvSpPr>
        <p:spPr>
          <a:xfrm>
            <a:off x="411480" y="1280160"/>
            <a:ext cx="5577840" cy="4389120"/>
          </a:xfrm>
          <a:prstGeom prst="roundRect">
            <a:avLst>
              <a:gd name="adj" fmla="val 6000"/>
            </a:avLst>
          </a:prstGeom>
          <a:solidFill>
            <a:srgbClr val="FFFFFF"/>
          </a:solidFill>
          <a:ln w="12700">
            <a:solidFill>
              <a:srgbClr val="D6DCE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snr_pesq.png"/>
          <p:cNvPicPr>
            <a:picLocks noChangeAspect="1"/>
          </p:cNvPicPr>
          <p:nvPr/>
        </p:nvPicPr>
        <p:blipFill>
          <a:blip r:embed="rId4"/>
          <a:stretch>
            <a:fillRect/>
          </a:stretch>
        </p:blipFill>
        <p:spPr>
          <a:xfrm>
            <a:off x="440634" y="1353312"/>
            <a:ext cx="5519530" cy="3520440"/>
          </a:xfrm>
          <a:prstGeom prst="rect">
            <a:avLst/>
          </a:prstGeom>
        </p:spPr>
      </p:pic>
      <p:sp>
        <p:nvSpPr>
          <p:cNvPr id="13" name="TextBox 12"/>
          <p:cNvSpPr txBox="1"/>
          <p:nvPr/>
        </p:nvSpPr>
        <p:spPr>
          <a:xfrm>
            <a:off x="548640" y="4937760"/>
            <a:ext cx="5303520" cy="685800"/>
          </a:xfrm>
          <a:prstGeom prst="rect">
            <a:avLst/>
          </a:prstGeom>
          <a:noFill/>
        </p:spPr>
        <p:txBody>
          <a:bodyPr wrap="square" lIns="45720" tIns="27432" rIns="45720" bIns="27432" rtlCol="0" anchor="ctr">
            <a:spAutoFit/>
          </a:bodyPr>
          <a:lstStyle/>
          <a:p>
            <a:pPr algn="ctr" rtl="1">
              <a:spcAft>
                <a:spcPts val="0"/>
              </a:spcAft>
            </a:pPr>
            <a:r>
              <a:rPr lang="he-IL" sz="1400" b="1">
                <a:solidFill>
                  <a:srgbClr val="1F4E79"/>
                </a:solidFill>
                <a:latin typeface="Arial"/>
                <a:cs typeface="Arial"/>
              </a:rPr>
              <a:t>איכות: </a:t>
            </a:r>
            <a:r>
              <a:rPr lang="he-IL" sz="1400" b="0">
                <a:solidFill>
                  <a:srgbClr val="1B242B"/>
                </a:solidFill>
                <a:latin typeface="Arial"/>
                <a:cs typeface="Arial"/>
              </a:rPr>
              <a:t>השיפור ב-</a:t>
            </a:r>
            <a:r>
              <a:rPr lang="en-US" sz="1400" b="0">
                <a:solidFill>
                  <a:srgbClr val="1B242B"/>
                </a:solidFill>
                <a:latin typeface="Arial"/>
                <a:cs typeface="Arial"/>
              </a:rPr>
              <a:t>PESQ</a:t>
            </a:r>
            <a:r>
              <a:rPr lang="he-IL" sz="1400" b="0">
                <a:solidFill>
                  <a:srgbClr val="1B242B"/>
                </a:solidFill>
                <a:latin typeface="Arial"/>
                <a:cs typeface="Arial"/>
              </a:rPr>
              <a:t>‎ דומה בכל רמות הרעש</a:t>
            </a:r>
          </a:p>
        </p:txBody>
      </p:sp>
      <p:sp>
        <p:nvSpPr>
          <p:cNvPr id="14" name="Rounded Rectangle 13"/>
          <p:cNvSpPr/>
          <p:nvPr/>
        </p:nvSpPr>
        <p:spPr>
          <a:xfrm>
            <a:off x="411480" y="5833872"/>
            <a:ext cx="11320272" cy="457200"/>
          </a:xfrm>
          <a:prstGeom prst="roundRect">
            <a:avLst>
              <a:gd name="adj" fmla="val 8000"/>
            </a:avLst>
          </a:prstGeom>
          <a:solidFill>
            <a:srgbClr val="DEEAF6"/>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02920" y="5833872"/>
            <a:ext cx="11137392" cy="457200"/>
          </a:xfrm>
          <a:prstGeom prst="rect">
            <a:avLst/>
          </a:prstGeom>
          <a:noFill/>
        </p:spPr>
        <p:txBody>
          <a:bodyPr wrap="square" lIns="45720" tIns="27432" rIns="45720" bIns="27432" rtlCol="0" anchor="ctr">
            <a:spAutoFit/>
          </a:bodyPr>
          <a:lstStyle/>
          <a:p>
            <a:pPr algn="ctr" rtl="1">
              <a:spcAft>
                <a:spcPts val="0"/>
              </a:spcAft>
            </a:pPr>
            <a:r>
              <a:rPr lang="he-IL" sz="1500" b="1">
                <a:solidFill>
                  <a:srgbClr val="1F4E79"/>
                </a:solidFill>
                <a:latin typeface="Arial"/>
                <a:cs typeface="Arial"/>
              </a:rPr>
              <a:t>המסקנה: </a:t>
            </a:r>
            <a:r>
              <a:rPr lang="he-IL" sz="1500" b="0">
                <a:solidFill>
                  <a:srgbClr val="1B242B"/>
                </a:solidFill>
                <a:latin typeface="Arial"/>
                <a:cs typeface="Arial"/>
              </a:rPr>
              <a:t>המובנות משתפרת בעיקר ברעש חזק, שם הדיבור הכי קשה להבנה</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77295" cy="777240"/>
          </a:xfrm>
          <a:prstGeom prst="rect">
            <a:avLst/>
          </a:prstGeom>
          <a:noFill/>
        </p:spPr>
        <p:txBody>
          <a:bodyPr wrap="square" lIns="45720" rIns="45720" anchor="ctr">
            <a:spAutoFit/>
          </a:bodyPr>
          <a:lstStyle/>
          <a:p>
            <a:pPr algn="r" rtl="1">
              <a:spcAft>
                <a:spcPts val="800"/>
              </a:spcAft>
              <a:buNone/>
            </a:pPr>
            <a:r>
              <a:rPr lang="he-IL" sz="3200" b="1">
                <a:solidFill>
                  <a:srgbClr val="1F4E79"/>
                </a:solidFill>
                <a:latin typeface="Arial"/>
                <a:cs typeface="Arial"/>
              </a:rPr>
              <a:t>נשמע את זה</a:t>
            </a:r>
          </a:p>
        </p:txBody>
      </p:sp>
      <p:sp>
        <p:nvSpPr>
          <p:cNvPr id="4" name="Rectangle 3"/>
          <p:cNvSpPr/>
          <p:nvPr/>
        </p:nvSpPr>
        <p:spPr>
          <a:xfrm>
            <a:off x="10271455" y="1051560"/>
            <a:ext cx="1463040" cy="4572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774375" y="6400800"/>
            <a:ext cx="1051560" cy="310896"/>
          </a:xfrm>
          <a:prstGeom prst="roundRect">
            <a:avLst>
              <a:gd name="adj" fmla="val 50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74375" y="6400800"/>
            <a:ext cx="1051560" cy="310896"/>
          </a:xfrm>
          <a:prstGeom prst="rect">
            <a:avLst/>
          </a:prstGeom>
          <a:noFill/>
        </p:spPr>
        <p:txBody>
          <a:bodyPr wrap="square" lIns="45720" rIns="45720" anchor="ctr">
            <a:spAutoFit/>
          </a:bodyPr>
          <a:lstStyle/>
          <a:p>
            <a:pPr algn="ctr" rtl="1">
              <a:spcAft>
                <a:spcPts val="0"/>
              </a:spcAft>
              <a:buNone/>
            </a:pPr>
            <a:r>
              <a:rPr lang="he-IL" sz="1300" b="1">
                <a:solidFill>
                  <a:srgbClr val="FFFFFF"/>
                </a:solidFill>
                <a:latin typeface="Arial"/>
                <a:cs typeface="Arial"/>
              </a:rPr>
              <a:t>עידן</a:t>
            </a:r>
          </a:p>
        </p:txBody>
      </p:sp>
      <p:sp>
        <p:nvSpPr>
          <p:cNvPr id="7" name="TextBox 6"/>
          <p:cNvSpPr txBox="1"/>
          <p:nvPr/>
        </p:nvSpPr>
        <p:spPr>
          <a:xfrm>
            <a:off x="365760" y="6400800"/>
            <a:ext cx="914400" cy="310896"/>
          </a:xfrm>
          <a:prstGeom prst="rect">
            <a:avLst/>
          </a:prstGeom>
          <a:noFill/>
        </p:spPr>
        <p:txBody>
          <a:bodyPr wrap="square" lIns="45720" rIns="45720" anchor="ctr">
            <a:spAutoFit/>
          </a:bodyPr>
          <a:lstStyle/>
          <a:p>
            <a:pPr algn="l" rtl="0">
              <a:spcAft>
                <a:spcPts val="0"/>
              </a:spcAft>
              <a:buNone/>
            </a:pPr>
            <a:r>
              <a:rPr lang="he-IL" sz="1300" b="0">
                <a:solidFill>
                  <a:srgbClr val="5A636A"/>
                </a:solidFill>
                <a:latin typeface="Arial"/>
                <a:cs typeface="Arial"/>
              </a:rPr>
              <a:t>18</a:t>
            </a:r>
          </a:p>
        </p:txBody>
      </p:sp>
      <p:sp>
        <p:nvSpPr>
          <p:cNvPr id="8" name="Rounded Rectangle 7"/>
          <p:cNvSpPr/>
          <p:nvPr/>
        </p:nvSpPr>
        <p:spPr>
          <a:xfrm>
            <a:off x="8031175" y="1325880"/>
            <a:ext cx="3474720" cy="2926080"/>
          </a:xfrm>
          <a:prstGeom prst="roundRect">
            <a:avLst>
              <a:gd name="adj" fmla="val 8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31175" y="1417320"/>
            <a:ext cx="3474720" cy="548640"/>
          </a:xfrm>
          <a:prstGeom prst="rect">
            <a:avLst/>
          </a:prstGeom>
          <a:noFill/>
        </p:spPr>
        <p:txBody>
          <a:bodyPr wrap="square" lIns="45720" rIns="45720" anchor="t">
            <a:spAutoFit/>
          </a:bodyPr>
          <a:lstStyle/>
          <a:p>
            <a:pPr algn="ctr" rtl="1">
              <a:spcAft>
                <a:spcPts val="800"/>
              </a:spcAft>
              <a:buNone/>
            </a:pPr>
            <a:r>
              <a:rPr lang="he-IL" sz="2600" b="1">
                <a:solidFill>
                  <a:srgbClr val="7F7F7F"/>
                </a:solidFill>
                <a:latin typeface="Arial"/>
                <a:cs typeface="Arial"/>
              </a:rPr>
              <a:t>‏1. רועש</a:t>
            </a:r>
          </a:p>
        </p:txBody>
      </p:sp>
      <p:pic>
        <p:nvPicPr>
          <p:cNvPr id="10" name="noisy.wav">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259775" y="2057400"/>
            <a:ext cx="3017520" cy="1239012"/>
          </a:xfrm>
          <a:prstGeom prst="rect">
            <a:avLst/>
          </a:prstGeom>
        </p:spPr>
      </p:pic>
      <p:sp>
        <p:nvSpPr>
          <p:cNvPr id="12" name="TextBox 11"/>
          <p:cNvSpPr txBox="1"/>
          <p:nvPr/>
        </p:nvSpPr>
        <p:spPr>
          <a:xfrm>
            <a:off x="8031175" y="3749039"/>
            <a:ext cx="3474720" cy="365760"/>
          </a:xfrm>
          <a:prstGeom prst="rect">
            <a:avLst/>
          </a:prstGeom>
          <a:noFill/>
        </p:spPr>
        <p:txBody>
          <a:bodyPr wrap="square" lIns="45720" rIns="45720" anchor="t">
            <a:spAutoFit/>
          </a:bodyPr>
          <a:lstStyle/>
          <a:p>
            <a:pPr algn="ctr" rtl="1">
              <a:spcAft>
                <a:spcPts val="800"/>
              </a:spcAft>
              <a:buNone/>
            </a:pPr>
            <a:r>
              <a:rPr lang="he-IL" sz="1300" b="0">
                <a:solidFill>
                  <a:srgbClr val="5A636A"/>
                </a:solidFill>
                <a:latin typeface="Arial"/>
                <a:cs typeface="Arial"/>
              </a:rPr>
              <a:t>לחיצה על הגל מנגנת</a:t>
            </a:r>
          </a:p>
        </p:txBody>
      </p:sp>
      <p:sp>
        <p:nvSpPr>
          <p:cNvPr id="13" name="Rounded Rectangle 12"/>
          <p:cNvSpPr/>
          <p:nvPr/>
        </p:nvSpPr>
        <p:spPr>
          <a:xfrm>
            <a:off x="4282135" y="1325880"/>
            <a:ext cx="3474720" cy="2926080"/>
          </a:xfrm>
          <a:prstGeom prst="roundRect">
            <a:avLst>
              <a:gd name="adj" fmla="val 8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82135" y="1417320"/>
            <a:ext cx="3474720" cy="548640"/>
          </a:xfrm>
          <a:prstGeom prst="rect">
            <a:avLst/>
          </a:prstGeom>
          <a:noFill/>
        </p:spPr>
        <p:txBody>
          <a:bodyPr wrap="square" lIns="45720" rIns="45720" anchor="t">
            <a:spAutoFit/>
          </a:bodyPr>
          <a:lstStyle/>
          <a:p>
            <a:pPr algn="ctr" rtl="1">
              <a:spcAft>
                <a:spcPts val="800"/>
              </a:spcAft>
              <a:buNone/>
            </a:pPr>
            <a:r>
              <a:rPr lang="he-IL" sz="2600" b="1">
                <a:solidFill>
                  <a:srgbClr val="C55A11"/>
                </a:solidFill>
                <a:latin typeface="Arial"/>
                <a:cs typeface="Arial"/>
              </a:rPr>
              <a:t>‏2. אחרי המודל</a:t>
            </a:r>
          </a:p>
        </p:txBody>
      </p:sp>
      <p:pic>
        <p:nvPicPr>
          <p:cNvPr id="15" name="enhanced.wav">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0"/>
          <a:stretch>
            <a:fillRect/>
          </a:stretch>
        </p:blipFill>
        <p:spPr>
          <a:xfrm>
            <a:off x="4510735" y="2057400"/>
            <a:ext cx="3017520" cy="1239012"/>
          </a:xfrm>
          <a:prstGeom prst="rect">
            <a:avLst/>
          </a:prstGeom>
        </p:spPr>
      </p:pic>
      <p:sp>
        <p:nvSpPr>
          <p:cNvPr id="17" name="TextBox 16"/>
          <p:cNvSpPr txBox="1"/>
          <p:nvPr/>
        </p:nvSpPr>
        <p:spPr>
          <a:xfrm>
            <a:off x="4282135" y="3749039"/>
            <a:ext cx="3474720" cy="365760"/>
          </a:xfrm>
          <a:prstGeom prst="rect">
            <a:avLst/>
          </a:prstGeom>
          <a:noFill/>
        </p:spPr>
        <p:txBody>
          <a:bodyPr wrap="square" lIns="45720" rIns="45720" anchor="t">
            <a:spAutoFit/>
          </a:bodyPr>
          <a:lstStyle/>
          <a:p>
            <a:pPr algn="ctr" rtl="1">
              <a:spcAft>
                <a:spcPts val="800"/>
              </a:spcAft>
              <a:buNone/>
            </a:pPr>
            <a:r>
              <a:rPr lang="he-IL" sz="1300" b="0">
                <a:solidFill>
                  <a:srgbClr val="5A636A"/>
                </a:solidFill>
                <a:latin typeface="Arial"/>
                <a:cs typeface="Arial"/>
              </a:rPr>
              <a:t>לחיצה על הגל מנגנת</a:t>
            </a:r>
          </a:p>
        </p:txBody>
      </p:sp>
      <p:sp>
        <p:nvSpPr>
          <p:cNvPr id="18" name="Rounded Rectangle 17"/>
          <p:cNvSpPr/>
          <p:nvPr/>
        </p:nvSpPr>
        <p:spPr>
          <a:xfrm>
            <a:off x="533095" y="1325880"/>
            <a:ext cx="3474720" cy="2926080"/>
          </a:xfrm>
          <a:prstGeom prst="roundRect">
            <a:avLst>
              <a:gd name="adj" fmla="val 8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3095" y="1417320"/>
            <a:ext cx="3474720" cy="548640"/>
          </a:xfrm>
          <a:prstGeom prst="rect">
            <a:avLst/>
          </a:prstGeom>
          <a:noFill/>
        </p:spPr>
        <p:txBody>
          <a:bodyPr wrap="square" lIns="45720" rIns="45720" anchor="t">
            <a:spAutoFit/>
          </a:bodyPr>
          <a:lstStyle/>
          <a:p>
            <a:pPr algn="ctr" rtl="1">
              <a:spcAft>
                <a:spcPts val="800"/>
              </a:spcAft>
              <a:buNone/>
            </a:pPr>
            <a:r>
              <a:rPr lang="he-IL" sz="2600" b="1">
                <a:solidFill>
                  <a:srgbClr val="548235"/>
                </a:solidFill>
                <a:latin typeface="Arial"/>
                <a:cs typeface="Arial"/>
              </a:rPr>
              <a:t>‏3. הנקי המקורי</a:t>
            </a:r>
          </a:p>
        </p:txBody>
      </p:sp>
      <p:pic>
        <p:nvPicPr>
          <p:cNvPr id="20" name="clean.wav">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1"/>
          <a:stretch>
            <a:fillRect/>
          </a:stretch>
        </p:blipFill>
        <p:spPr>
          <a:xfrm>
            <a:off x="761695" y="2057400"/>
            <a:ext cx="3017520" cy="1239012"/>
          </a:xfrm>
          <a:prstGeom prst="rect">
            <a:avLst/>
          </a:prstGeom>
        </p:spPr>
      </p:pic>
      <p:sp>
        <p:nvSpPr>
          <p:cNvPr id="22" name="TextBox 21"/>
          <p:cNvSpPr txBox="1"/>
          <p:nvPr/>
        </p:nvSpPr>
        <p:spPr>
          <a:xfrm>
            <a:off x="533095" y="3749039"/>
            <a:ext cx="3474720" cy="365760"/>
          </a:xfrm>
          <a:prstGeom prst="rect">
            <a:avLst/>
          </a:prstGeom>
          <a:noFill/>
        </p:spPr>
        <p:txBody>
          <a:bodyPr wrap="square" lIns="45720" rIns="45720" anchor="t">
            <a:spAutoFit/>
          </a:bodyPr>
          <a:lstStyle/>
          <a:p>
            <a:pPr algn="ctr" rtl="1">
              <a:spcAft>
                <a:spcPts val="800"/>
              </a:spcAft>
              <a:buNone/>
            </a:pPr>
            <a:r>
              <a:rPr lang="he-IL" sz="1300" b="0">
                <a:solidFill>
                  <a:srgbClr val="5A636A"/>
                </a:solidFill>
                <a:latin typeface="Arial"/>
                <a:cs typeface="Arial"/>
              </a:rPr>
              <a:t>לחיצה על הגל מנגנת</a:t>
            </a:r>
          </a:p>
        </p:txBody>
      </p:sp>
      <p:pic>
        <p:nvPicPr>
          <p:cNvPr id="23" name="Picture 22" descr="sp_noisy.png"/>
          <p:cNvPicPr>
            <a:picLocks noChangeAspect="1"/>
          </p:cNvPicPr>
          <p:nvPr/>
        </p:nvPicPr>
        <p:blipFill>
          <a:blip r:embed="rId12"/>
          <a:stretch>
            <a:fillRect/>
          </a:stretch>
        </p:blipFill>
        <p:spPr>
          <a:xfrm>
            <a:off x="8576711" y="4407408"/>
            <a:ext cx="2378162" cy="1901952"/>
          </a:xfrm>
          <a:prstGeom prst="rect">
            <a:avLst/>
          </a:prstGeom>
        </p:spPr>
      </p:pic>
      <p:pic>
        <p:nvPicPr>
          <p:cNvPr id="24" name="Picture 23" descr="sp_enh.png"/>
          <p:cNvPicPr>
            <a:picLocks noChangeAspect="1"/>
          </p:cNvPicPr>
          <p:nvPr/>
        </p:nvPicPr>
        <p:blipFill>
          <a:blip r:embed="rId13"/>
          <a:stretch>
            <a:fillRect/>
          </a:stretch>
        </p:blipFill>
        <p:spPr>
          <a:xfrm>
            <a:off x="4816126" y="4407408"/>
            <a:ext cx="2401250" cy="1901952"/>
          </a:xfrm>
          <a:prstGeom prst="rect">
            <a:avLst/>
          </a:prstGeom>
        </p:spPr>
      </p:pic>
      <p:pic>
        <p:nvPicPr>
          <p:cNvPr id="25" name="Picture 24" descr="sp_clean.png"/>
          <p:cNvPicPr>
            <a:picLocks noChangeAspect="1"/>
          </p:cNvPicPr>
          <p:nvPr/>
        </p:nvPicPr>
        <p:blipFill>
          <a:blip r:embed="rId14"/>
          <a:stretch>
            <a:fillRect/>
          </a:stretch>
        </p:blipFill>
        <p:spPr>
          <a:xfrm>
            <a:off x="1069972" y="4407408"/>
            <a:ext cx="2395478" cy="1901952"/>
          </a:xfrm>
          <a:prstGeom prst="rect">
            <a:avLst/>
          </a:prstGeom>
        </p:spPr>
      </p:pic>
      <p:pic>
        <p:nvPicPr>
          <p:cNvPr id="26" name="Picture 25" descr="sp_axis.png"/>
          <p:cNvPicPr>
            <a:picLocks noChangeAspect="1"/>
          </p:cNvPicPr>
          <p:nvPr/>
        </p:nvPicPr>
        <p:blipFill>
          <a:blip r:embed="rId15"/>
          <a:stretch>
            <a:fillRect/>
          </a:stretch>
        </p:blipFill>
        <p:spPr>
          <a:xfrm>
            <a:off x="815994" y="4407408"/>
            <a:ext cx="253978" cy="1901952"/>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10"/>
                                        </p:tgtEl>
                                      </p:cBhvr>
                                    </p:cmd>
                                  </p:childTnLst>
                                </p:cTn>
                              </p:par>
                            </p:childTnLst>
                          </p:cTn>
                        </p:par>
                      </p:childTnLst>
                    </p:cTn>
                  </p:par>
                </p:childTnLst>
              </p:cTn>
              <p:nextCondLst>
                <p:cond evt="onClick" delay="0">
                  <p:tgtEl>
                    <p:spTgt spid="10"/>
                  </p:tgtEl>
                </p:cond>
              </p:nextCondLst>
            </p:seq>
            <p:seq concurrent="1" nextAc="seek">
              <p:cTn id="7" restart="whenNotActive" fill="hold" evtFilter="cancelBubble" nodeType="interactiveSeq">
                <p:stCondLst>
                  <p:cond evt="onClick" delay="0">
                    <p:tgtEl>
                      <p:spTgt spid="1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5"/>
                                        </p:tgtEl>
                                      </p:cBhvr>
                                    </p:cmd>
                                  </p:childTnLst>
                                </p:cTn>
                              </p:par>
                            </p:childTnLst>
                          </p:cTn>
                        </p:par>
                      </p:childTnLst>
                    </p:cTn>
                  </p:par>
                </p:childTnLst>
              </p:cTn>
              <p:nextCondLst>
                <p:cond evt="onClick" delay="0">
                  <p:tgtEl>
                    <p:spTgt spid="15"/>
                  </p:tgtEl>
                </p:cond>
              </p:nextCondLst>
            </p:seq>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audio>
              <p:cMediaNode vol="80000">
                <p:cTn id="17" fill="hold" display="0">
                  <p:stCondLst>
                    <p:cond delay="indefinite"/>
                  </p:stCondLst>
                </p:cTn>
                <p:tgtEl>
                  <p:spTgt spid="10"/>
                </p:tgtEl>
              </p:cMediaNode>
            </p:audio>
            <p:audio>
              <p:cMediaNode vol="80000">
                <p:cTn id="18" fill="hold" display="0">
                  <p:stCondLst>
                    <p:cond delay="indefinite"/>
                  </p:stCondLst>
                </p:cTn>
                <p:tgtEl>
                  <p:spTgt spid="15"/>
                </p:tgtEl>
              </p:cMediaNode>
            </p:audio>
            <p:audio>
              <p:cMediaNode vol="80000">
                <p:cTn id="19" fill="hold" display="0">
                  <p:stCondLst>
                    <p:cond delay="indefinite"/>
                  </p:stCondLst>
                </p:cTn>
                <p:tgtEl>
                  <p:spTgt spid="20"/>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TotalTime>
  <Words>3797</Words>
  <Application>Microsoft Macintosh PowerPoint</Application>
  <PresentationFormat>Widescreen</PresentationFormat>
  <Paragraphs>343</Paragraphs>
  <Slides>18</Slides>
  <Notes>18</Notes>
  <HiddenSlides>0</HiddenSlides>
  <MMClips>3</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Omri Grosglick</cp:lastModifiedBy>
  <cp:revision>5</cp:revision>
  <dcterms:created xsi:type="dcterms:W3CDTF">2013-01-27T09:14:16Z</dcterms:created>
  <dcterms:modified xsi:type="dcterms:W3CDTF">2026-10-15T07:15:20Z</dcterms:modified>
  <cp:category/>
</cp:coreProperties>
</file>